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58169bf631f40d8" /><Relationship Type="http://schemas.openxmlformats.org/officeDocument/2006/relationships/extended-properties" Target="/docProps/app.xml" Id="R3fd31c5d313245a4" /><Relationship Type="http://schemas.openxmlformats.org/officeDocument/2006/relationships/officeDocument" Target="/ppt/presentation.xml" Id="Rb05f59133f6647e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44de75f772b49c4"/>
  </p:sldMasterIdLst>
  <p:notesMasterIdLst>
    <p:notesMasterId xmlns:r="http://schemas.openxmlformats.org/officeDocument/2006/relationships" r:id="R779a481c256a47c8"/>
  </p:notesMasterIdLst>
  <p:sldIdLst>
    <p:sldId xmlns:r="http://schemas.openxmlformats.org/officeDocument/2006/relationships" id="256" r:id="R70f1ce0c49fb49cf"/>
    <p:sldId xmlns:r="http://schemas.openxmlformats.org/officeDocument/2006/relationships" id="257" r:id="R066d72e74a5b4279"/>
    <p:sldId xmlns:r="http://schemas.openxmlformats.org/officeDocument/2006/relationships" id="258" r:id="Rc4ceebaa395443f7"/>
    <p:sldId xmlns:r="http://schemas.openxmlformats.org/officeDocument/2006/relationships" id="259" r:id="R2f5698e28adc428c"/>
    <p:sldId xmlns:r="http://schemas.openxmlformats.org/officeDocument/2006/relationships" id="260" r:id="R55386502ccb54852"/>
    <p:sldId xmlns:r="http://schemas.openxmlformats.org/officeDocument/2006/relationships" id="261" r:id="Red0078466b844fae"/>
    <p:sldId xmlns:r="http://schemas.openxmlformats.org/officeDocument/2006/relationships" id="262" r:id="Rbf6f071a69af4021"/>
    <p:sldId xmlns:r="http://schemas.openxmlformats.org/officeDocument/2006/relationships" id="263" r:id="R2d894296ffe84344"/>
    <p:sldId xmlns:r="http://schemas.openxmlformats.org/officeDocument/2006/relationships" id="264" r:id="R417b70fcb8cc44dc"/>
    <p:sldId xmlns:r="http://schemas.openxmlformats.org/officeDocument/2006/relationships" id="265" r:id="Rb2e61c13ca9d4afa"/>
    <p:sldId xmlns:r="http://schemas.openxmlformats.org/officeDocument/2006/relationships" id="266" r:id="Rc9cd685c327f4302"/>
    <p:sldId xmlns:r="http://schemas.openxmlformats.org/officeDocument/2006/relationships" id="267" r:id="Re9430d3c067146a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8b243b6309f4565" /><Relationship Type="http://schemas.openxmlformats.org/officeDocument/2006/relationships/slideMaster" Target="/ppt/slideMasters/slideMaster1.xml" Id="Rd44de75f772b49c4" /><Relationship Type="http://schemas.openxmlformats.org/officeDocument/2006/relationships/notesMaster" Target="/ppt/notesMasters/notesMaster1.xml" Id="R779a481c256a47c8" /><Relationship Type="http://schemas.openxmlformats.org/officeDocument/2006/relationships/presProps" Target="/ppt/presProps.xml" Id="R7c5fd8b234e64ca8" /><Relationship Type="http://schemas.openxmlformats.org/officeDocument/2006/relationships/viewProps" Target="/ppt/viewProps.xml" Id="Ra0f14ed768994b23" /><Relationship Type="http://schemas.openxmlformats.org/officeDocument/2006/relationships/tableStyles" Target="/ppt/tableStyles.xml" Id="Rb08e1aa3743a47d0" /><Relationship Type="http://schemas.openxmlformats.org/officeDocument/2006/relationships/slide" Target="/ppt/slides/slide1.xml" Id="R70f1ce0c49fb49cf" /><Relationship Type="http://schemas.openxmlformats.org/officeDocument/2006/relationships/slide" Target="/ppt/slides/slide2.xml" Id="R066d72e74a5b4279" /><Relationship Type="http://schemas.openxmlformats.org/officeDocument/2006/relationships/slide" Target="/ppt/slides/slide3.xml" Id="Rc4ceebaa395443f7" /><Relationship Type="http://schemas.openxmlformats.org/officeDocument/2006/relationships/slide" Target="/ppt/slides/slide4.xml" Id="R2f5698e28adc428c" /><Relationship Type="http://schemas.openxmlformats.org/officeDocument/2006/relationships/slide" Target="/ppt/slides/slide5.xml" Id="R55386502ccb54852" /><Relationship Type="http://schemas.openxmlformats.org/officeDocument/2006/relationships/slide" Target="/ppt/slides/slide6.xml" Id="Red0078466b844fae" /><Relationship Type="http://schemas.openxmlformats.org/officeDocument/2006/relationships/slide" Target="/ppt/slides/slide7.xml" Id="Rbf6f071a69af4021" /><Relationship Type="http://schemas.openxmlformats.org/officeDocument/2006/relationships/slide" Target="/ppt/slides/slide8.xml" Id="R2d894296ffe84344" /><Relationship Type="http://schemas.openxmlformats.org/officeDocument/2006/relationships/slide" Target="/ppt/slides/slide9.xml" Id="R417b70fcb8cc44dc" /><Relationship Type="http://schemas.openxmlformats.org/officeDocument/2006/relationships/slide" Target="/ppt/slides/slide10.xml" Id="Rb2e61c13ca9d4afa" /><Relationship Type="http://schemas.openxmlformats.org/officeDocument/2006/relationships/slide" Target="/ppt/slides/slide11.xml" Id="Rc9cd685c327f4302" /><Relationship Type="http://schemas.openxmlformats.org/officeDocument/2006/relationships/slide" Target="/ppt/slides/slide12.xml" Id="Re9430d3c067146a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8e7027eaf6b4fd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7d261db01334dc5" /><Relationship Type="http://schemas.openxmlformats.org/officeDocument/2006/relationships/notesMaster" Target="/ppt/notesMasters/notesMaster1.xml" Id="R71b7f3ca5a9e4ca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9795da33a424dd4" /><Relationship Type="http://schemas.openxmlformats.org/officeDocument/2006/relationships/notesMaster" Target="/ppt/notesMasters/notesMaster1.xml" Id="R80a3fe560af743d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7d20698223a41ab" /><Relationship Type="http://schemas.openxmlformats.org/officeDocument/2006/relationships/notesMaster" Target="/ppt/notesMasters/notesMaster1.xml" Id="R7dace4a4dd0c4db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b380e676b80433f" /><Relationship Type="http://schemas.openxmlformats.org/officeDocument/2006/relationships/notesMaster" Target="/ppt/notesMasters/notesMaster1.xml" Id="Ra0cb83ff013440a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cbeef4f27164b1e" /><Relationship Type="http://schemas.openxmlformats.org/officeDocument/2006/relationships/notesMaster" Target="/ppt/notesMasters/notesMaster1.xml" Id="R105dcdc7c69e467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fb8bf6ee9654fad" /><Relationship Type="http://schemas.openxmlformats.org/officeDocument/2006/relationships/notesMaster" Target="/ppt/notesMasters/notesMaster1.xml" Id="R95f6a384a70e42b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9b46f80ce1c4b53" /><Relationship Type="http://schemas.openxmlformats.org/officeDocument/2006/relationships/notesMaster" Target="/ppt/notesMasters/notesMaster1.xml" Id="R8c2f627e8b4e426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e5e015a0c09430a" /><Relationship Type="http://schemas.openxmlformats.org/officeDocument/2006/relationships/notesMaster" Target="/ppt/notesMasters/notesMaster1.xml" Id="R309056a859a248c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965c3bf783e46ab" /><Relationship Type="http://schemas.openxmlformats.org/officeDocument/2006/relationships/notesMaster" Target="/ppt/notesMasters/notesMaster1.xml" Id="Rb5abdf4931b34cf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996f9e48aa043c5" /><Relationship Type="http://schemas.openxmlformats.org/officeDocument/2006/relationships/notesMaster" Target="/ppt/notesMasters/notesMaster1.xml" Id="Rb7d63a9a1d434cd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bb6efa9f79c4c9f" /><Relationship Type="http://schemas.openxmlformats.org/officeDocument/2006/relationships/notesMaster" Target="/ppt/notesMasters/notesMaster1.xml" Id="R06318831a4aa486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0273c314a6241f2" /><Relationship Type="http://schemas.openxmlformats.org/officeDocument/2006/relationships/notesMaster" Target="/ppt/notesMasters/notesMaster1.xml" Id="Reef3ba36f00a4d0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汇报聚焦当前 MVP 已完成的离线导航闭环，以及走向实车部署时的架构路径。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当前项目没有否定 AR-HUD 的价值，而是把它定位为显示层。导航内核可独立演进，并向其他车端或 Web 显示端复用。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MVP 不将尚未实现的 GPS、视觉和云端能力混入当前成果。测试轨迹全部为合成数据。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项目 ARCHITECTURE.md：OSRM 负责路网与路线，FastAPI 负责会话和导航协调，MapLibre 负责渲染。浏览器不直接调用 OSRM。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开源参考：</a:t>
            </a:r>
          </a:p>
          <a:p xmlns:a="http://schemas.openxmlformats.org/drawingml/2006/main">
            <a:r>
              <a:t>OSRM https://github.com/Project-OSRM/osrm-backend</a:t>
            </a:r>
          </a:p>
          <a:p xmlns:a="http://schemas.openxmlformats.org/drawingml/2006/main">
            <a:r>
              <a:t>MapLibre GL JS https://github.com/maplibre/maplibre-gl-js</a:t>
            </a:r>
          </a:p>
          <a:p xmlns:a="http://schemas.openxmlformats.org/drawingml/2006/main">
            <a:r>
              <a:t>FastAPI https://github.com/fastapi/fastapi</a:t>
            </a:r>
          </a:p>
          <a:p xmlns:a="http://schemas.openxmlformats.org/drawingml/2006/main">
            <a:r>
              <a:t>仓库 package.json 与 pyproject.toml 分别声明 maplibre-gl、FastAPI 等依赖。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资料来源：docs/data-build.md；data/metadata/map.osm-build.json；data/metadata/map.osm-maplibre-thematic-geojson-build.json。OSRM 使用 MLD 构建流程。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资料来源：ARCHITECTURE.md 第 4 节与 docs/data-build.md。当前为同一 OSM 构建的 8 类 GeoJSON，后续可替换为 MBTiles 而无需改变前端路由 API。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资料来源：README.md、docs/demo-runbook.md、DEVELOPMENT.md。此页描述项目定义的验证标准和演示闭环，不把其表述为生产实车验证。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这是后续设计建议，尚未在 MVP 实现。数据契约沿用项目 DATA_POLICY.md 中的 WGS-84 模型。传输方案建议局域网 WebSocket 优先，后续可评估 USB / BLE 等链路。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这是后续设计建议，当前 MVP 不包含 OCR、检测模型或真实视频。项目 ARCHITECTURE.md 已定义 OCR 只在接近终点时验证商铺招牌的边界。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本页为规划，不代表现已具备的能力。计划沿用现有架构边界，避免 iOS、视觉模型或车端 UI 直接耦合 OSRM / MapLibre 内核。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感谢。可根据听众继续展开数据构建、偏航匹配算法、iOS 传输协议或视觉服务边界。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50dc7585a554a6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78ab383ed964a18" /><Relationship Type="http://schemas.openxmlformats.org/officeDocument/2006/relationships/slideLayout" Target="/ppt/slideLayouts/slideLayout1.xml" Id="Rde702008a8584d3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e702008a8584d3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5b0f8cd5c342b4" /><Relationship Type="http://schemas.openxmlformats.org/officeDocument/2006/relationships/notesSlide" Target="/ppt/notesSlides/notesSlide1.xml" Id="R05f3626c81be43f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3ce10ad8ef4b87" /><Relationship Type="http://schemas.openxmlformats.org/officeDocument/2006/relationships/notesSlide" Target="/ppt/notesSlides/notesSlide2.xml" Id="Rcd3e2fe3412d4ad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0ac47cc943407c" /><Relationship Type="http://schemas.openxmlformats.org/officeDocument/2006/relationships/notesSlide" Target="/ppt/notesSlides/notesSlide3.xml" Id="R6609ebc9b57145d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248905a9ad44bc" /><Relationship Type="http://schemas.openxmlformats.org/officeDocument/2006/relationships/notesSlide" Target="/ppt/notesSlides/notesSlide4.xml" Id="R139bd1a014244ff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eec562b6df4e28" /><Relationship Type="http://schemas.openxmlformats.org/officeDocument/2006/relationships/notesSlide" Target="/ppt/notesSlides/notesSlide5.xml" Id="Ra697d3fd2f0647c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90d9a0b18b4e43" /><Relationship Type="http://schemas.openxmlformats.org/officeDocument/2006/relationships/notesSlide" Target="/ppt/notesSlides/notesSlide6.xml" Id="R4f04764097694d1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05c477e1664271" /><Relationship Type="http://schemas.openxmlformats.org/officeDocument/2006/relationships/image" Target="/ppt/media/image.png" Id="R9eaf11a51a364979" /><Relationship Type="http://schemas.openxmlformats.org/officeDocument/2006/relationships/notesSlide" Target="/ppt/notesSlides/notesSlide7.xml" Id="Red3a0fcc89c947c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aadc442e804844" /><Relationship Type="http://schemas.openxmlformats.org/officeDocument/2006/relationships/notesSlide" Target="/ppt/notesSlides/notesSlide8.xml" Id="R2d7c231ec28c4e2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67a26b3884476b" /><Relationship Type="http://schemas.openxmlformats.org/officeDocument/2006/relationships/notesSlide" Target="/ppt/notesSlides/notesSlide9.xml" Id="Rdeba8b679d1a432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295895dff143c2" /><Relationship Type="http://schemas.openxmlformats.org/officeDocument/2006/relationships/notesSlide" Target="/ppt/notesSlides/notesSlide10.xml" Id="R2a9c47d64b814e0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359fe47f6a435f" /><Relationship Type="http://schemas.openxmlformats.org/officeDocument/2006/relationships/notesSlide" Target="/ppt/notesSlides/notesSlide11.xml" Id="R78b8568ee5ea405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ff703888384248" /><Relationship Type="http://schemas.openxmlformats.org/officeDocument/2006/relationships/notesSlide" Target="/ppt/notesSlides/notesSlide12.xml" Id="Rd99637a16671459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B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圆角矩形 12">
            <a:extLst xmlns:a="http://schemas.openxmlformats.org/drawingml/2006/main">
              <a:ext uri="{FF2B5EF4-FFF2-40B4-BE49-F238E27FC236}">
                <a16:creationId xmlns:a16="http://schemas.microsoft.com/office/drawing/2014/main" id="{BB555EC5-4541-4B64-9C4F-2F9C05848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857250"/>
            <a:ext cx="32385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1436F"/>
          </a:solidFill>
          <a:ln xmlns:a="http://schemas.openxmlformats.org/drawingml/2006/main" w="0">
            <a:noFill/>
          </a:ln>
        </p:spPr>
      </p:sp>
      <p:sp>
        <p:nvSpPr>
          <p:cNvPr id="2" name="圆角矩形 1">
            <a:extLst xmlns:a="http://schemas.openxmlformats.org/drawingml/2006/main">
              <a:ext uri="{FF2B5EF4-FFF2-40B4-BE49-F238E27FC236}">
                <a16:creationId xmlns:a16="http://schemas.microsoft.com/office/drawing/2014/main" id="{F012FA39-08FD-414B-8243-1FE918A81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257300"/>
            <a:ext cx="32385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335A"/>
          </a:solidFill>
          <a:ln xmlns:a="http://schemas.openxmlformats.org/drawingml/2006/main" w="0">
            <a:noFill/>
          </a:ln>
        </p:spPr>
      </p:sp>
      <p:sp>
        <p:nvSpPr>
          <p:cNvPr id="3" name="圆角矩形 2">
            <a:extLst xmlns:a="http://schemas.openxmlformats.org/drawingml/2006/main">
              <a:ext uri="{FF2B5EF4-FFF2-40B4-BE49-F238E27FC236}">
                <a16:creationId xmlns:a16="http://schemas.microsoft.com/office/drawing/2014/main" id="{69E43751-9ECF-44C9-B225-07E7578B5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657350"/>
            <a:ext cx="32385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1436F"/>
          </a:solidFill>
          <a:ln xmlns:a="http://schemas.openxmlformats.org/drawingml/2006/main" w="0">
            <a:noFill/>
          </a:ln>
        </p:spPr>
      </p:sp>
      <p:sp>
        <p:nvSpPr>
          <p:cNvPr id="4" name="圆角矩形 3">
            <a:extLst xmlns:a="http://schemas.openxmlformats.org/drawingml/2006/main">
              <a:ext uri="{FF2B5EF4-FFF2-40B4-BE49-F238E27FC236}">
                <a16:creationId xmlns:a16="http://schemas.microsoft.com/office/drawing/2014/main" id="{9D1499FB-BB03-4DE7-B257-4E055FB44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057400"/>
            <a:ext cx="32385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335A"/>
          </a:solidFill>
          <a:ln xmlns:a="http://schemas.openxmlformats.org/drawingml/2006/main" w="0">
            <a:noFill/>
          </a:ln>
        </p:spPr>
      </p:sp>
      <p:sp>
        <p:nvSpPr>
          <p:cNvPr id="5" name="圆角矩形 4">
            <a:extLst xmlns:a="http://schemas.openxmlformats.org/drawingml/2006/main">
              <a:ext uri="{FF2B5EF4-FFF2-40B4-BE49-F238E27FC236}">
                <a16:creationId xmlns:a16="http://schemas.microsoft.com/office/drawing/2014/main" id="{0FD7A93F-B214-4A1E-8D83-63E795062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457450"/>
            <a:ext cx="32385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1436F"/>
          </a:solidFill>
          <a:ln xmlns:a="http://schemas.openxmlformats.org/drawingml/2006/main" w="0">
            <a:noFill/>
          </a:ln>
        </p:spPr>
      </p:sp>
      <p:sp>
        <p:nvSpPr>
          <p:cNvPr id="6" name="圆角矩形 5">
            <a:extLst xmlns:a="http://schemas.openxmlformats.org/drawingml/2006/main">
              <a:ext uri="{FF2B5EF4-FFF2-40B4-BE49-F238E27FC236}">
                <a16:creationId xmlns:a16="http://schemas.microsoft.com/office/drawing/2014/main" id="{4FE7145B-F3E3-4B3D-9127-D7A2AD8E1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857500"/>
            <a:ext cx="32385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335A"/>
          </a:solidFill>
          <a:ln xmlns:a="http://schemas.openxmlformats.org/drawingml/2006/main" w="0">
            <a:noFill/>
          </a:ln>
        </p:spPr>
      </p:sp>
      <p:sp>
        <p:nvSpPr>
          <p:cNvPr id="7" name="圆角矩形 6">
            <a:extLst xmlns:a="http://schemas.openxmlformats.org/drawingml/2006/main">
              <a:ext uri="{FF2B5EF4-FFF2-40B4-BE49-F238E27FC236}">
                <a16:creationId xmlns:a16="http://schemas.microsoft.com/office/drawing/2014/main" id="{1D913718-21D2-44A1-8EE0-C2B59D6F9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3257550"/>
            <a:ext cx="32385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1436F"/>
          </a:solidFill>
          <a:ln xmlns:a="http://schemas.openxmlformats.org/drawingml/2006/main" w="0">
            <a:noFill/>
          </a:ln>
        </p:spPr>
      </p:sp>
      <p:sp>
        <p:nvSpPr>
          <p:cNvPr id="8" name="圆角矩形 7">
            <a:extLst xmlns:a="http://schemas.openxmlformats.org/drawingml/2006/main">
              <a:ext uri="{FF2B5EF4-FFF2-40B4-BE49-F238E27FC236}">
                <a16:creationId xmlns:a16="http://schemas.microsoft.com/office/drawing/2014/main" id="{6B1964BF-7F41-4DC5-ACA0-B163AFCBA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4775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2C5FF"/>
          </a:solidFill>
          <a:ln xmlns:a="http://schemas.openxmlformats.org/drawingml/2006/main" w="0">
            <a:noFill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C47FEBFF-F0D7-4AC9-8B25-BF30285ED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286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5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35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面向实车部署的</a:t>
            </a:r>
          </a:p>
          <a:p xmlns:a="http://schemas.openxmlformats.org/drawingml/2006/main">
            <a:pPr algn="l">
              <a:buNone/>
              <a:defRPr sz="35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35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离线导航系统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ECDBA66A-0576-4368-959F-283FF9184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76625"/>
            <a:ext cx="600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9924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C9D8EA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C9D8EA"/>
                </a:solidFill>
                <a:latin typeface="PingFang SC"/>
                <a:ea typeface="PingFang SC"/>
                <a:cs typeface="PingFang SC"/>
              </a:rPr>
              <a:t>从 AR-HUD 原型到可扩展的实时导航架构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F6BA0A3C-7F89-44AF-940C-8A8A908D5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814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917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32C5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32C5FF"/>
                </a:solidFill>
                <a:latin typeface="PingFang SC"/>
                <a:ea typeface="PingFang SC"/>
                <a:cs typeface="PingFang SC"/>
              </a:rPr>
              <a:t>MVP 阶段成果与下一步演进方案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C75ABC57-7386-434A-A9CD-3D0762E36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102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2500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B4C7DC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B4C7DC"/>
                </a:solidFill>
                <a:latin typeface="PingFang SC"/>
                <a:ea typeface="PingFang SC"/>
                <a:cs typeface="PingFang SC"/>
              </a:rPr>
              <a:t>2026.09</a:t>
            </a:r>
          </a:p>
        </p:txBody>
      </p:sp>
    </p:spTree>
    <p:extLst>
      <p:ext uri="{BB962C8B-B14F-4D97-AF65-F5344CB8AC3E}">
        <p14:creationId xmlns:p14="http://schemas.microsoft.com/office/powerpoint/2010/main" val="27448500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EDCE77C4-E206-40B2-9C24-940FB0E53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677FF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1677FF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BF27A874-C159-4C6D-8D81-B77823E27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071B33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071B33"/>
                </a:solidFill>
                <a:latin typeface="PingFang SC"/>
                <a:ea typeface="PingFang SC"/>
                <a:cs typeface="PingFang SC"/>
              </a:rPr>
              <a:t>为什么从 Unity 原型走向独立导航架构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C46DA436-604B-44FB-8636-EF5FE197D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AR-HUD 的表现层前提仍成立，但实车部署需要把实时导航能力从渲染工程中解耦。</a:t>
            </a:r>
          </a:p>
        </p:txBody>
      </p:sp>
      <p:sp>
        <p:nvSpPr>
          <p:cNvPr id="4" name="圆角矩形 3">
            <a:extLst xmlns:a="http://schemas.openxmlformats.org/drawingml/2006/main">
              <a:ext uri="{FF2B5EF4-FFF2-40B4-BE49-F238E27FC236}">
                <a16:creationId xmlns:a16="http://schemas.microsoft.com/office/drawing/2014/main" id="{601A8D74-CC5D-4382-91C7-1F768A5A1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5010150" cy="2762250"/>
          </a:xfrm>
          <a:prstGeom xmlns:a="http://schemas.openxmlformats.org/drawingml/2006/main" prst="roundRect">
            <a:avLst>
              <a:gd name="adj" fmla="val 4138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0">
            <a:noFill/>
          </a:ln>
        </p:spPr>
      </p:sp>
      <p:sp>
        <p:nvSpPr>
          <p:cNvPr id="5" name="圆角矩形 4">
            <a:extLst xmlns:a="http://schemas.openxmlformats.org/drawingml/2006/main">
              <a:ext uri="{FF2B5EF4-FFF2-40B4-BE49-F238E27FC236}">
                <a16:creationId xmlns:a16="http://schemas.microsoft.com/office/drawing/2014/main" id="{C3F8E341-F081-4C2A-BA56-B346A4C5C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952625"/>
            <a:ext cx="5448300" cy="2762250"/>
          </a:xfrm>
          <a:prstGeom xmlns:a="http://schemas.openxmlformats.org/drawingml/2006/main" prst="roundRect">
            <a:avLst>
              <a:gd name="adj" fmla="val 4138"/>
            </a:avLst>
          </a:prstGeom>
          <a:solidFill xmlns:a="http://schemas.openxmlformats.org/drawingml/2006/main">
            <a:srgbClr val="EEF6FF"/>
          </a:solidFill>
          <a:ln xmlns:a="http://schemas.openxmlformats.org/drawingml/2006/main" w="0">
            <a:noFill/>
          </a:ln>
        </p:spPr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9ABB9EFD-E66D-4175-B897-E8508EB79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26695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222" lnSpcReduction="2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71B33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71B33"/>
                </a:solidFill>
                <a:latin typeface="PingFang SC"/>
                <a:ea typeface="PingFang SC"/>
                <a:cs typeface="PingFang SC"/>
              </a:rPr>
              <a:t>原型阶段：Unity</a:t>
            </a:r>
            <a:r>
              <a:rPr sz="1800" b="1">
                <a:solidFill>
                  <a:srgbClr val="071B33"/>
                </a:solidFill>
                <a:latin typeface="PingFang SC"/>
                <a:ea typeface="PingFang SC"/>
                <a:cs typeface="PingFang SC"/>
              </a:rPr>
              <a:t> / AR-HUD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1A70C55C-A325-4BCE-99D1-6B007B8A2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57500"/>
            <a:ext cx="4143375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• 适合快速验证 HUD 呈现、路线叠加与交互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• 业务逻辑、地图渲染、定位处理容易耦合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• 面向持续定位与实时重算时，调试与替换成本上升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B333A14D-E1AA-4DAD-94AA-FE1C81331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26695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222" lnSpcReduction="2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71B33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71B33"/>
                </a:solidFill>
                <a:latin typeface="PingFang SC"/>
                <a:ea typeface="PingFang SC"/>
                <a:cs typeface="PingFang SC"/>
              </a:rPr>
              <a:t>实车部署：导航内核独立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138B7EA4-9E50-4A5B-92E1-44E25D6EF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857500"/>
            <a:ext cx="4429125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• 路由、地图、定位匹配分别承担明确职责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• HUD、Web 与后续车端显示共享同一导航状态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• iOS GPS 与视觉识别通过适配层接入，不侵入路由引擎</a:t>
            </a:r>
          </a:p>
        </p:txBody>
      </p:sp>
      <p:sp>
        <p:nvSpPr>
          <p:cNvPr id="10" name="圆角矩形 9">
            <a:extLst xmlns:a="http://schemas.openxmlformats.org/drawingml/2006/main">
              <a:ext uri="{FF2B5EF4-FFF2-40B4-BE49-F238E27FC236}">
                <a16:creationId xmlns:a16="http://schemas.microsoft.com/office/drawing/2014/main" id="{82A5B18D-DDDD-438C-AA03-5B94B4BCE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8204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E8F3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71B33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71B33"/>
                </a:solidFill>
                <a:latin typeface="PingFang SC"/>
                <a:ea typeface="PingFang SC"/>
                <a:cs typeface="PingFang SC"/>
              </a:rPr>
              <a:t>设计结论：用本地可复现的导航服务承接实时性要求，AR-HUD 作为可替换的显示终端。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56389C8C-773D-4DC9-8FEE-40D4DF79D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7500" lnSpcReduction="1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8390A3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8390A3"/>
                </a:solidFill>
                <a:latin typeface="PingFang SC"/>
                <a:ea typeface="PingFang SC"/>
                <a:cs typeface="PingFang SC"/>
              </a:rPr>
              <a:t>离线导航系统 MVP 汇报  ·  2026.09  ·  02</a:t>
            </a:r>
          </a:p>
        </p:txBody>
      </p:sp>
    </p:spTree>
    <p:extLst>
      <p:ext uri="{BB962C8B-B14F-4D97-AF65-F5344CB8AC3E}">
        <p14:creationId xmlns:p14="http://schemas.microsoft.com/office/powerpoint/2010/main" val="32612733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07073294-9BFF-4189-9455-D2AE95935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677FF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1677FF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08368208-F681-4D5C-A83C-468888993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071B33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071B33"/>
                </a:solidFill>
                <a:latin typeface="PingFang SC"/>
                <a:ea typeface="PingFang SC"/>
                <a:cs typeface="PingFang SC"/>
              </a:rPr>
              <a:t>MVP 目标与边界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9EC63880-A96F-4430-90FB-87B0AC60C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先验证一条完整、离线、可重复的汽车导航闭环。</a:t>
            </a:r>
          </a:p>
        </p:txBody>
      </p:sp>
      <p:sp>
        <p:nvSpPr>
          <p:cNvPr id="4" name="圆角矩形 3">
            <a:extLst xmlns:a="http://schemas.openxmlformats.org/drawingml/2006/main">
              <a:ext uri="{FF2B5EF4-FFF2-40B4-BE49-F238E27FC236}">
                <a16:creationId xmlns:a16="http://schemas.microsoft.com/office/drawing/2014/main" id="{42B70F86-9703-4924-8A8F-68A6DBBEA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47875"/>
            <a:ext cx="3048000" cy="314325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F0"/>
            </a:solidFill>
            <a:prstDash val="solid"/>
          </a:ln>
        </p:spPr>
      </p:sp>
      <p:sp>
        <p:nvSpPr>
          <p:cNvPr id="5" name="圆角矩形 4">
            <a:extLst xmlns:a="http://schemas.openxmlformats.org/drawingml/2006/main">
              <a:ext uri="{FF2B5EF4-FFF2-40B4-BE49-F238E27FC236}">
                <a16:creationId xmlns:a16="http://schemas.microsoft.com/office/drawing/2014/main" id="{67CA9A3D-7532-4947-9099-FF529E4A3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47875"/>
            <a:ext cx="30480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77FF"/>
          </a:solidFill>
          <a:ln xmlns:a="http://schemas.openxmlformats.org/drawingml/2006/main" w="0">
            <a:noFill/>
          </a:ln>
        </p:spPr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5767F4FD-03A9-4A94-BB82-D7805B625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28875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9924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71B33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71B33"/>
                </a:solidFill>
                <a:latin typeface="PingFang SC"/>
                <a:ea typeface="PingFang SC"/>
                <a:cs typeface="PingFang SC"/>
              </a:rPr>
              <a:t>本阶段已纳入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74A0E963-2788-4D69-B70A-7A60FA610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48000"/>
            <a:ext cx="25336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离线路线规划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离线地图渲染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模拟轨迹回放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道路吸附与偏航重算</a:t>
            </a:r>
          </a:p>
        </p:txBody>
      </p:sp>
      <p:sp>
        <p:nvSpPr>
          <p:cNvPr id="8" name="圆角矩形 7">
            <a:extLst xmlns:a="http://schemas.openxmlformats.org/drawingml/2006/main">
              <a:ext uri="{FF2B5EF4-FFF2-40B4-BE49-F238E27FC236}">
                <a16:creationId xmlns:a16="http://schemas.microsoft.com/office/drawing/2014/main" id="{5024DBDD-1860-449E-ADA2-3A523FE30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047875"/>
            <a:ext cx="3048000" cy="314325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F0"/>
            </a:solidFill>
            <a:prstDash val="solid"/>
          </a:ln>
        </p:spPr>
      </p:sp>
      <p:sp>
        <p:nvSpPr>
          <p:cNvPr id="9" name="圆角矩形 8">
            <a:extLst xmlns:a="http://schemas.openxmlformats.org/drawingml/2006/main">
              <a:ext uri="{FF2B5EF4-FFF2-40B4-BE49-F238E27FC236}">
                <a16:creationId xmlns:a16="http://schemas.microsoft.com/office/drawing/2014/main" id="{0AF38421-4483-4340-B568-50EF77E98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047875"/>
            <a:ext cx="30480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A085"/>
          </a:solidFill>
          <a:ln xmlns:a="http://schemas.openxmlformats.org/drawingml/2006/main" w="0">
            <a:noFill/>
          </a:ln>
        </p:spPr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7674E489-5990-4CD0-951A-200714350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428875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9924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71B33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71B33"/>
                </a:solidFill>
                <a:latin typeface="PingFang SC"/>
                <a:ea typeface="PingFang SC"/>
                <a:cs typeface="PingFang SC"/>
              </a:rPr>
              <a:t>架构原则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A3BE54D8-F105-4846-A0D2-DB7413035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048000"/>
            <a:ext cx="25336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本地优先、可复现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WGS-84 统一坐标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OSRM / MapLibre / FastAPI 分层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前端不直接依赖 OSRM</a:t>
            </a:r>
          </a:p>
        </p:txBody>
      </p:sp>
      <p:sp>
        <p:nvSpPr>
          <p:cNvPr id="12" name="圆角矩形 11">
            <a:extLst xmlns:a="http://schemas.openxmlformats.org/drawingml/2006/main">
              <a:ext uri="{FF2B5EF4-FFF2-40B4-BE49-F238E27FC236}">
                <a16:creationId xmlns:a16="http://schemas.microsoft.com/office/drawing/2014/main" id="{CDD4DAD5-D890-43F3-95A3-13DDF1D42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047875"/>
            <a:ext cx="3048000" cy="314325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F0"/>
            </a:solidFill>
            <a:prstDash val="solid"/>
          </a:ln>
        </p:spPr>
      </p:sp>
      <p:sp>
        <p:nvSpPr>
          <p:cNvPr id="13" name="圆角矩形 12">
            <a:extLst xmlns:a="http://schemas.openxmlformats.org/drawingml/2006/main">
              <a:ext uri="{FF2B5EF4-FFF2-40B4-BE49-F238E27FC236}">
                <a16:creationId xmlns:a16="http://schemas.microsoft.com/office/drawing/2014/main" id="{703B8E81-F227-403F-8245-63EF0619E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047875"/>
            <a:ext cx="30480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</a:ln>
        </p:spPr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22C5FD85-635D-453C-85D6-52BACC776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428875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9924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71B33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71B33"/>
                </a:solidFill>
                <a:latin typeface="PingFang SC"/>
                <a:ea typeface="PingFang SC"/>
                <a:cs typeface="PingFang SC"/>
              </a:rPr>
              <a:t>明确暂不纳入</a:t>
            </a: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4216B53C-0B79-45CC-8DE7-304132C37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048000"/>
            <a:ext cx="25336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真实 GPS 与车辆 CAN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云地图、实时交通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语音、LLM、OCR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真实用户或车辆轨迹</a:t>
            </a: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33352B02-00AA-4B21-9A04-CAD08CE7E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67375"/>
            <a:ext cx="990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这套边界让 MVP 的结果可验证，也为后续硬件与算法接入预留明确接口。</a:t>
            </a: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626D3533-B24B-4D5A-80FB-C7370850F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7500" lnSpcReduction="1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8390A3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8390A3"/>
                </a:solidFill>
                <a:latin typeface="PingFang SC"/>
                <a:ea typeface="PingFang SC"/>
                <a:cs typeface="PingFang SC"/>
              </a:rPr>
              <a:t>离线导航系统 MVP 汇报  ·  2026.09  ·  03</a:t>
            </a:r>
          </a:p>
        </p:txBody>
      </p:sp>
    </p:spTree>
    <p:extLst>
      <p:ext uri="{BB962C8B-B14F-4D97-AF65-F5344CB8AC3E}">
        <p14:creationId xmlns:p14="http://schemas.microsoft.com/office/powerpoint/2010/main" val="60408839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矩形 38">
            <a:extLst xmlns:a="http://schemas.openxmlformats.org/drawingml/2006/main">
              <a:ext uri="{FF2B5EF4-FFF2-40B4-BE49-F238E27FC236}">
                <a16:creationId xmlns:a16="http://schemas.microsoft.com/office/drawing/2014/main" id="{4D91B836-F984-4112-ABA2-BC4301670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677FF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1677FF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E98AF678-05D3-47F4-907D-BD075DD9C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071B33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071B33"/>
                </a:solidFill>
                <a:latin typeface="PingFang SC"/>
                <a:ea typeface="PingFang SC"/>
                <a:cs typeface="PingFang SC"/>
              </a:rPr>
              <a:t>总体架构：四层分工，导航状态统一输出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BE2D2E97-B6C2-4547-B199-C6C47A1AC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浏览器、未来 HUD 与车端显示都只消费协调服务发布的导航状态。</a:t>
            </a:r>
          </a:p>
        </p:txBody>
      </p:sp>
      <p:sp>
        <p:nvSpPr>
          <p:cNvPr id="4" name="圆角矩形 3">
            <a:extLst xmlns:a="http://schemas.openxmlformats.org/drawingml/2006/main">
              <a:ext uri="{FF2B5EF4-FFF2-40B4-BE49-F238E27FC236}">
                <a16:creationId xmlns:a16="http://schemas.microsoft.com/office/drawing/2014/main" id="{E408C3A1-44A8-4C76-8BCB-CB3BAB1B5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21907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CE5F0"/>
            </a:solidFill>
            <a:prstDash val="solid"/>
          </a:ln>
        </p:spPr>
      </p:sp>
      <p:sp>
        <p:nvSpPr>
          <p:cNvPr id="5" name="圆角矩形 4">
            <a:extLst xmlns:a="http://schemas.openxmlformats.org/drawingml/2006/main">
              <a:ext uri="{FF2B5EF4-FFF2-40B4-BE49-F238E27FC236}">
                <a16:creationId xmlns:a16="http://schemas.microsoft.com/office/drawing/2014/main" id="{FC4F4F0A-81F4-4E55-83FE-5B746CAE2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57150" cy="7810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</a:ln>
        </p:spPr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57F4AB29-67F6-4BFE-8FC3-CB502D5CC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38375"/>
            <a:ext cx="1866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490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离线数据构建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29CF608B-9EB9-47FC-A9AA-A4C428AC7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76500"/>
            <a:ext cx="190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772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OSM → OSRM / GeoJSON</a:t>
            </a:r>
          </a:p>
        </p:txBody>
      </p:sp>
      <p:sp>
        <p:nvSpPr>
          <p:cNvPr id="8" name="圆角矩形 7">
            <a:extLst xmlns:a="http://schemas.openxmlformats.org/drawingml/2006/main">
              <a:ext uri="{FF2B5EF4-FFF2-40B4-BE49-F238E27FC236}">
                <a16:creationId xmlns:a16="http://schemas.microsoft.com/office/drawing/2014/main" id="{33C11C9B-CCD3-4526-A03B-B3458D358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2095500"/>
            <a:ext cx="21907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EEF6FF"/>
          </a:solidFill>
          <a:ln xmlns:a="http://schemas.openxmlformats.org/drawingml/2006/main" w="9525">
            <a:solidFill>
              <a:srgbClr val="DCE5F0"/>
            </a:solidFill>
            <a:prstDash val="solid"/>
          </a:ln>
        </p:spPr>
      </p:sp>
      <p:sp>
        <p:nvSpPr>
          <p:cNvPr id="9" name="圆角矩形 8">
            <a:extLst xmlns:a="http://schemas.openxmlformats.org/drawingml/2006/main">
              <a:ext uri="{FF2B5EF4-FFF2-40B4-BE49-F238E27FC236}">
                <a16:creationId xmlns:a16="http://schemas.microsoft.com/office/drawing/2014/main" id="{0ADF4D6A-9C7A-4575-93DD-38AF2B5F9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2095500"/>
            <a:ext cx="57150" cy="7810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1677FF"/>
          </a:solidFill>
          <a:ln xmlns:a="http://schemas.openxmlformats.org/drawingml/2006/main" w="0">
            <a:noFill/>
          </a:ln>
        </p:spPr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DDC0A986-46A8-4B3D-840F-078547094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238375"/>
            <a:ext cx="1866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490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OSRM 路由引擎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C700B3E7-BED5-44EB-80B1-5249AE27C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476500"/>
            <a:ext cx="190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路线、最近道路、匹配</a:t>
            </a:r>
          </a:p>
        </p:txBody>
      </p:sp>
      <p:sp>
        <p:nvSpPr>
          <p:cNvPr id="12" name="圆角矩形 11">
            <a:extLst xmlns:a="http://schemas.openxmlformats.org/drawingml/2006/main">
              <a:ext uri="{FF2B5EF4-FFF2-40B4-BE49-F238E27FC236}">
                <a16:creationId xmlns:a16="http://schemas.microsoft.com/office/drawing/2014/main" id="{B1F2CBC2-6009-4360-9D1D-2D4A4FD48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095500"/>
            <a:ext cx="24765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EEF9F5"/>
          </a:solidFill>
          <a:ln xmlns:a="http://schemas.openxmlformats.org/drawingml/2006/main" w="9525">
            <a:solidFill>
              <a:srgbClr val="DCE5F0"/>
            </a:solidFill>
            <a:prstDash val="solid"/>
          </a:ln>
        </p:spPr>
      </p:sp>
      <p:sp>
        <p:nvSpPr>
          <p:cNvPr id="13" name="圆角矩形 12">
            <a:extLst xmlns:a="http://schemas.openxmlformats.org/drawingml/2006/main">
              <a:ext uri="{FF2B5EF4-FFF2-40B4-BE49-F238E27FC236}">
                <a16:creationId xmlns:a16="http://schemas.microsoft.com/office/drawing/2014/main" id="{B96D0175-273B-4A1A-B3FB-275145690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095500"/>
            <a:ext cx="57150" cy="7810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16A085"/>
          </a:solidFill>
          <a:ln xmlns:a="http://schemas.openxmlformats.org/drawingml/2006/main" w="0">
            <a:noFill/>
          </a:ln>
        </p:spPr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9D21C28F-4BE4-4B53-BE99-676718FC1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238375"/>
            <a:ext cx="21526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490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FastAPI 协调层</a:t>
            </a: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90A47D84-7491-446E-A769-C1C5C4F4F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476500"/>
            <a:ext cx="219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会话、偏航、状态推送</a:t>
            </a:r>
          </a:p>
        </p:txBody>
      </p:sp>
      <p:sp>
        <p:nvSpPr>
          <p:cNvPr id="16" name="圆角矩形 15">
            <a:extLst xmlns:a="http://schemas.openxmlformats.org/drawingml/2006/main">
              <a:ext uri="{FF2B5EF4-FFF2-40B4-BE49-F238E27FC236}">
                <a16:creationId xmlns:a16="http://schemas.microsoft.com/office/drawing/2014/main" id="{CFAA6915-85DC-430F-A0B4-0B8AE1679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095500"/>
            <a:ext cx="21907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CE5F0"/>
            </a:solidFill>
            <a:prstDash val="solid"/>
          </a:ln>
        </p:spPr>
      </p:sp>
      <p:sp>
        <p:nvSpPr>
          <p:cNvPr id="17" name="圆角矩形 16">
            <a:extLst xmlns:a="http://schemas.openxmlformats.org/drawingml/2006/main">
              <a:ext uri="{FF2B5EF4-FFF2-40B4-BE49-F238E27FC236}">
                <a16:creationId xmlns:a16="http://schemas.microsoft.com/office/drawing/2014/main" id="{F20CBB23-2AC3-4224-8D0A-01F465503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095500"/>
            <a:ext cx="57150" cy="7810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32C5FF"/>
          </a:solidFill>
          <a:ln xmlns:a="http://schemas.openxmlformats.org/drawingml/2006/main" w="0">
            <a:noFill/>
          </a:ln>
        </p:spPr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CE46C92B-7989-439B-8FC7-91B6703EE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2238375"/>
            <a:ext cx="1866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490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MapLibre 显示层</a:t>
            </a: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1A460A1F-637D-4147-9970-337D8715D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2476500"/>
            <a:ext cx="190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底图、路线、车标、提示</a:t>
            </a:r>
          </a:p>
        </p:txBody>
      </p:sp>
      <p:sp>
        <p:nvSpPr>
          <p:cNvPr id="20" name="直线连接符 19">
            <a:extLst xmlns:a="http://schemas.openxmlformats.org/drawingml/2006/main">
              <a:ext uri="{FF2B5EF4-FFF2-40B4-BE49-F238E27FC236}">
                <a16:creationId xmlns:a16="http://schemas.microsoft.com/office/drawing/2014/main" id="{38B2F439-D238-431A-944E-8D9FA901E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486025"/>
            <a:ext cx="514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59E0B"/>
            </a:solidFill>
            <a:prstDash val="solid"/>
          </a:ln>
        </p:spPr>
      </p:sp>
      <p:sp>
        <p:nvSpPr>
          <p:cNvPr id="21" name="直线连接符 20">
            <a:extLst xmlns:a="http://schemas.openxmlformats.org/drawingml/2006/main">
              <a:ext uri="{FF2B5EF4-FFF2-40B4-BE49-F238E27FC236}">
                <a16:creationId xmlns:a16="http://schemas.microsoft.com/office/drawing/2014/main" id="{0EA579E6-91E1-43B4-8DE6-8469A40E7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2486025"/>
            <a:ext cx="514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677FF"/>
            </a:solidFill>
            <a:prstDash val="solid"/>
          </a:ln>
        </p:spPr>
      </p:sp>
      <p:sp>
        <p:nvSpPr>
          <p:cNvPr id="22" name="直线连接符 21">
            <a:extLst xmlns:a="http://schemas.openxmlformats.org/drawingml/2006/main">
              <a:ext uri="{FF2B5EF4-FFF2-40B4-BE49-F238E27FC236}">
                <a16:creationId xmlns:a16="http://schemas.microsoft.com/office/drawing/2014/main" id="{CEE0EB05-3DC4-4BFD-8D5E-963775DB6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486025"/>
            <a:ext cx="514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677FF"/>
            </a:solidFill>
            <a:prstDash val="solid"/>
          </a:ln>
        </p:spPr>
      </p:sp>
      <p:sp>
        <p:nvSpPr>
          <p:cNvPr id="23" name="圆角矩形 22">
            <a:extLst xmlns:a="http://schemas.openxmlformats.org/drawingml/2006/main">
              <a:ext uri="{FF2B5EF4-FFF2-40B4-BE49-F238E27FC236}">
                <a16:creationId xmlns:a16="http://schemas.microsoft.com/office/drawing/2014/main" id="{FBC6B17F-35D7-4CA3-A42B-2F2671B89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4000500"/>
            <a:ext cx="23812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CE5F0"/>
            </a:solidFill>
            <a:prstDash val="solid"/>
          </a:ln>
        </p:spPr>
      </p:sp>
      <p:sp>
        <p:nvSpPr>
          <p:cNvPr id="24" name="圆角矩形 23">
            <a:extLst xmlns:a="http://schemas.openxmlformats.org/drawingml/2006/main">
              <a:ext uri="{FF2B5EF4-FFF2-40B4-BE49-F238E27FC236}">
                <a16:creationId xmlns:a16="http://schemas.microsoft.com/office/drawing/2014/main" id="{1CFA243C-504F-4F17-831F-1DFDACD5D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4000500"/>
            <a:ext cx="57150" cy="7810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85D75"/>
          </a:solidFill>
          <a:ln xmlns:a="http://schemas.openxmlformats.org/drawingml/2006/main" w="0">
            <a:noFill/>
          </a:ln>
        </p:spPr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86707BB2-02DB-4485-AEC8-4DA7021AD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4143375"/>
            <a:ext cx="2057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490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轨迹来源</a:t>
            </a:r>
          </a:p>
        </p:txBody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4612F3A2-D6AF-4F27-921C-131457585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4362450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6389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当前：JSON 回放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后续：iOS GPS</a:t>
            </a:r>
          </a:p>
        </p:txBody>
      </p:sp>
      <p:sp>
        <p:nvSpPr>
          <p:cNvPr id="27" name="圆角矩形 26">
            <a:extLst xmlns:a="http://schemas.openxmlformats.org/drawingml/2006/main">
              <a:ext uri="{FF2B5EF4-FFF2-40B4-BE49-F238E27FC236}">
                <a16:creationId xmlns:a16="http://schemas.microsoft.com/office/drawing/2014/main" id="{F3C3DB17-1055-4746-805B-6EC26BB5E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4000500"/>
            <a:ext cx="28575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EEF6FF"/>
          </a:solidFill>
          <a:ln xmlns:a="http://schemas.openxmlformats.org/drawingml/2006/main" w="9525">
            <a:solidFill>
              <a:srgbClr val="DCE5F0"/>
            </a:solidFill>
            <a:prstDash val="solid"/>
          </a:ln>
        </p:spPr>
      </p:sp>
      <p:sp>
        <p:nvSpPr>
          <p:cNvPr id="28" name="圆角矩形 27">
            <a:extLst xmlns:a="http://schemas.openxmlformats.org/drawingml/2006/main">
              <a:ext uri="{FF2B5EF4-FFF2-40B4-BE49-F238E27FC236}">
                <a16:creationId xmlns:a16="http://schemas.microsoft.com/office/drawing/2014/main" id="{91BFED2A-FCA4-45B2-908C-A299F3222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4000500"/>
            <a:ext cx="57150" cy="7810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1677FF"/>
          </a:solidFill>
          <a:ln xmlns:a="http://schemas.openxmlformats.org/drawingml/2006/main" w="0">
            <a:noFill/>
          </a:ln>
        </p:spPr>
      </p:sp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9F4B3E8C-0767-4F87-B95F-9FFCC56AB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4143375"/>
            <a:ext cx="25336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490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导航状态</a:t>
            </a:r>
          </a:p>
        </p:txBody>
      </p:sp>
      <p:sp>
        <p:nvSpPr>
          <p:cNvPr id="30" name="矩形 29">
            <a:extLst xmlns:a="http://schemas.openxmlformats.org/drawingml/2006/main">
              <a:ext uri="{FF2B5EF4-FFF2-40B4-BE49-F238E27FC236}">
                <a16:creationId xmlns:a16="http://schemas.microsoft.com/office/drawing/2014/main" id="{4BCC2144-7DAD-4D2E-A2C7-998ACAB57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4362450"/>
            <a:ext cx="2571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匹配位置、进度、下一动作、偏航</a:t>
            </a:r>
          </a:p>
        </p:txBody>
      </p:sp>
      <p:sp>
        <p:nvSpPr>
          <p:cNvPr id="31" name="圆角矩形 30">
            <a:extLst xmlns:a="http://schemas.openxmlformats.org/drawingml/2006/main">
              <a:ext uri="{FF2B5EF4-FFF2-40B4-BE49-F238E27FC236}">
                <a16:creationId xmlns:a16="http://schemas.microsoft.com/office/drawing/2014/main" id="{E01C30FC-C976-4AF9-9BD0-4CEC4D893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000500"/>
            <a:ext cx="23812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CE5F0"/>
            </a:solidFill>
            <a:prstDash val="solid"/>
          </a:ln>
        </p:spPr>
      </p:sp>
      <p:sp>
        <p:nvSpPr>
          <p:cNvPr id="32" name="圆角矩形 31">
            <a:extLst xmlns:a="http://schemas.openxmlformats.org/drawingml/2006/main">
              <a:ext uri="{FF2B5EF4-FFF2-40B4-BE49-F238E27FC236}">
                <a16:creationId xmlns:a16="http://schemas.microsoft.com/office/drawing/2014/main" id="{7A1EC2FD-44BB-4D92-A3BF-AABDAD3D1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000500"/>
            <a:ext cx="57150" cy="7810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32C5FF"/>
          </a:solidFill>
          <a:ln xmlns:a="http://schemas.openxmlformats.org/drawingml/2006/main" w="0">
            <a:noFill/>
          </a:ln>
        </p:spPr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763BCCB6-AF38-423A-B8EC-4CD074080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4143375"/>
            <a:ext cx="2057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490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显示终端</a:t>
            </a:r>
          </a:p>
        </p:txBody>
      </p:sp>
      <p:sp>
        <p:nvSpPr>
          <p:cNvPr id="34" name="矩形 33">
            <a:extLst xmlns:a="http://schemas.openxmlformats.org/drawingml/2006/main">
              <a:ext uri="{FF2B5EF4-FFF2-40B4-BE49-F238E27FC236}">
                <a16:creationId xmlns:a16="http://schemas.microsoft.com/office/drawing/2014/main" id="{89683D2B-B058-4757-A8BB-B0FF041B4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4362450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6389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当前：本地 Web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后续：AR-HUD / 车端</a:t>
            </a:r>
          </a:p>
        </p:txBody>
      </p:sp>
      <p:sp>
        <p:nvSpPr>
          <p:cNvPr id="35" name="直线连接符 34">
            <a:extLst xmlns:a="http://schemas.openxmlformats.org/drawingml/2006/main">
              <a:ext uri="{FF2B5EF4-FFF2-40B4-BE49-F238E27FC236}">
                <a16:creationId xmlns:a16="http://schemas.microsoft.com/office/drawing/2014/main" id="{DD9CC2FE-9BFF-4786-8EEF-82AEB5740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391025"/>
            <a:ext cx="1028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85D75"/>
            </a:solidFill>
            <a:prstDash val="solid"/>
          </a:ln>
        </p:spPr>
      </p:sp>
      <p:sp>
        <p:nvSpPr>
          <p:cNvPr id="36" name="直线连接符 35">
            <a:extLst xmlns:a="http://schemas.openxmlformats.org/drawingml/2006/main">
              <a:ext uri="{FF2B5EF4-FFF2-40B4-BE49-F238E27FC236}">
                <a16:creationId xmlns:a16="http://schemas.microsoft.com/office/drawing/2014/main" id="{DA7FD7A4-1D99-4329-BDE0-ED9948C72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391025"/>
            <a:ext cx="838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677FF"/>
            </a:solidFill>
            <a:prstDash val="solid"/>
          </a:ln>
        </p:spPr>
      </p:sp>
      <p:sp>
        <p:nvSpPr>
          <p:cNvPr id="37" name="圆角矩形 36">
            <a:extLst xmlns:a="http://schemas.openxmlformats.org/drawingml/2006/main">
              <a:ext uri="{FF2B5EF4-FFF2-40B4-BE49-F238E27FC236}">
                <a16:creationId xmlns:a16="http://schemas.microsoft.com/office/drawing/2014/main" id="{217608B9-7063-4BD2-BCB5-3BF15BB35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81625"/>
            <a:ext cx="108204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8F3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71B33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071B33"/>
                </a:solidFill>
                <a:latin typeface="PingFang SC"/>
                <a:ea typeface="PingFang SC"/>
                <a:cs typeface="PingFang SC"/>
              </a:rPr>
              <a:t>关键边界：OSRM 只负责路由与路网查询；MapLibre 只负责显示；FastAPI 负责把位置变成可消费的导航状态。</a:t>
            </a:r>
          </a:p>
        </p:txBody>
      </p:sp>
      <p:sp>
        <p:nvSpPr>
          <p:cNvPr id="38" name="矩形 37">
            <a:extLst xmlns:a="http://schemas.openxmlformats.org/drawingml/2006/main">
              <a:ext uri="{FF2B5EF4-FFF2-40B4-BE49-F238E27FC236}">
                <a16:creationId xmlns:a16="http://schemas.microsoft.com/office/drawing/2014/main" id="{CB291BA6-411E-435F-882E-0030BF9CD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7500" lnSpcReduction="1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8390A3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8390A3"/>
                </a:solidFill>
                <a:latin typeface="PingFang SC"/>
                <a:ea typeface="PingFang SC"/>
                <a:cs typeface="PingFang SC"/>
              </a:rPr>
              <a:t>离线导航系统 MVP 汇报  ·  2026.09  ·  04</a:t>
            </a:r>
          </a:p>
        </p:txBody>
      </p:sp>
    </p:spTree>
    <p:extLst>
      <p:ext uri="{BB962C8B-B14F-4D97-AF65-F5344CB8AC3E}">
        <p14:creationId xmlns:p14="http://schemas.microsoft.com/office/powerpoint/2010/main" val="117389821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0B356FAF-C5C0-474B-ABC2-4315110E9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677FF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1677FF"/>
                </a:solidFill>
                <a:latin typeface="PingFang SC"/>
                <a:ea typeface="PingFang SC"/>
                <a:cs typeface="PingFang SC"/>
              </a:rPr>
              <a:t>05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1EA3309A-00C7-4AED-9B60-7AEC62448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071B33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071B33"/>
                </a:solidFill>
                <a:latin typeface="PingFang SC"/>
                <a:ea typeface="PingFang SC"/>
                <a:cs typeface="PingFang SC"/>
              </a:rPr>
              <a:t>开源基座：复用成熟能力，保留业务边界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F925C007-C397-4E63-AA0E-1A52D23E9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不是从零实现路由、地图渲染或 API 框架，而是在适配层实现导航业务规则。</a:t>
            </a:r>
          </a:p>
        </p:txBody>
      </p:sp>
      <p:sp>
        <p:nvSpPr>
          <p:cNvPr id="4" name="圆角矩形 3">
            <a:extLst xmlns:a="http://schemas.openxmlformats.org/drawingml/2006/main">
              <a:ext uri="{FF2B5EF4-FFF2-40B4-BE49-F238E27FC236}">
                <a16:creationId xmlns:a16="http://schemas.microsoft.com/office/drawing/2014/main" id="{41088571-85CA-4E53-90BB-339DF7516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108204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F0"/>
            </a:solidFill>
            <a:prstDash val="solid"/>
          </a:ln>
        </p:spPr>
      </p:sp>
      <p:sp>
        <p:nvSpPr>
          <p:cNvPr id="5" name="圆角矩形 4">
            <a:extLst xmlns:a="http://schemas.openxmlformats.org/drawingml/2006/main">
              <a:ext uri="{FF2B5EF4-FFF2-40B4-BE49-F238E27FC236}">
                <a16:creationId xmlns:a16="http://schemas.microsoft.com/office/drawing/2014/main" id="{AA201740-48DF-4E4B-AB1C-676A752F0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85725" cy="990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77FF"/>
          </a:solidFill>
          <a:ln xmlns:a="http://schemas.openxmlformats.org/drawingml/2006/main" w="0">
            <a:noFill/>
          </a:ln>
        </p:spPr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1FED8454-1120-450D-BC6A-ADF6DD276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162175"/>
            <a:ext cx="1762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913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71B33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071B33"/>
                </a:solidFill>
                <a:latin typeface="PingFang SC"/>
                <a:ea typeface="PingFang SC"/>
                <a:cs typeface="PingFang SC"/>
              </a:rPr>
              <a:t>OSRM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8DB07135-6973-452A-BA07-084492A5F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124075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高性能开源路由引擎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25F68C27-B275-4CAD-A265-2BB93966F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114550"/>
            <a:ext cx="342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汽车 profile、Route / Nearest / Match 能力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B1A5069E-DD1C-4BDA-A2FD-F263CF586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305050"/>
            <a:ext cx="20955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667" lnSpcReduction="2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1677FF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1677FF"/>
                </a:solidFill>
                <a:latin typeface="PingFang SC"/>
                <a:ea typeface="PingFang SC"/>
                <a:cs typeface="PingFang SC"/>
              </a:rPr>
              <a:t>Project-OSRM/osrm-backend</a:t>
            </a:r>
          </a:p>
        </p:txBody>
      </p:sp>
      <p:sp>
        <p:nvSpPr>
          <p:cNvPr id="10" name="圆角矩形 9">
            <a:extLst xmlns:a="http://schemas.openxmlformats.org/drawingml/2006/main">
              <a:ext uri="{FF2B5EF4-FFF2-40B4-BE49-F238E27FC236}">
                <a16:creationId xmlns:a16="http://schemas.microsoft.com/office/drawing/2014/main" id="{CD473B83-A51E-461B-B20E-8348A85BD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90875"/>
            <a:ext cx="108204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F0"/>
            </a:solidFill>
            <a:prstDash val="solid"/>
          </a:ln>
        </p:spPr>
      </p:sp>
      <p:sp>
        <p:nvSpPr>
          <p:cNvPr id="11" name="圆角矩形 10">
            <a:extLst xmlns:a="http://schemas.openxmlformats.org/drawingml/2006/main">
              <a:ext uri="{FF2B5EF4-FFF2-40B4-BE49-F238E27FC236}">
                <a16:creationId xmlns:a16="http://schemas.microsoft.com/office/drawing/2014/main" id="{7EFCB451-24C0-483E-B5A0-E0A9FA128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90875"/>
            <a:ext cx="85725" cy="990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A085"/>
          </a:solidFill>
          <a:ln xmlns:a="http://schemas.openxmlformats.org/drawingml/2006/main" w="0">
            <a:noFill/>
          </a:ln>
        </p:spPr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D36EF9FE-D409-4375-A646-A2118C690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400425"/>
            <a:ext cx="1762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913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71B33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071B33"/>
                </a:solidFill>
                <a:latin typeface="PingFang SC"/>
                <a:ea typeface="PingFang SC"/>
                <a:cs typeface="PingFang SC"/>
              </a:rPr>
              <a:t>MapLibre GL JS</a:t>
            </a: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771E6452-DD7C-477D-AD90-844432560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362325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浏览器端开源地图渲染</a:t>
            </a: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4D078ECD-58E7-4B94-998B-B1A646455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352800"/>
            <a:ext cx="342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离线 GeoJSON 图层、路线叠加、相机跟随</a:t>
            </a: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57D922FB-1273-4399-A1D8-A39A5B720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543300"/>
            <a:ext cx="20955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667" lnSpcReduction="2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16A085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16A085"/>
                </a:solidFill>
                <a:latin typeface="PingFang SC"/>
                <a:ea typeface="PingFang SC"/>
                <a:cs typeface="PingFang SC"/>
              </a:rPr>
              <a:t>maplibre/maplibre-gl-js</a:t>
            </a:r>
          </a:p>
        </p:txBody>
      </p:sp>
      <p:sp>
        <p:nvSpPr>
          <p:cNvPr id="16" name="圆角矩形 15">
            <a:extLst xmlns:a="http://schemas.openxmlformats.org/drawingml/2006/main">
              <a:ext uri="{FF2B5EF4-FFF2-40B4-BE49-F238E27FC236}">
                <a16:creationId xmlns:a16="http://schemas.microsoft.com/office/drawing/2014/main" id="{E0A56619-62B0-40C0-802D-3EBB7C021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29125"/>
            <a:ext cx="108204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F0"/>
            </a:solidFill>
            <a:prstDash val="solid"/>
          </a:ln>
        </p:spPr>
      </p:sp>
      <p:sp>
        <p:nvSpPr>
          <p:cNvPr id="17" name="圆角矩形 16">
            <a:extLst xmlns:a="http://schemas.openxmlformats.org/drawingml/2006/main">
              <a:ext uri="{FF2B5EF4-FFF2-40B4-BE49-F238E27FC236}">
                <a16:creationId xmlns:a16="http://schemas.microsoft.com/office/drawing/2014/main" id="{E703060D-719A-4185-A654-FE1A196B0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29125"/>
            <a:ext cx="85725" cy="990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</a:ln>
        </p:spPr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CCA7B477-8F6A-4316-B7DB-C0FA42DB5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638675"/>
            <a:ext cx="1762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913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71B33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071B33"/>
                </a:solidFill>
                <a:latin typeface="PingFang SC"/>
                <a:ea typeface="PingFang SC"/>
                <a:cs typeface="PingFang SC"/>
              </a:rPr>
              <a:t>FastAPI</a:t>
            </a: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3133D97B-A3DC-413C-8D04-6570D0F0E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600575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Python 服务框架</a:t>
            </a: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D2415C71-7580-4248-BF4B-BEF583AB5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591050"/>
            <a:ext cx="342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类型化 API、导航会话、WebSocket 状态推送</a:t>
            </a: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2591B3FE-8A79-48A4-9455-4EB6F273E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781550"/>
            <a:ext cx="20955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667" lnSpcReduction="2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F59E0B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F59E0B"/>
                </a:solidFill>
                <a:latin typeface="PingFang SC"/>
                <a:ea typeface="PingFang SC"/>
                <a:cs typeface="PingFang SC"/>
              </a:rPr>
              <a:t>fastapi/fastapi</a:t>
            </a: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296A925E-2511-492F-8B96-B0C088A45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7500" lnSpcReduction="1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8390A3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8390A3"/>
                </a:solidFill>
                <a:latin typeface="PingFang SC"/>
                <a:ea typeface="PingFang SC"/>
                <a:cs typeface="PingFang SC"/>
              </a:rPr>
              <a:t>离线导航系统 MVP 汇报  ·  2026.09  ·  05</a:t>
            </a:r>
          </a:p>
        </p:txBody>
      </p:sp>
    </p:spTree>
    <p:extLst>
      <p:ext uri="{BB962C8B-B14F-4D97-AF65-F5344CB8AC3E}">
        <p14:creationId xmlns:p14="http://schemas.microsoft.com/office/powerpoint/2010/main" val="110862855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3586356C-5B15-43D1-BACF-A92E57D27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677FF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1677FF"/>
                </a:solidFill>
                <a:latin typeface="PingFang SC"/>
                <a:ea typeface="PingFang SC"/>
                <a:cs typeface="PingFang SC"/>
              </a:rPr>
              <a:t>06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8ED88695-F97C-4F3A-91AE-8B7DE60D4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071B33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071B33"/>
                </a:solidFill>
                <a:latin typeface="PingFang SC"/>
                <a:ea typeface="PingFang SC"/>
                <a:cs typeface="PingFang SC"/>
              </a:rPr>
              <a:t>OSM 数据处理：一份原始地图，两条可追溯的离线产线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8D9D7AF5-71D1-409D-8810-41D804559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实验区域为北京局部路网。输入、边界、校验值、构建时间与命令均记录在元数据中。</a:t>
            </a:r>
          </a:p>
        </p:txBody>
      </p:sp>
      <p:sp>
        <p:nvSpPr>
          <p:cNvPr id="4" name="圆角矩形 3">
            <a:extLst xmlns:a="http://schemas.openxmlformats.org/drawingml/2006/main">
              <a:ext uri="{FF2B5EF4-FFF2-40B4-BE49-F238E27FC236}">
                <a16:creationId xmlns:a16="http://schemas.microsoft.com/office/drawing/2014/main" id="{3F720B22-5E92-4BCF-9173-7160BC0FA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10820400" cy="3409950"/>
          </a:xfrm>
          <a:prstGeom xmlns:a="http://schemas.openxmlformats.org/drawingml/2006/main" prst="roundRect">
            <a:avLst>
              <a:gd name="adj" fmla="val 4469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0">
            <a:noFill/>
          </a:ln>
        </p:spPr>
      </p:sp>
      <p:sp>
        <p:nvSpPr>
          <p:cNvPr id="5" name="圆角矩形 4">
            <a:extLst xmlns:a="http://schemas.openxmlformats.org/drawingml/2006/main">
              <a:ext uri="{FF2B5EF4-FFF2-40B4-BE49-F238E27FC236}">
                <a16:creationId xmlns:a16="http://schemas.microsoft.com/office/drawing/2014/main" id="{CD982E9D-F199-472D-8F85-797C19909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18097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F0"/>
            </a:solidFill>
            <a:prstDash val="solid"/>
          </a:ln>
        </p:spPr>
      </p:sp>
      <p:sp>
        <p:nvSpPr>
          <p:cNvPr id="6" name="圆角矩形 5">
            <a:extLst xmlns:a="http://schemas.openxmlformats.org/drawingml/2006/main">
              <a:ext uri="{FF2B5EF4-FFF2-40B4-BE49-F238E27FC236}">
                <a16:creationId xmlns:a16="http://schemas.microsoft.com/office/drawing/2014/main" id="{17C2DDEC-AD03-45D2-896D-49F6435AE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57150" cy="7810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</a:ln>
        </p:spPr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FABE927D-EA24-4C55-B997-1568686A5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14625"/>
            <a:ext cx="1485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490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map.osm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4C152B9C-1DF7-41BB-B52B-CB80FEB33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00375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38272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原始 OSM XML</a:t>
            </a:r>
          </a:p>
          <a:p xmlns:a="http://schemas.openxmlformats.org/drawingml/2006/main">
            <a:pPr algn="l">
              <a:buNone/>
              <a:defRPr sz="1125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Git 忽略</a:t>
            </a:r>
          </a:p>
        </p:txBody>
      </p:sp>
      <p:sp>
        <p:nvSpPr>
          <p:cNvPr id="9" name="直线连接符 8">
            <a:extLst xmlns:a="http://schemas.openxmlformats.org/drawingml/2006/main">
              <a:ext uri="{FF2B5EF4-FFF2-40B4-BE49-F238E27FC236}">
                <a16:creationId xmlns:a16="http://schemas.microsoft.com/office/drawing/2014/main" id="{C9CD2C6C-3D3A-4B80-8AA1-513771F83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962275"/>
            <a:ext cx="476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59E0B"/>
            </a:solidFill>
            <a:prstDash val="solid"/>
          </a:ln>
        </p:spPr>
      </p:sp>
      <p:sp>
        <p:nvSpPr>
          <p:cNvPr id="10" name="圆角矩形 9">
            <a:extLst xmlns:a="http://schemas.openxmlformats.org/drawingml/2006/main">
              <a:ext uri="{FF2B5EF4-FFF2-40B4-BE49-F238E27FC236}">
                <a16:creationId xmlns:a16="http://schemas.microsoft.com/office/drawing/2014/main" id="{1D193B20-F203-41F3-8303-668BF3CF6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571750"/>
            <a:ext cx="23812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F0"/>
            </a:solidFill>
            <a:prstDash val="solid"/>
          </a:ln>
        </p:spPr>
      </p:sp>
      <p:sp>
        <p:nvSpPr>
          <p:cNvPr id="11" name="圆角矩形 10">
            <a:extLst xmlns:a="http://schemas.openxmlformats.org/drawingml/2006/main">
              <a:ext uri="{FF2B5EF4-FFF2-40B4-BE49-F238E27FC236}">
                <a16:creationId xmlns:a16="http://schemas.microsoft.com/office/drawing/2014/main" id="{D9DEA656-347B-4CF4-8E56-F0FE04016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571750"/>
            <a:ext cx="57150" cy="7810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1677FF"/>
          </a:solidFill>
          <a:ln xmlns:a="http://schemas.openxmlformats.org/drawingml/2006/main" w="0">
            <a:noFill/>
          </a:ln>
        </p:spPr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6B8AA470-1A58-4DF1-9CD9-D934CD207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714625"/>
            <a:ext cx="2057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490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OSRM MLD</a:t>
            </a: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9A0701E7-DCF9-4324-AFB6-A13E5D878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000375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38272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extract → partition → customize</a:t>
            </a:r>
          </a:p>
          <a:p xmlns:a="http://schemas.openxmlformats.org/drawingml/2006/main">
            <a:pPr algn="l">
              <a:buNone/>
              <a:defRPr sz="1125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汽车路网查询</a:t>
            </a:r>
          </a:p>
        </p:txBody>
      </p:sp>
      <p:sp>
        <p:nvSpPr>
          <p:cNvPr id="14" name="直线连接符 13">
            <a:extLst xmlns:a="http://schemas.openxmlformats.org/drawingml/2006/main">
              <a:ext uri="{FF2B5EF4-FFF2-40B4-BE49-F238E27FC236}">
                <a16:creationId xmlns:a16="http://schemas.microsoft.com/office/drawing/2014/main" id="{E98B6450-B0ED-4967-AF82-205E26E09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962275"/>
            <a:ext cx="590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677FF"/>
            </a:solidFill>
            <a:prstDash val="solid"/>
          </a:ln>
        </p:spPr>
      </p:sp>
      <p:sp>
        <p:nvSpPr>
          <p:cNvPr id="15" name="圆角矩形 14">
            <a:extLst xmlns:a="http://schemas.openxmlformats.org/drawingml/2006/main">
              <a:ext uri="{FF2B5EF4-FFF2-40B4-BE49-F238E27FC236}">
                <a16:creationId xmlns:a16="http://schemas.microsoft.com/office/drawing/2014/main" id="{97E1F2B7-C083-430F-BB50-96E0D3660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571750"/>
            <a:ext cx="18097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F0"/>
            </a:solidFill>
            <a:prstDash val="solid"/>
          </a:ln>
        </p:spPr>
      </p:sp>
      <p:sp>
        <p:nvSpPr>
          <p:cNvPr id="16" name="圆角矩形 15">
            <a:extLst xmlns:a="http://schemas.openxmlformats.org/drawingml/2006/main">
              <a:ext uri="{FF2B5EF4-FFF2-40B4-BE49-F238E27FC236}">
                <a16:creationId xmlns:a16="http://schemas.microsoft.com/office/drawing/2014/main" id="{FDEDE8E5-8916-436D-B534-3AA23682C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571750"/>
            <a:ext cx="57150" cy="7810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16A085"/>
          </a:solidFill>
          <a:ln xmlns:a="http://schemas.openxmlformats.org/drawingml/2006/main" w="0">
            <a:noFill/>
          </a:ln>
        </p:spPr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8944B8F1-0D48-4F69-9767-9D21C6840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714625"/>
            <a:ext cx="1485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490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8 类 GeoJSON</a:t>
            </a: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A35AA212-F36B-4439-A895-42EC5BEBC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000375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38272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道路 / 建筑 / 水系 / 绿地 / 用地</a:t>
            </a:r>
          </a:p>
          <a:p xmlns:a="http://schemas.openxmlformats.org/drawingml/2006/main">
            <a:pPr algn="l">
              <a:buNone/>
              <a:defRPr sz="1125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道路名 / 地点名 / POI</a:t>
            </a:r>
          </a:p>
        </p:txBody>
      </p:sp>
      <p:sp>
        <p:nvSpPr>
          <p:cNvPr id="19" name="直线连接符 18">
            <a:extLst xmlns:a="http://schemas.openxmlformats.org/drawingml/2006/main">
              <a:ext uri="{FF2B5EF4-FFF2-40B4-BE49-F238E27FC236}">
                <a16:creationId xmlns:a16="http://schemas.microsoft.com/office/drawing/2014/main" id="{B869BFC0-42CF-4112-9534-26894BD80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962275"/>
            <a:ext cx="1447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6A085"/>
            </a:solidFill>
            <a:prstDash val="solid"/>
          </a:ln>
        </p:spPr>
      </p:sp>
      <p:sp>
        <p:nvSpPr>
          <p:cNvPr id="20" name="圆角矩形 19">
            <a:extLst xmlns:a="http://schemas.openxmlformats.org/drawingml/2006/main">
              <a:ext uri="{FF2B5EF4-FFF2-40B4-BE49-F238E27FC236}">
                <a16:creationId xmlns:a16="http://schemas.microsoft.com/office/drawing/2014/main" id="{BDCE5D94-A276-4166-BC30-85BD36855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571750"/>
            <a:ext cx="18097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F0"/>
            </a:solidFill>
            <a:prstDash val="solid"/>
          </a:ln>
        </p:spPr>
      </p:sp>
      <p:sp>
        <p:nvSpPr>
          <p:cNvPr id="21" name="圆角矩形 20">
            <a:extLst xmlns:a="http://schemas.openxmlformats.org/drawingml/2006/main">
              <a:ext uri="{FF2B5EF4-FFF2-40B4-BE49-F238E27FC236}">
                <a16:creationId xmlns:a16="http://schemas.microsoft.com/office/drawing/2014/main" id="{7C957616-CCA5-4400-B827-1FFB32626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571750"/>
            <a:ext cx="57150" cy="7810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32C5FF"/>
          </a:solidFill>
          <a:ln xmlns:a="http://schemas.openxmlformats.org/drawingml/2006/main" w="0">
            <a:noFill/>
          </a:ln>
        </p:spPr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0888F4F4-0B77-4876-B125-17EF24785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714625"/>
            <a:ext cx="1485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490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MapLibre</a:t>
            </a:r>
          </a:p>
        </p:txBody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C7EEB7C5-6C18-49C1-A7A2-94449545F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000375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38272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本地静态加载</a:t>
            </a:r>
          </a:p>
          <a:p xmlns:a="http://schemas.openxmlformats.org/drawingml/2006/main">
            <a:pPr algn="l">
              <a:buNone/>
              <a:defRPr sz="1125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不依赖在线瓦片</a:t>
            </a:r>
          </a:p>
        </p:txBody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41D37AC3-82CD-44CE-91E5-1E4FD7DC6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3338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7500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F59E0B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F59E0B"/>
                </a:solidFill>
                <a:latin typeface="PingFang SC"/>
                <a:ea typeface="PingFang SC"/>
                <a:cs typeface="PingFang SC"/>
              </a:rPr>
              <a:t>数据治理</a:t>
            </a:r>
          </a:p>
        </p:txBody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CE864FFD-98EF-4FAC-ADF1-A33D87923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4333875"/>
            <a:ext cx="714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2500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输入 SHA-256 · 地图边界 · 构建 UTC 时间 · 工具版本 · 完整命令</a:t>
            </a:r>
          </a:p>
        </p:txBody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5FED05EC-E255-4266-9D88-217A47CA8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10820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当前实验范围：39.86864–39.90006 N，116.36676–116.41706 E。原始 OSM、OSRM 文件、MBTiles 均不提交 Git。</a:t>
            </a:r>
          </a:p>
        </p:txBody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8D8EBE72-854C-4D38-A9FA-5E9B853D7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7500" lnSpcReduction="1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8390A3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8390A3"/>
                </a:solidFill>
                <a:latin typeface="PingFang SC"/>
                <a:ea typeface="PingFang SC"/>
                <a:cs typeface="PingFang SC"/>
              </a:rPr>
              <a:t>离线导航系统 MVP 汇报  ·  2026.09  ·  06</a:t>
            </a:r>
          </a:p>
        </p:txBody>
      </p:sp>
    </p:spTree>
    <p:extLst>
      <p:ext uri="{BB962C8B-B14F-4D97-AF65-F5344CB8AC3E}">
        <p14:creationId xmlns:p14="http://schemas.microsoft.com/office/powerpoint/2010/main" val="29093022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5FFC2C31-9E6A-4B09-A045-E644D1C8D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677FF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1677FF"/>
                </a:solidFill>
                <a:latin typeface="PingFang SC"/>
                <a:ea typeface="PingFang SC"/>
                <a:cs typeface="PingFang SC"/>
              </a:rPr>
              <a:t>07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47A4EB16-65E8-4658-8CFD-67144E38C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071B33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071B33"/>
                </a:solidFill>
                <a:latin typeface="PingFang SC"/>
                <a:ea typeface="PingFang SC"/>
                <a:cs typeface="PingFang SC"/>
              </a:rPr>
              <a:t>离线可视化：以主题</a:t>
            </a:r>
            <a:r>
              <a:rPr sz="2400" b="1">
                <a:solidFill>
                  <a:srgbClr val="071B33"/>
                </a:solidFill>
                <a:latin typeface="PingFang SC"/>
                <a:ea typeface="PingFang SC"/>
                <a:cs typeface="PingFang SC"/>
              </a:rPr>
              <a:t> GeoJSON </a:t>
            </a:r>
            <a:r>
              <a:rPr sz="2400" b="1">
                <a:solidFill>
                  <a:srgbClr val="071B33"/>
                </a:solidFill>
                <a:latin typeface="PingFang SC"/>
                <a:ea typeface="PingFang SC"/>
                <a:cs typeface="PingFang SC"/>
              </a:rPr>
              <a:t>降低</a:t>
            </a:r>
            <a:r>
              <a:rPr sz="2400" b="1">
                <a:solidFill>
                  <a:srgbClr val="071B33"/>
                </a:solidFill>
                <a:latin typeface="PingFang SC"/>
                <a:ea typeface="PingFang SC"/>
                <a:cs typeface="PingFang SC"/>
              </a:rPr>
              <a:t> MVP </a:t>
            </a:r>
            <a:r>
              <a:rPr sz="2400" b="1">
                <a:solidFill>
                  <a:srgbClr val="071B33"/>
                </a:solidFill>
                <a:latin typeface="PingFang SC"/>
                <a:ea typeface="PingFang SC"/>
                <a:cs typeface="PingFang SC"/>
              </a:rPr>
              <a:t>复杂度</a:t>
            </a:r>
            <a:endParaRPr sz="2400" b="1">
              <a:solidFill>
                <a:srgbClr val="071B33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7A7EC8DC-8265-4CA3-AA62-298D217DE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先交付可读、可离线的底图与导航叠加；地图规模扩大后无缝替换为</a:t>
            </a:r>
            <a:r>
              <a:rPr sz="1125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125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MBTiles</a:t>
            </a:r>
            <a:r>
              <a:rPr sz="1125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125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矢量瓦片</a:t>
            </a:r>
            <a:r>
              <a:rPr sz="1125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。</a:t>
            </a:r>
          </a:p>
        </p:txBody>
      </p:sp>
      <p:sp>
        <p:nvSpPr>
          <p:cNvPr id="15" name="圆角矩形 14">
            <a:extLst xmlns:a="http://schemas.openxmlformats.org/drawingml/2006/main">
              <a:ext uri="{FF2B5EF4-FFF2-40B4-BE49-F238E27FC236}">
                <a16:creationId xmlns:a16="http://schemas.microsoft.com/office/drawing/2014/main" id="{E333CA81-264D-49FD-A9CB-17C3C34AD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143125"/>
            <a:ext cx="49530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F0"/>
            </a:solidFill>
            <a:prstDash val="solid"/>
          </a:ln>
        </p:spPr>
      </p:sp>
      <p:sp>
        <p:nvSpPr>
          <p:cNvPr id="16" name="圆角矩形 15">
            <a:extLst xmlns:a="http://schemas.openxmlformats.org/drawingml/2006/main">
              <a:ext uri="{FF2B5EF4-FFF2-40B4-BE49-F238E27FC236}">
                <a16:creationId xmlns:a16="http://schemas.microsoft.com/office/drawing/2014/main" id="{38FB8DF3-EB81-4DA1-95F0-0259AE3B8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143125"/>
            <a:ext cx="76200" cy="742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77FF"/>
          </a:solidFill>
          <a:ln xmlns:a="http://schemas.openxmlformats.org/drawingml/2006/main" w="0">
            <a:noFill/>
          </a:ln>
        </p:spPr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F4A8378B-F8E8-42FA-9B73-0A884AF79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295525"/>
            <a:ext cx="1047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490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071B33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071B33"/>
                </a:solidFill>
                <a:latin typeface="PingFang SC"/>
                <a:ea typeface="PingFang SC"/>
                <a:cs typeface="PingFang SC"/>
              </a:rPr>
              <a:t>表达层</a:t>
            </a: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ACF4067F-A11C-4924-9E73-2F4C79C5F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266950"/>
            <a:ext cx="333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道路、建筑、水系、绿地、用地与标签分层渲染</a:t>
            </a:r>
            <a:endParaRPr sz="1050" b="0">
              <a:solidFill>
                <a:srgbClr val="5B667A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9" name="圆角矩形 18">
            <a:extLst xmlns:a="http://schemas.openxmlformats.org/drawingml/2006/main">
              <a:ext uri="{FF2B5EF4-FFF2-40B4-BE49-F238E27FC236}">
                <a16:creationId xmlns:a16="http://schemas.microsoft.com/office/drawing/2014/main" id="{4BFCEEC5-8F66-4048-A2AE-570054582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143250"/>
            <a:ext cx="49530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F0"/>
            </a:solidFill>
            <a:prstDash val="solid"/>
          </a:ln>
        </p:spPr>
      </p:sp>
      <p:sp>
        <p:nvSpPr>
          <p:cNvPr id="20" name="圆角矩形 19">
            <a:extLst xmlns:a="http://schemas.openxmlformats.org/drawingml/2006/main">
              <a:ext uri="{FF2B5EF4-FFF2-40B4-BE49-F238E27FC236}">
                <a16:creationId xmlns:a16="http://schemas.microsoft.com/office/drawing/2014/main" id="{2862F802-C1B4-453A-8465-26288C5A7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143250"/>
            <a:ext cx="76200" cy="742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A085"/>
          </a:solidFill>
          <a:ln xmlns:a="http://schemas.openxmlformats.org/drawingml/2006/main" w="0">
            <a:noFill/>
          </a:ln>
        </p:spPr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E0AA786C-DCA4-436F-B99D-A3A522870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295650"/>
            <a:ext cx="1047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490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071B33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071B33"/>
                </a:solidFill>
                <a:latin typeface="PingFang SC"/>
                <a:ea typeface="PingFang SC"/>
                <a:cs typeface="PingFang SC"/>
              </a:rPr>
              <a:t>导航层</a:t>
            </a: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5B1F391E-B9F4-4C4B-B41B-8ABBB7F36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267075"/>
            <a:ext cx="333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主路线高亮、已通过路线灰化、箭头、旋转车标、下一转向</a:t>
            </a:r>
            <a:endParaRPr sz="1050" b="0">
              <a:solidFill>
                <a:srgbClr val="5B667A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23" name="圆角矩形 22">
            <a:extLst xmlns:a="http://schemas.openxmlformats.org/drawingml/2006/main">
              <a:ext uri="{FF2B5EF4-FFF2-40B4-BE49-F238E27FC236}">
                <a16:creationId xmlns:a16="http://schemas.microsoft.com/office/drawing/2014/main" id="{8E6ECC14-3273-4274-B434-F4C345BA0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143375"/>
            <a:ext cx="49530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F0"/>
            </a:solidFill>
            <a:prstDash val="solid"/>
          </a:ln>
        </p:spPr>
      </p:sp>
      <p:sp>
        <p:nvSpPr>
          <p:cNvPr id="24" name="圆角矩形 23">
            <a:extLst xmlns:a="http://schemas.openxmlformats.org/drawingml/2006/main">
              <a:ext uri="{FF2B5EF4-FFF2-40B4-BE49-F238E27FC236}">
                <a16:creationId xmlns:a16="http://schemas.microsoft.com/office/drawing/2014/main" id="{00C2F270-C266-43B7-8B10-77C8771A9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143375"/>
            <a:ext cx="76200" cy="742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</a:ln>
        </p:spPr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348FE4FF-5396-4969-B714-8DACCB3B1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295775"/>
            <a:ext cx="1047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490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071B33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071B33"/>
                </a:solidFill>
                <a:latin typeface="PingFang SC"/>
                <a:ea typeface="PingFang SC"/>
                <a:cs typeface="PingFang SC"/>
              </a:rPr>
              <a:t>性能路径</a:t>
            </a:r>
          </a:p>
        </p:txBody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9CED8FBC-258B-4AE4-87B4-9EDD4DFE1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267200"/>
            <a:ext cx="333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当前主题</a:t>
            </a:r>
            <a:r>
              <a:rPr sz="1050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050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GeoJSON；更大范围与高缩放级别转</a:t>
            </a:r>
            <a:r>
              <a:rPr sz="1050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050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MBTiles</a:t>
            </a:r>
            <a:r>
              <a:rPr sz="1050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 / </a:t>
            </a:r>
            <a:r>
              <a:rPr sz="1050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矢量瓦片</a:t>
            </a:r>
            <a:endParaRPr sz="1050" b="0">
              <a:solidFill>
                <a:srgbClr val="5B667A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574BED47-A5DD-424D-AEFF-4B04C1B7D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10820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优化原则：不为当前约 10 MB 的实验地图提前引入 PBF / MBTiles 转换链复杂度。</a:t>
            </a:r>
          </a:p>
        </p:txBody>
      </p:sp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39421DA0-71B3-46F7-A4E5-15527D753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7500" lnSpcReduction="1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8390A3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8390A3"/>
                </a:solidFill>
                <a:latin typeface="PingFang SC"/>
                <a:ea typeface="PingFang SC"/>
                <a:cs typeface="PingFang SC"/>
              </a:rPr>
              <a:t>离线导航系统 MVP 汇报  ·  2026.09  ·  07</a:t>
            </a:r>
          </a:p>
        </p:txBody>
      </p:sp>
      <p:pic>
        <p:nvPicPr>
          <p:cNvPr id="48" name="图片 2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af11a51a36497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89541" y="2076929"/>
            <a:ext cx="5435009" cy="2913692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78616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C50286D6-9D07-421C-A460-6702BB336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677FF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1677FF"/>
                </a:solidFill>
                <a:latin typeface="PingFang SC"/>
                <a:ea typeface="PingFang SC"/>
                <a:cs typeface="PingFang SC"/>
              </a:rPr>
              <a:t>08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66478AD0-DB7F-4CE7-92D1-86B6AACA0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071B33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071B33"/>
                </a:solidFill>
                <a:latin typeface="PingFang SC"/>
                <a:ea typeface="PingFang SC"/>
                <a:cs typeface="PingFang SC"/>
              </a:rPr>
              <a:t>MVP 当前成果：离线导航闭环已经可演示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91B44D48-CC12-40B6-800E-E655C4913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从选点到到达、从偏航到重新规划，均可在本地 Docker 环境复现。</a:t>
            </a:r>
          </a:p>
        </p:txBody>
      </p:sp>
      <p:sp>
        <p:nvSpPr>
          <p:cNvPr id="4" name="圆角矩形 3">
            <a:extLst xmlns:a="http://schemas.openxmlformats.org/drawingml/2006/main">
              <a:ext uri="{FF2B5EF4-FFF2-40B4-BE49-F238E27FC236}">
                <a16:creationId xmlns:a16="http://schemas.microsoft.com/office/drawing/2014/main" id="{7191032A-DF4D-4FD9-A1DA-7375F1139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1762125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CE5F0"/>
            </a:solidFill>
            <a:prstDash val="solid"/>
          </a:ln>
        </p:spPr>
      </p:sp>
      <p:sp>
        <p:nvSpPr>
          <p:cNvPr id="5" name="圆角矩形 4">
            <a:extLst xmlns:a="http://schemas.openxmlformats.org/drawingml/2006/main">
              <a:ext uri="{FF2B5EF4-FFF2-40B4-BE49-F238E27FC236}">
                <a16:creationId xmlns:a16="http://schemas.microsoft.com/office/drawing/2014/main" id="{57F79FDF-8695-43BC-B52E-686452F2C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57150" cy="7810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1677FF"/>
          </a:solidFill>
          <a:ln xmlns:a="http://schemas.openxmlformats.org/drawingml/2006/main" w="0">
            <a:noFill/>
          </a:ln>
        </p:spPr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BC16D73A-1654-40CF-A87B-6D6456780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24125"/>
            <a:ext cx="14382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490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选择起终点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43017DB5-0818-4541-BDAB-4F610F1FE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43200"/>
            <a:ext cx="1476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59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地图点击或预置端点</a:t>
            </a:r>
          </a:p>
        </p:txBody>
      </p:sp>
      <p:sp>
        <p:nvSpPr>
          <p:cNvPr id="8" name="直线连接符 7">
            <a:extLst xmlns:a="http://schemas.openxmlformats.org/drawingml/2006/main">
              <a:ext uri="{FF2B5EF4-FFF2-40B4-BE49-F238E27FC236}">
                <a16:creationId xmlns:a16="http://schemas.microsoft.com/office/drawing/2014/main" id="{FCEE5877-715D-442D-8902-E8D1E5A9B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2771775"/>
            <a:ext cx="3524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677FF"/>
            </a:solidFill>
            <a:prstDash val="solid"/>
          </a:ln>
        </p:spPr>
      </p:sp>
      <p:sp>
        <p:nvSpPr>
          <p:cNvPr id="9" name="圆角矩形 8">
            <a:extLst xmlns:a="http://schemas.openxmlformats.org/drawingml/2006/main">
              <a:ext uri="{FF2B5EF4-FFF2-40B4-BE49-F238E27FC236}">
                <a16:creationId xmlns:a16="http://schemas.microsoft.com/office/drawing/2014/main" id="{3A808915-AE69-4F56-B0EA-8C6AF4390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381250"/>
            <a:ext cx="1762125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CE5F0"/>
            </a:solidFill>
            <a:prstDash val="solid"/>
          </a:ln>
        </p:spPr>
      </p:sp>
      <p:sp>
        <p:nvSpPr>
          <p:cNvPr id="10" name="圆角矩形 9">
            <a:extLst xmlns:a="http://schemas.openxmlformats.org/drawingml/2006/main">
              <a:ext uri="{FF2B5EF4-FFF2-40B4-BE49-F238E27FC236}">
                <a16:creationId xmlns:a16="http://schemas.microsoft.com/office/drawing/2014/main" id="{9B53C922-F3B9-4AF1-866C-9C9D96279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381250"/>
            <a:ext cx="57150" cy="7810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1677FF"/>
          </a:solidFill>
          <a:ln xmlns:a="http://schemas.openxmlformats.org/drawingml/2006/main" w="0">
            <a:noFill/>
          </a:ln>
        </p:spPr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37C0D4EB-1226-43B9-98DD-C60D7490B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524125"/>
            <a:ext cx="14382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490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路线规划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1050CFCF-36CA-45A1-941F-9269E2240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743200"/>
            <a:ext cx="1476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3178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距离、时长、逐步转向</a:t>
            </a:r>
          </a:p>
        </p:txBody>
      </p:sp>
      <p:sp>
        <p:nvSpPr>
          <p:cNvPr id="13" name="直线连接符 12">
            <a:extLst xmlns:a="http://schemas.openxmlformats.org/drawingml/2006/main">
              <a:ext uri="{FF2B5EF4-FFF2-40B4-BE49-F238E27FC236}">
                <a16:creationId xmlns:a16="http://schemas.microsoft.com/office/drawing/2014/main" id="{D00D073B-7754-45C5-8575-90AEBF51B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771775"/>
            <a:ext cx="3524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677FF"/>
            </a:solidFill>
            <a:prstDash val="solid"/>
          </a:ln>
        </p:spPr>
      </p:sp>
      <p:sp>
        <p:nvSpPr>
          <p:cNvPr id="14" name="圆角矩形 13">
            <a:extLst xmlns:a="http://schemas.openxmlformats.org/drawingml/2006/main">
              <a:ext uri="{FF2B5EF4-FFF2-40B4-BE49-F238E27FC236}">
                <a16:creationId xmlns:a16="http://schemas.microsoft.com/office/drawing/2014/main" id="{A93C23BD-8A4A-4A11-8306-959E683FF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381250"/>
            <a:ext cx="1762125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CE5F0"/>
            </a:solidFill>
            <a:prstDash val="solid"/>
          </a:ln>
        </p:spPr>
      </p:sp>
      <p:sp>
        <p:nvSpPr>
          <p:cNvPr id="15" name="圆角矩形 14">
            <a:extLst xmlns:a="http://schemas.openxmlformats.org/drawingml/2006/main">
              <a:ext uri="{FF2B5EF4-FFF2-40B4-BE49-F238E27FC236}">
                <a16:creationId xmlns:a16="http://schemas.microsoft.com/office/drawing/2014/main" id="{5C936BF5-682A-49D7-AECC-7D06C8253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381250"/>
            <a:ext cx="57150" cy="7810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</a:ln>
        </p:spPr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70830F4C-E545-4C83-939B-EE77997AA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524125"/>
            <a:ext cx="14382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490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开始模拟回放</a:t>
            </a: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3BD54CD6-5601-483A-AE8E-A96C20CF1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743200"/>
            <a:ext cx="1476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暂停、继续、重播</a:t>
            </a:r>
          </a:p>
        </p:txBody>
      </p:sp>
      <p:sp>
        <p:nvSpPr>
          <p:cNvPr id="18" name="直线连接符 17">
            <a:extLst xmlns:a="http://schemas.openxmlformats.org/drawingml/2006/main">
              <a:ext uri="{FF2B5EF4-FFF2-40B4-BE49-F238E27FC236}">
                <a16:creationId xmlns:a16="http://schemas.microsoft.com/office/drawing/2014/main" id="{0B5AA879-B1AC-49C1-BC9F-DC3EF1BD7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2771775"/>
            <a:ext cx="3524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677FF"/>
            </a:solidFill>
            <a:prstDash val="solid"/>
          </a:ln>
        </p:spPr>
      </p:sp>
      <p:sp>
        <p:nvSpPr>
          <p:cNvPr id="19" name="圆角矩形 18">
            <a:extLst xmlns:a="http://schemas.openxmlformats.org/drawingml/2006/main">
              <a:ext uri="{FF2B5EF4-FFF2-40B4-BE49-F238E27FC236}">
                <a16:creationId xmlns:a16="http://schemas.microsoft.com/office/drawing/2014/main" id="{3E3CCA53-D154-4F58-80E2-7940338F3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381250"/>
            <a:ext cx="1762125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CE5F0"/>
            </a:solidFill>
            <a:prstDash val="solid"/>
          </a:ln>
        </p:spPr>
      </p:sp>
      <p:sp>
        <p:nvSpPr>
          <p:cNvPr id="20" name="圆角矩形 19">
            <a:extLst xmlns:a="http://schemas.openxmlformats.org/drawingml/2006/main">
              <a:ext uri="{FF2B5EF4-FFF2-40B4-BE49-F238E27FC236}">
                <a16:creationId xmlns:a16="http://schemas.microsoft.com/office/drawing/2014/main" id="{A8F5DCDE-906B-48C9-A39C-3297E1DAC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381250"/>
            <a:ext cx="57150" cy="7810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16A085"/>
          </a:solidFill>
          <a:ln xmlns:a="http://schemas.openxmlformats.org/drawingml/2006/main" w="0">
            <a:noFill/>
          </a:ln>
        </p:spPr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87B6F649-7951-4246-A968-FE90A4B13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524125"/>
            <a:ext cx="14382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37745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道路匹配</a:t>
            </a:r>
          </a:p>
          <a:p xmlns:a="http://schemas.openxmlformats.org/drawingml/2006/main">
            <a:pPr algn="l">
              <a:buNone/>
              <a:defRPr sz="1275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与导航状态</a:t>
            </a: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4FEABE21-84C7-4EC6-98F1-DD9B091DA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724150"/>
            <a:ext cx="1476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2176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匹配位置、进度、下一动作</a:t>
            </a:r>
          </a:p>
        </p:txBody>
      </p:sp>
      <p:sp>
        <p:nvSpPr>
          <p:cNvPr id="23" name="直线连接符 22">
            <a:extLst xmlns:a="http://schemas.openxmlformats.org/drawingml/2006/main">
              <a:ext uri="{FF2B5EF4-FFF2-40B4-BE49-F238E27FC236}">
                <a16:creationId xmlns:a16="http://schemas.microsoft.com/office/drawing/2014/main" id="{F067DFEE-0F2F-485A-864B-A6C992242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2771775"/>
            <a:ext cx="3524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677FF"/>
            </a:solidFill>
            <a:prstDash val="solid"/>
          </a:ln>
        </p:spPr>
      </p:sp>
      <p:sp>
        <p:nvSpPr>
          <p:cNvPr id="24" name="圆角矩形 23">
            <a:extLst xmlns:a="http://schemas.openxmlformats.org/drawingml/2006/main">
              <a:ext uri="{FF2B5EF4-FFF2-40B4-BE49-F238E27FC236}">
                <a16:creationId xmlns:a16="http://schemas.microsoft.com/office/drawing/2014/main" id="{09938594-A201-4480-B7C0-28F20A127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381250"/>
            <a:ext cx="1762125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CE5F0"/>
            </a:solidFill>
            <a:prstDash val="solid"/>
          </a:ln>
        </p:spPr>
      </p:sp>
      <p:sp>
        <p:nvSpPr>
          <p:cNvPr id="25" name="圆角矩形 24">
            <a:extLst xmlns:a="http://schemas.openxmlformats.org/drawingml/2006/main">
              <a:ext uri="{FF2B5EF4-FFF2-40B4-BE49-F238E27FC236}">
                <a16:creationId xmlns:a16="http://schemas.microsoft.com/office/drawing/2014/main" id="{752628A5-CF2D-474D-A276-C24A16B10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381250"/>
            <a:ext cx="57150" cy="7810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85D75"/>
          </a:solidFill>
          <a:ln xmlns:a="http://schemas.openxmlformats.org/drawingml/2006/main" w="0">
            <a:noFill/>
          </a:ln>
        </p:spPr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1DAAD16F-5FA5-4B7B-98A7-8B1D6CE14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524125"/>
            <a:ext cx="14382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490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到达 / 偏航重算</a:t>
            </a:r>
          </a:p>
        </p:txBody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E3782A7E-8360-4599-8C2B-CABA5733A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743200"/>
            <a:ext cx="1476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替换路线并继续</a:t>
            </a:r>
          </a:p>
        </p:txBody>
      </p:sp>
      <p:sp>
        <p:nvSpPr>
          <p:cNvPr id="28" name="圆角矩形 27">
            <a:extLst xmlns:a="http://schemas.openxmlformats.org/drawingml/2006/main">
              <a:ext uri="{FF2B5EF4-FFF2-40B4-BE49-F238E27FC236}">
                <a16:creationId xmlns:a16="http://schemas.microsoft.com/office/drawing/2014/main" id="{53491B37-E264-4398-896E-460D1FF87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05250"/>
            <a:ext cx="10820400" cy="1524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EF6FF"/>
          </a:solidFill>
          <a:ln xmlns:a="http://schemas.openxmlformats.org/drawingml/2006/main" w="0">
            <a:noFill/>
          </a:ln>
        </p:spPr>
      </p:sp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0D633177-5F96-49CE-A914-7DAE87CEA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1910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016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71B33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071B33"/>
                </a:solidFill>
                <a:latin typeface="PingFang SC"/>
                <a:ea typeface="PingFang SC"/>
                <a:cs typeface="PingFang SC"/>
              </a:rPr>
              <a:t>当前验证点</a:t>
            </a:r>
          </a:p>
        </p:txBody>
      </p:sp>
      <p:sp>
        <p:nvSpPr>
          <p:cNvPr id="30" name="矩形 29">
            <a:extLst xmlns:a="http://schemas.openxmlformats.org/drawingml/2006/main">
              <a:ext uri="{FF2B5EF4-FFF2-40B4-BE49-F238E27FC236}">
                <a16:creationId xmlns:a16="http://schemas.microsoft.com/office/drawing/2014/main" id="{115326F6-CF62-4675-A26B-B35CF2CA9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105275"/>
            <a:ext cx="676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正常路线  ·  无可达路线  ·  路网外定位点  ·  偏航重算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正常轨迹到达 arrived；偏航轨迹要求恰好触发一次路线替换。</a:t>
            </a:r>
          </a:p>
        </p:txBody>
      </p:sp>
      <p:sp>
        <p:nvSpPr>
          <p:cNvPr id="31" name="矩形 30">
            <a:extLst xmlns:a="http://schemas.openxmlformats.org/drawingml/2006/main">
              <a:ext uri="{FF2B5EF4-FFF2-40B4-BE49-F238E27FC236}">
                <a16:creationId xmlns:a16="http://schemas.microsoft.com/office/drawing/2014/main" id="{17BFE03C-04B2-421F-AF77-2383E9A91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04825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809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运行方式：bash scripts/demo.sh 启动本地三容器；bash scripts/smoke_test.sh 验证闭环。</a:t>
            </a:r>
          </a:p>
        </p:txBody>
      </p:sp>
      <p:sp>
        <p:nvSpPr>
          <p:cNvPr id="32" name="矩形 31">
            <a:extLst xmlns:a="http://schemas.openxmlformats.org/drawingml/2006/main">
              <a:ext uri="{FF2B5EF4-FFF2-40B4-BE49-F238E27FC236}">
                <a16:creationId xmlns:a16="http://schemas.microsoft.com/office/drawing/2014/main" id="{2E96A16C-50BF-4533-A3C3-7603ABF82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1852" lnSpcReduction="1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8390A3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8390A3"/>
                </a:solidFill>
                <a:latin typeface="PingFang SC"/>
                <a:ea typeface="PingFang SC"/>
                <a:cs typeface="PingFang SC"/>
              </a:rPr>
              <a:t>离线导航系统 MVP 汇报  ·  2026.09  ·  08</a:t>
            </a:r>
          </a:p>
        </p:txBody>
      </p:sp>
    </p:spTree>
    <p:extLst>
      <p:ext uri="{BB962C8B-B14F-4D97-AF65-F5344CB8AC3E}">
        <p14:creationId xmlns:p14="http://schemas.microsoft.com/office/powerpoint/2010/main" val="63762137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矩形 35">
            <a:extLst xmlns:a="http://schemas.openxmlformats.org/drawingml/2006/main">
              <a:ext uri="{FF2B5EF4-FFF2-40B4-BE49-F238E27FC236}">
                <a16:creationId xmlns:a16="http://schemas.microsoft.com/office/drawing/2014/main" id="{A1AFC3AD-FDD6-44CF-A05B-4AA3F376D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677FF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1677FF"/>
                </a:solidFill>
                <a:latin typeface="PingFang SC"/>
                <a:ea typeface="PingFang SC"/>
                <a:cs typeface="PingFang SC"/>
              </a:rPr>
              <a:t>09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F5DF4980-EF9F-44B4-8E8E-93CBD24A3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071B33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071B33"/>
                </a:solidFill>
                <a:latin typeface="PingFang SC"/>
                <a:ea typeface="PingFang SC"/>
                <a:cs typeface="PingFang SC"/>
              </a:rPr>
              <a:t>实车路径一：通过 iOS 接入 GPS，保持导航内核不变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65114D3E-AAEF-43D2-9AA3-B88BA603F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建议把 iPhone 视为定位传感器与上行网关，先解决稳定传输、时间同步与断连恢复。</a:t>
            </a:r>
          </a:p>
        </p:txBody>
      </p:sp>
      <p:sp>
        <p:nvSpPr>
          <p:cNvPr id="4" name="圆角矩形 3">
            <a:extLst xmlns:a="http://schemas.openxmlformats.org/drawingml/2006/main">
              <a:ext uri="{FF2B5EF4-FFF2-40B4-BE49-F238E27FC236}">
                <a16:creationId xmlns:a16="http://schemas.microsoft.com/office/drawing/2014/main" id="{E7DB2A67-4FF8-49E6-A973-180BE6165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24765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EEF6FF"/>
          </a:solidFill>
          <a:ln xmlns:a="http://schemas.openxmlformats.org/drawingml/2006/main" w="9525">
            <a:solidFill>
              <a:srgbClr val="DCE5F0"/>
            </a:solidFill>
            <a:prstDash val="solid"/>
          </a:ln>
        </p:spPr>
      </p:sp>
      <p:sp>
        <p:nvSpPr>
          <p:cNvPr id="5" name="圆角矩形 4">
            <a:extLst xmlns:a="http://schemas.openxmlformats.org/drawingml/2006/main">
              <a:ext uri="{FF2B5EF4-FFF2-40B4-BE49-F238E27FC236}">
                <a16:creationId xmlns:a16="http://schemas.microsoft.com/office/drawing/2014/main" id="{0D84DFDF-9741-4B66-BA84-AC4F01C5E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57150" cy="7810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1677FF"/>
          </a:solidFill>
          <a:ln xmlns:a="http://schemas.openxmlformats.org/drawingml/2006/main" w="0">
            <a:noFill/>
          </a:ln>
        </p:spPr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47F42243-31C8-4CBF-8289-4B42475CF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24125"/>
            <a:ext cx="21526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490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iPhone / iOS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1B623A69-9AA8-4E7B-8E1E-C4C7CCA46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43200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59" lnSpcReduction="2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Core Location：WGS-84</a:t>
            </a:r>
            <a:endParaRPr sz="4000" b="0">
              <a:solidFill>
                <a:srgbClr val="5B667A"/>
              </a:solidFill>
              <a:latin typeface="PingFang SC"/>
              <a:ea typeface="PingFang SC"/>
              <a:cs typeface="PingFang SC"/>
            </a:endParaRPr>
          </a:p>
          <a:p xmlns:a="http://schemas.openxmlformats.org/drawingml/2006/main">
            <a:pPr algn="l">
              <a:buNone/>
              <a:defRPr sz="1200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位置、航向、速度、精度、时间</a:t>
            </a:r>
            <a:endParaRPr sz="4000" b="0">
              <a:solidFill>
                <a:srgbClr val="5B667A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8" name="圆角矩形 7">
            <a:extLst xmlns:a="http://schemas.openxmlformats.org/drawingml/2006/main">
              <a:ext uri="{FF2B5EF4-FFF2-40B4-BE49-F238E27FC236}">
                <a16:creationId xmlns:a16="http://schemas.microsoft.com/office/drawing/2014/main" id="{6ED99DC2-A3C8-4E05-AFFB-2D7495BA6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381250"/>
            <a:ext cx="26670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5E8"/>
          </a:solidFill>
          <a:ln xmlns:a="http://schemas.openxmlformats.org/drawingml/2006/main" w="9525">
            <a:solidFill>
              <a:srgbClr val="DCE5F0"/>
            </a:solidFill>
            <a:prstDash val="solid"/>
          </a:ln>
        </p:spPr>
      </p:sp>
      <p:sp>
        <p:nvSpPr>
          <p:cNvPr id="9" name="圆角矩形 8">
            <a:extLst xmlns:a="http://schemas.openxmlformats.org/drawingml/2006/main">
              <a:ext uri="{FF2B5EF4-FFF2-40B4-BE49-F238E27FC236}">
                <a16:creationId xmlns:a16="http://schemas.microsoft.com/office/drawing/2014/main" id="{4142C06B-B131-4F0A-9806-F34D4416E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381250"/>
            <a:ext cx="57150" cy="7810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</a:ln>
        </p:spPr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BDC80F61-5DC2-491B-9B0A-9C01DDFC6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524125"/>
            <a:ext cx="2343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490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传输适配层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7BD71D41-ED42-45F8-8802-AD7928BB9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74320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2176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局域网 WebSocket 优先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序列号、鉴权、心跳、重连</a:t>
            </a:r>
          </a:p>
        </p:txBody>
      </p:sp>
      <p:sp>
        <p:nvSpPr>
          <p:cNvPr id="12" name="圆角矩形 11">
            <a:extLst xmlns:a="http://schemas.openxmlformats.org/drawingml/2006/main">
              <a:ext uri="{FF2B5EF4-FFF2-40B4-BE49-F238E27FC236}">
                <a16:creationId xmlns:a16="http://schemas.microsoft.com/office/drawing/2014/main" id="{15ABA194-A981-425A-9425-C52A9610E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381250"/>
            <a:ext cx="28575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EEF9F5"/>
          </a:solidFill>
          <a:ln xmlns:a="http://schemas.openxmlformats.org/drawingml/2006/main" w="9525">
            <a:solidFill>
              <a:srgbClr val="DCE5F0"/>
            </a:solidFill>
            <a:prstDash val="solid"/>
          </a:ln>
        </p:spPr>
      </p:sp>
      <p:sp>
        <p:nvSpPr>
          <p:cNvPr id="13" name="圆角矩形 12">
            <a:extLst xmlns:a="http://schemas.openxmlformats.org/drawingml/2006/main">
              <a:ext uri="{FF2B5EF4-FFF2-40B4-BE49-F238E27FC236}">
                <a16:creationId xmlns:a16="http://schemas.microsoft.com/office/drawing/2014/main" id="{3477B834-72ED-4CA7-91C2-0B4A65399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381250"/>
            <a:ext cx="57150" cy="7810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16A085"/>
          </a:solidFill>
          <a:ln xmlns:a="http://schemas.openxmlformats.org/drawingml/2006/main" w="0">
            <a:noFill/>
          </a:ln>
        </p:spPr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E633D67A-C3C4-498F-8B63-0FCD8AD43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524125"/>
            <a:ext cx="25336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490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导航协调层</a:t>
            </a: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AB199C6F-D81B-4EBC-B243-0A6646548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743200"/>
            <a:ext cx="257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2176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字段校验、时序处理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道路吸附、偏航判断</a:t>
            </a:r>
          </a:p>
        </p:txBody>
      </p:sp>
      <p:sp>
        <p:nvSpPr>
          <p:cNvPr id="16" name="直线连接符 15">
            <a:extLst xmlns:a="http://schemas.openxmlformats.org/drawingml/2006/main">
              <a:ext uri="{FF2B5EF4-FFF2-40B4-BE49-F238E27FC236}">
                <a16:creationId xmlns:a16="http://schemas.microsoft.com/office/drawing/2014/main" id="{35E82C3E-A823-4094-9A5D-4BB67601A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771775"/>
            <a:ext cx="76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677FF"/>
            </a:solidFill>
            <a:prstDash val="solid"/>
          </a:ln>
        </p:spPr>
      </p:sp>
      <p:sp>
        <p:nvSpPr>
          <p:cNvPr id="17" name="直线连接符 16">
            <a:extLst xmlns:a="http://schemas.openxmlformats.org/drawingml/2006/main">
              <a:ext uri="{FF2B5EF4-FFF2-40B4-BE49-F238E27FC236}">
                <a16:creationId xmlns:a16="http://schemas.microsoft.com/office/drawing/2014/main" id="{BD4593E1-2B6F-4483-AC9F-EF7BB212D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771775"/>
            <a:ext cx="876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677FF"/>
            </a:solidFill>
            <a:prstDash val="solid"/>
          </a:ln>
        </p:spPr>
      </p:sp>
      <p:sp>
        <p:nvSpPr>
          <p:cNvPr id="18" name="圆角矩形 17">
            <a:extLst xmlns:a="http://schemas.openxmlformats.org/drawingml/2006/main">
              <a:ext uri="{FF2B5EF4-FFF2-40B4-BE49-F238E27FC236}">
                <a16:creationId xmlns:a16="http://schemas.microsoft.com/office/drawing/2014/main" id="{D9F1046C-10D0-4607-B800-D4CF0BF9A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0"/>
            <a:ext cx="247650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F0"/>
            </a:solidFill>
            <a:prstDash val="solid"/>
          </a:ln>
        </p:spPr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99627C21-A81D-4E95-B2B0-4861FDB5A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48175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4167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677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677FF"/>
                </a:solidFill>
                <a:latin typeface="PingFang SC"/>
                <a:ea typeface="PingFang SC"/>
                <a:cs typeface="PingFang SC"/>
              </a:rPr>
              <a:t>1</a:t>
            </a: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9B2BC7DF-937F-4817-9E90-C66F6BC98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4419600"/>
            <a:ext cx="1752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2500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定义稳定定位协议</a:t>
            </a: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4BE77544-7BE2-45B6-825E-11AD48E22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62500"/>
            <a:ext cx="2143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7654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lat / lon / heading / speed_mps / accuracy_m / timestamp</a:t>
            </a:r>
          </a:p>
        </p:txBody>
      </p:sp>
      <p:sp>
        <p:nvSpPr>
          <p:cNvPr id="22" name="圆角矩形 21">
            <a:extLst xmlns:a="http://schemas.openxmlformats.org/drawingml/2006/main">
              <a:ext uri="{FF2B5EF4-FFF2-40B4-BE49-F238E27FC236}">
                <a16:creationId xmlns:a16="http://schemas.microsoft.com/office/drawing/2014/main" id="{5B6E8488-8684-4E86-AC63-D18DDCD88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286250"/>
            <a:ext cx="247650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F0"/>
            </a:solidFill>
            <a:prstDash val="solid"/>
          </a:ln>
        </p:spPr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DFAC755A-46CF-43B9-8F77-79B0D36BB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448175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4167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677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677FF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F348799D-D486-4E5B-AF98-288AEA035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4775" y="4419600"/>
            <a:ext cx="1752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2500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端到端回放对照</a:t>
            </a:r>
          </a:p>
        </p:txBody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67977734-7925-438D-9242-89F437C7D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762500"/>
            <a:ext cx="2143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763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同一轨迹输入应产生同一状态序列</a:t>
            </a:r>
          </a:p>
        </p:txBody>
      </p:sp>
      <p:sp>
        <p:nvSpPr>
          <p:cNvPr id="26" name="圆角矩形 25">
            <a:extLst xmlns:a="http://schemas.openxmlformats.org/drawingml/2006/main">
              <a:ext uri="{FF2B5EF4-FFF2-40B4-BE49-F238E27FC236}">
                <a16:creationId xmlns:a16="http://schemas.microsoft.com/office/drawing/2014/main" id="{A0B45568-DB63-4852-99F9-2525C270D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286250"/>
            <a:ext cx="247650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F0"/>
            </a:solidFill>
            <a:prstDash val="solid"/>
          </a:ln>
        </p:spPr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9E2A83DD-75CC-4424-9C86-AC551FB01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448175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4167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677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677FF"/>
                </a:solidFill>
                <a:latin typeface="PingFang SC"/>
                <a:ea typeface="PingFang SC"/>
                <a:cs typeface="PingFang SC"/>
              </a:rPr>
              <a:t>3</a:t>
            </a:r>
          </a:p>
        </p:txBody>
      </p:sp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E4F31568-60D9-4223-8F2A-81CCE5A79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4419600"/>
            <a:ext cx="1752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2500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道路匹配上线</a:t>
            </a:r>
          </a:p>
        </p:txBody>
      </p:sp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78DEA874-094F-4211-B16A-F2092C7DD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762500"/>
            <a:ext cx="2143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7654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前端只显示匹配后位置，保留原始点供诊断</a:t>
            </a:r>
          </a:p>
        </p:txBody>
      </p:sp>
      <p:sp>
        <p:nvSpPr>
          <p:cNvPr id="30" name="圆角矩形 29">
            <a:extLst xmlns:a="http://schemas.openxmlformats.org/drawingml/2006/main">
              <a:ext uri="{FF2B5EF4-FFF2-40B4-BE49-F238E27FC236}">
                <a16:creationId xmlns:a16="http://schemas.microsoft.com/office/drawing/2014/main" id="{BCB5B8F9-84C7-4F75-B79C-E2B1CE7AA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286250"/>
            <a:ext cx="247650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F0"/>
            </a:solidFill>
            <a:prstDash val="solid"/>
          </a:ln>
        </p:spPr>
      </p:sp>
      <p:sp>
        <p:nvSpPr>
          <p:cNvPr id="31" name="矩形 30">
            <a:extLst xmlns:a="http://schemas.openxmlformats.org/drawingml/2006/main">
              <a:ext uri="{FF2B5EF4-FFF2-40B4-BE49-F238E27FC236}">
                <a16:creationId xmlns:a16="http://schemas.microsoft.com/office/drawing/2014/main" id="{90897576-EF1C-4FD8-B5E2-4606D9386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4448175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4167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677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677FF"/>
                </a:solidFill>
                <a:latin typeface="PingFang SC"/>
                <a:ea typeface="PingFang SC"/>
                <a:cs typeface="PingFang SC"/>
              </a:rPr>
              <a:t>4</a:t>
            </a:r>
          </a:p>
        </p:txBody>
      </p:sp>
      <p:sp>
        <p:nvSpPr>
          <p:cNvPr id="32" name="矩形 31">
            <a:extLst xmlns:a="http://schemas.openxmlformats.org/drawingml/2006/main">
              <a:ext uri="{FF2B5EF4-FFF2-40B4-BE49-F238E27FC236}">
                <a16:creationId xmlns:a16="http://schemas.microsoft.com/office/drawing/2014/main" id="{F2A34A59-6A01-4FDB-96F7-718AC2A6F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4419600"/>
            <a:ext cx="1752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2500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车端异常处理</a:t>
            </a:r>
          </a:p>
        </p:txBody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87D03612-448A-4616-BF96-A1E4ACBAC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4762500"/>
            <a:ext cx="2143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7654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弱网、漂移、断连、低精度与重新获得定位</a:t>
            </a:r>
          </a:p>
        </p:txBody>
      </p:sp>
      <p:sp>
        <p:nvSpPr>
          <p:cNvPr id="34" name="矩形 33">
            <a:extLst xmlns:a="http://schemas.openxmlformats.org/drawingml/2006/main">
              <a:ext uri="{FF2B5EF4-FFF2-40B4-BE49-F238E27FC236}">
                <a16:creationId xmlns:a16="http://schemas.microsoft.com/office/drawing/2014/main" id="{5B2F8B09-C066-4723-A789-C086727EC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0"/>
            <a:ext cx="1082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071B33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071B33"/>
                </a:solidFill>
                <a:latin typeface="PingFang SC"/>
                <a:ea typeface="PingFang SC"/>
                <a:cs typeface="PingFang SC"/>
              </a:rPr>
              <a:t>接口原则：iOS 仅替换“定位来源”适配器，不直接驱动地图，不将原始 GPS 写回 OSM。</a:t>
            </a:r>
          </a:p>
        </p:txBody>
      </p:sp>
      <p:sp>
        <p:nvSpPr>
          <p:cNvPr id="35" name="矩形 34">
            <a:extLst xmlns:a="http://schemas.openxmlformats.org/drawingml/2006/main">
              <a:ext uri="{FF2B5EF4-FFF2-40B4-BE49-F238E27FC236}">
                <a16:creationId xmlns:a16="http://schemas.microsoft.com/office/drawing/2014/main" id="{0895ADDC-B8CF-43C0-9156-719C75B20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7500" lnSpcReduction="1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8390A3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8390A3"/>
                </a:solidFill>
                <a:latin typeface="PingFang SC"/>
                <a:ea typeface="PingFang SC"/>
                <a:cs typeface="PingFang SC"/>
              </a:rPr>
              <a:t>离线导航系统 MVP 汇报  ·  2026.09  ·  09</a:t>
            </a:r>
          </a:p>
        </p:txBody>
      </p:sp>
    </p:spTree>
    <p:extLst>
      <p:ext uri="{BB962C8B-B14F-4D97-AF65-F5344CB8AC3E}">
        <p14:creationId xmlns:p14="http://schemas.microsoft.com/office/powerpoint/2010/main" val="194122130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5A54B18C-72DE-4004-B0E9-C3ECD6058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677FF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1677FF"/>
                </a:solidFill>
                <a:latin typeface="PingFang SC"/>
                <a:ea typeface="PingFang SC"/>
                <a:cs typeface="PingFang SC"/>
              </a:rPr>
              <a:t>10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75E01D2B-0D43-4233-ACFD-1FBFF793B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071B33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071B33"/>
                </a:solidFill>
                <a:latin typeface="PingFang SC"/>
                <a:ea typeface="PingFang SC"/>
                <a:cs typeface="PingFang SC"/>
              </a:rPr>
              <a:t>实车路径二：视觉模型作为“确认与感知”能力接入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8B60D002-B9AE-4449-84AE-1BE8F261D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视觉不替代地图路由；它为接近目的地、道路事件或 HUD 提示提供附加证据。</a:t>
            </a:r>
          </a:p>
        </p:txBody>
      </p:sp>
      <p:sp>
        <p:nvSpPr>
          <p:cNvPr id="4" name="圆角矩形 3">
            <a:extLst xmlns:a="http://schemas.openxmlformats.org/drawingml/2006/main">
              <a:ext uri="{FF2B5EF4-FFF2-40B4-BE49-F238E27FC236}">
                <a16:creationId xmlns:a16="http://schemas.microsoft.com/office/drawing/2014/main" id="{1FA37C4E-AD44-433B-8CC6-91F87B885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21907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CE5F0"/>
            </a:solidFill>
            <a:prstDash val="solid"/>
          </a:ln>
        </p:spPr>
      </p:sp>
      <p:sp>
        <p:nvSpPr>
          <p:cNvPr id="5" name="圆角矩形 4">
            <a:extLst xmlns:a="http://schemas.openxmlformats.org/drawingml/2006/main">
              <a:ext uri="{FF2B5EF4-FFF2-40B4-BE49-F238E27FC236}">
                <a16:creationId xmlns:a16="http://schemas.microsoft.com/office/drawing/2014/main" id="{91911CC6-6F72-4F23-9D3D-B51B21229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57150" cy="7810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85D75"/>
          </a:solidFill>
          <a:ln xmlns:a="http://schemas.openxmlformats.org/drawingml/2006/main" w="0">
            <a:noFill/>
          </a:ln>
        </p:spPr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81D285A8-C76B-4606-B52B-BFE103325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33625"/>
            <a:ext cx="1866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490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相机输入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62D2CECC-0D39-44FC-8446-A5C622A20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52700"/>
            <a:ext cx="190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2176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车载或手机相机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帧时间戳与设备标识</a:t>
            </a:r>
          </a:p>
        </p:txBody>
      </p:sp>
      <p:sp>
        <p:nvSpPr>
          <p:cNvPr id="8" name="圆角矩形 7">
            <a:extLst xmlns:a="http://schemas.openxmlformats.org/drawingml/2006/main">
              <a:ext uri="{FF2B5EF4-FFF2-40B4-BE49-F238E27FC236}">
                <a16:creationId xmlns:a16="http://schemas.microsoft.com/office/drawing/2014/main" id="{EC85F29C-C9C0-4B70-9514-3D99893AA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190750"/>
            <a:ext cx="23812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5E8"/>
          </a:solidFill>
          <a:ln xmlns:a="http://schemas.openxmlformats.org/drawingml/2006/main" w="9525">
            <a:solidFill>
              <a:srgbClr val="DCE5F0"/>
            </a:solidFill>
            <a:prstDash val="solid"/>
          </a:ln>
        </p:spPr>
      </p:sp>
      <p:sp>
        <p:nvSpPr>
          <p:cNvPr id="9" name="圆角矩形 8">
            <a:extLst xmlns:a="http://schemas.openxmlformats.org/drawingml/2006/main">
              <a:ext uri="{FF2B5EF4-FFF2-40B4-BE49-F238E27FC236}">
                <a16:creationId xmlns:a16="http://schemas.microsoft.com/office/drawing/2014/main" id="{AA89583B-20DD-4577-8306-9A136E041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190750"/>
            <a:ext cx="57150" cy="7810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</a:ln>
        </p:spPr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FBC7189E-61D0-48B7-B4CD-C9C4969F9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333625"/>
            <a:ext cx="2057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490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视觉推理服务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9E40F8BA-C34D-414D-9F1C-EDA37C621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55270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2176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检测 / 识别 / 置信度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可本地部署</a:t>
            </a:r>
          </a:p>
        </p:txBody>
      </p:sp>
      <p:sp>
        <p:nvSpPr>
          <p:cNvPr id="12" name="圆角矩形 11">
            <a:extLst xmlns:a="http://schemas.openxmlformats.org/drawingml/2006/main">
              <a:ext uri="{FF2B5EF4-FFF2-40B4-BE49-F238E27FC236}">
                <a16:creationId xmlns:a16="http://schemas.microsoft.com/office/drawing/2014/main" id="{643CB928-899A-407F-9D2B-901B41A82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190750"/>
            <a:ext cx="23812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EEF6FF"/>
          </a:solidFill>
          <a:ln xmlns:a="http://schemas.openxmlformats.org/drawingml/2006/main" w="9525">
            <a:solidFill>
              <a:srgbClr val="DCE5F0"/>
            </a:solidFill>
            <a:prstDash val="solid"/>
          </a:ln>
        </p:spPr>
      </p:sp>
      <p:sp>
        <p:nvSpPr>
          <p:cNvPr id="13" name="圆角矩形 12">
            <a:extLst xmlns:a="http://schemas.openxmlformats.org/drawingml/2006/main">
              <a:ext uri="{FF2B5EF4-FFF2-40B4-BE49-F238E27FC236}">
                <a16:creationId xmlns:a16="http://schemas.microsoft.com/office/drawing/2014/main" id="{56818889-3E2C-40D8-8B07-39DADB20E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190750"/>
            <a:ext cx="57150" cy="7810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1677FF"/>
          </a:solidFill>
          <a:ln xmlns:a="http://schemas.openxmlformats.org/drawingml/2006/main" w="0">
            <a:noFill/>
          </a:ln>
        </p:spPr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A0CAF43B-1525-4F2A-958C-DA90C10B8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333625"/>
            <a:ext cx="2057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490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事件适配层</a:t>
            </a: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2D973506-C3E2-4A28-8ECA-FD98A6575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55270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2176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时空对齐、去抖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限定输出事件模型</a:t>
            </a:r>
          </a:p>
        </p:txBody>
      </p:sp>
      <p:sp>
        <p:nvSpPr>
          <p:cNvPr id="16" name="圆角矩形 15">
            <a:extLst xmlns:a="http://schemas.openxmlformats.org/drawingml/2006/main">
              <a:ext uri="{FF2B5EF4-FFF2-40B4-BE49-F238E27FC236}">
                <a16:creationId xmlns:a16="http://schemas.microsoft.com/office/drawing/2014/main" id="{8FE910C3-89C7-4A56-AB35-FA42B499A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2190750"/>
            <a:ext cx="14859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EEF9F5"/>
          </a:solidFill>
          <a:ln xmlns:a="http://schemas.openxmlformats.org/drawingml/2006/main" w="9525">
            <a:solidFill>
              <a:srgbClr val="DCE5F0"/>
            </a:solidFill>
            <a:prstDash val="solid"/>
          </a:ln>
        </p:spPr>
      </p:sp>
      <p:sp>
        <p:nvSpPr>
          <p:cNvPr id="17" name="圆角矩形 16">
            <a:extLst xmlns:a="http://schemas.openxmlformats.org/drawingml/2006/main">
              <a:ext uri="{FF2B5EF4-FFF2-40B4-BE49-F238E27FC236}">
                <a16:creationId xmlns:a16="http://schemas.microsoft.com/office/drawing/2014/main" id="{9891BF12-E576-4F75-8320-93ECED6B3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2190750"/>
            <a:ext cx="57150" cy="7810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16A085"/>
          </a:solidFill>
          <a:ln xmlns:a="http://schemas.openxmlformats.org/drawingml/2006/main" w="0">
            <a:noFill/>
          </a:ln>
        </p:spPr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C27D5539-E590-4CD4-B81C-4B63D4F51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333625"/>
            <a:ext cx="1162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490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导航体验层</a:t>
            </a: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2A8F5AB0-7C27-42A7-B39E-6626B5876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552700"/>
            <a:ext cx="1200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7817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到达确认、提示增强</a:t>
            </a:r>
          </a:p>
          <a:p xmlns:a="http://schemas.openxmlformats.org/drawingml/2006/main">
            <a:pPr algn="l">
              <a:buNone/>
              <a:defRPr sz="1125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不直接改写路由</a:t>
            </a:r>
          </a:p>
        </p:txBody>
      </p:sp>
      <p:sp>
        <p:nvSpPr>
          <p:cNvPr id="20" name="直线连接符 19">
            <a:extLst xmlns:a="http://schemas.openxmlformats.org/drawingml/2006/main">
              <a:ext uri="{FF2B5EF4-FFF2-40B4-BE49-F238E27FC236}">
                <a16:creationId xmlns:a16="http://schemas.microsoft.com/office/drawing/2014/main" id="{63F02C01-EE90-4ADD-891B-E837F05D1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581275"/>
            <a:ext cx="495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85D75"/>
            </a:solidFill>
            <a:prstDash val="solid"/>
          </a:ln>
        </p:spPr>
      </p:sp>
      <p:sp>
        <p:nvSpPr>
          <p:cNvPr id="21" name="直线连接符 20">
            <a:extLst xmlns:a="http://schemas.openxmlformats.org/drawingml/2006/main">
              <a:ext uri="{FF2B5EF4-FFF2-40B4-BE49-F238E27FC236}">
                <a16:creationId xmlns:a16="http://schemas.microsoft.com/office/drawing/2014/main" id="{5E605B5C-6DC7-4A52-BE8D-658F04FBB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581275"/>
            <a:ext cx="1181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59E0B"/>
            </a:solidFill>
            <a:prstDash val="solid"/>
          </a:ln>
        </p:spPr>
      </p:sp>
      <p:sp>
        <p:nvSpPr>
          <p:cNvPr id="22" name="直线连接符 21">
            <a:extLst xmlns:a="http://schemas.openxmlformats.org/drawingml/2006/main">
              <a:ext uri="{FF2B5EF4-FFF2-40B4-BE49-F238E27FC236}">
                <a16:creationId xmlns:a16="http://schemas.microsoft.com/office/drawing/2014/main" id="{D72B6C48-ABD6-42BF-8F1E-92FE86707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581275"/>
            <a:ext cx="476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677FF"/>
            </a:solidFill>
            <a:prstDash val="solid"/>
          </a:ln>
        </p:spPr>
      </p:sp>
      <p:sp>
        <p:nvSpPr>
          <p:cNvPr id="23" name="圆角矩形 22">
            <a:extLst xmlns:a="http://schemas.openxmlformats.org/drawingml/2006/main">
              <a:ext uri="{FF2B5EF4-FFF2-40B4-BE49-F238E27FC236}">
                <a16:creationId xmlns:a16="http://schemas.microsoft.com/office/drawing/2014/main" id="{9F9A8827-838F-4FEE-A6C3-18D560F13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10820400" cy="1381125"/>
          </a:xfrm>
          <a:prstGeom xmlns:a="http://schemas.openxmlformats.org/drawingml/2006/main" prst="roundRect">
            <a:avLst>
              <a:gd name="adj" fmla="val 11034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0">
            <a:noFill/>
          </a:ln>
        </p:spPr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9B6125D1-D51F-47E5-B585-2358AD1FC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286250"/>
            <a:ext cx="1809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500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71B33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071B33"/>
                </a:solidFill>
                <a:latin typeface="PingFang SC"/>
                <a:ea typeface="PingFang SC"/>
                <a:cs typeface="PingFang SC"/>
              </a:rPr>
              <a:t>优先落地场景</a:t>
            </a:r>
          </a:p>
        </p:txBody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0F3174F6-7D0F-474C-934E-70D460BFD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4229100"/>
            <a:ext cx="695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接近终点时识别商铺招牌 / 入口，作为“到达确认”的辅助信号。</a:t>
            </a:r>
          </a:p>
        </p:txBody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FA6BB007-4E9B-4D36-8FED-20E51D8A3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4714875"/>
            <a:ext cx="714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9523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约束：只输出结构化感知事件与置信度；导航会话决定是否展示或触发业务动作；保留人工验证与失败降级。</a:t>
            </a:r>
          </a:p>
        </p:txBody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A02A2F9E-A3ED-47F7-B5C6-279B1E5B0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7500" lnSpcReduction="1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8390A3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8390A3"/>
                </a:solidFill>
                <a:latin typeface="PingFang SC"/>
                <a:ea typeface="PingFang SC"/>
                <a:cs typeface="PingFang SC"/>
              </a:rPr>
              <a:t>离线导航系统 MVP 汇报  ·  2026.09  ·  10</a:t>
            </a:r>
          </a:p>
        </p:txBody>
      </p:sp>
    </p:spTree>
    <p:extLst>
      <p:ext uri="{BB962C8B-B14F-4D97-AF65-F5344CB8AC3E}">
        <p14:creationId xmlns:p14="http://schemas.microsoft.com/office/powerpoint/2010/main" val="130727480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3BB0F40F-257C-4B24-817A-E9241A2AE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677FF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1677FF"/>
                </a:solidFill>
                <a:latin typeface="PingFang SC"/>
                <a:ea typeface="PingFang SC"/>
                <a:cs typeface="PingFang SC"/>
              </a:rPr>
              <a:t>11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1F12D79C-B2DB-477D-B627-BAB3A4F31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071B33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071B33"/>
                </a:solidFill>
                <a:latin typeface="PingFang SC"/>
                <a:ea typeface="PingFang SC"/>
                <a:cs typeface="PingFang SC"/>
              </a:rPr>
              <a:t>下一阶段计划：从可演示闭环走向可路测闭环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9BB982EF-1CED-4146-90AD-ECE3C082C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每一步都以可重复输入、可观测状态和明确验收为前提。</a:t>
            </a:r>
          </a:p>
        </p:txBody>
      </p:sp>
      <p:sp>
        <p:nvSpPr>
          <p:cNvPr id="4" name="圆角矩形 3">
            <a:extLst xmlns:a="http://schemas.openxmlformats.org/drawingml/2006/main">
              <a:ext uri="{FF2B5EF4-FFF2-40B4-BE49-F238E27FC236}">
                <a16:creationId xmlns:a16="http://schemas.microsoft.com/office/drawing/2014/main" id="{22C5B3BE-4B37-446B-A197-A7546683D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108204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F0"/>
            </a:solidFill>
            <a:prstDash val="solid"/>
          </a:ln>
        </p:spPr>
      </p:sp>
      <p:sp>
        <p:nvSpPr>
          <p:cNvPr id="5" name="圆角矩形 4">
            <a:extLst xmlns:a="http://schemas.openxmlformats.org/drawingml/2006/main">
              <a:ext uri="{FF2B5EF4-FFF2-40B4-BE49-F238E27FC236}">
                <a16:creationId xmlns:a16="http://schemas.microsoft.com/office/drawing/2014/main" id="{E3981690-DA3D-4CFE-B528-DEB500C9F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95250" cy="666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77FF"/>
          </a:solidFill>
          <a:ln xmlns:a="http://schemas.openxmlformats.org/drawingml/2006/main" w="0">
            <a:noFill/>
          </a:ln>
        </p:spPr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77162215-4FA1-4CC0-829D-02EFC296B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5265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8889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677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677FF"/>
                </a:solidFill>
                <a:latin typeface="PingFang SC"/>
                <a:ea typeface="PingFang SC"/>
                <a:cs typeface="PingFang SC"/>
              </a:rPr>
              <a:t>近期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4E428DEF-A8CD-4C56-B68B-E57FD0A1B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105025"/>
            <a:ext cx="295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3426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71B33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71B33"/>
                </a:solidFill>
                <a:latin typeface="PingFang SC"/>
                <a:ea typeface="PingFang SC"/>
                <a:cs typeface="PingFang SC"/>
              </a:rPr>
              <a:t>iOS 定位协议与回放工具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3428107E-FFA7-4B47-96F2-356514895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2095500"/>
            <a:ext cx="552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把手机定位数据导入现有模拟器；验证时间戳、精度与断连行为</a:t>
            </a:r>
          </a:p>
        </p:txBody>
      </p:sp>
      <p:sp>
        <p:nvSpPr>
          <p:cNvPr id="9" name="圆角矩形 8">
            <a:extLst xmlns:a="http://schemas.openxmlformats.org/drawingml/2006/main">
              <a:ext uri="{FF2B5EF4-FFF2-40B4-BE49-F238E27FC236}">
                <a16:creationId xmlns:a16="http://schemas.microsoft.com/office/drawing/2014/main" id="{FAB8291D-CCDA-4A36-B12D-6420F9915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28925"/>
            <a:ext cx="108204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F0"/>
            </a:solidFill>
            <a:prstDash val="solid"/>
          </a:ln>
        </p:spPr>
      </p:sp>
      <p:sp>
        <p:nvSpPr>
          <p:cNvPr id="10" name="圆角矩形 9">
            <a:extLst xmlns:a="http://schemas.openxmlformats.org/drawingml/2006/main">
              <a:ext uri="{FF2B5EF4-FFF2-40B4-BE49-F238E27FC236}">
                <a16:creationId xmlns:a16="http://schemas.microsoft.com/office/drawing/2014/main" id="{29E5ACF0-8958-4040-891B-E1316883F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28925"/>
            <a:ext cx="95250" cy="666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A085"/>
          </a:solidFill>
          <a:ln xmlns:a="http://schemas.openxmlformats.org/drawingml/2006/main" w="0">
            <a:noFill/>
          </a:ln>
        </p:spPr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AB4D85AB-4170-4B24-8B65-A96F855FD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02895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8889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6A085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6A085"/>
                </a:solidFill>
                <a:latin typeface="PingFang SC"/>
                <a:ea typeface="PingFang SC"/>
                <a:cs typeface="PingFang SC"/>
              </a:rPr>
              <a:t>中期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B728FA8C-4072-43F1-9983-B5527B7E3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981325"/>
            <a:ext cx="295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3426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71B33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71B33"/>
                </a:solidFill>
                <a:latin typeface="PingFang SC"/>
                <a:ea typeface="PingFang SC"/>
                <a:cs typeface="PingFang SC"/>
              </a:rPr>
              <a:t>实车定位适配与路测</a:t>
            </a: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6BC73DEF-4829-490C-BC59-D356A53EC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2971800"/>
            <a:ext cx="552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道路匹配、偏航阈值、状态推送的实车数据验证</a:t>
            </a:r>
          </a:p>
        </p:txBody>
      </p:sp>
      <p:sp>
        <p:nvSpPr>
          <p:cNvPr id="14" name="圆角矩形 13">
            <a:extLst xmlns:a="http://schemas.openxmlformats.org/drawingml/2006/main">
              <a:ext uri="{FF2B5EF4-FFF2-40B4-BE49-F238E27FC236}">
                <a16:creationId xmlns:a16="http://schemas.microsoft.com/office/drawing/2014/main" id="{98D70556-B595-4696-8DC3-E65110C0E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05225"/>
            <a:ext cx="108204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F0"/>
            </a:solidFill>
            <a:prstDash val="solid"/>
          </a:ln>
        </p:spPr>
      </p:sp>
      <p:sp>
        <p:nvSpPr>
          <p:cNvPr id="15" name="圆角矩形 14">
            <a:extLst xmlns:a="http://schemas.openxmlformats.org/drawingml/2006/main">
              <a:ext uri="{FF2B5EF4-FFF2-40B4-BE49-F238E27FC236}">
                <a16:creationId xmlns:a16="http://schemas.microsoft.com/office/drawing/2014/main" id="{0E44C53F-139B-4E5F-8E80-50E219DA8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05225"/>
            <a:ext cx="95250" cy="666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</a:ln>
        </p:spPr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B5D75CA3-A49C-4FF3-8227-447A0ED4E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90525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8889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F59E0B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F59E0B"/>
                </a:solidFill>
                <a:latin typeface="PingFang SC"/>
                <a:ea typeface="PingFang SC"/>
                <a:cs typeface="PingFang SC"/>
              </a:rPr>
              <a:t>后续</a:t>
            </a: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EC8A1321-5ABB-4AB1-B5E0-62882B70E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857625"/>
            <a:ext cx="295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3426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71B33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71B33"/>
                </a:solidFill>
                <a:latin typeface="PingFang SC"/>
                <a:ea typeface="PingFang SC"/>
                <a:cs typeface="PingFang SC"/>
              </a:rPr>
              <a:t>本地视觉事件服务</a:t>
            </a: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0F6426E6-9B84-43E0-9E73-495ACE1CF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3848100"/>
            <a:ext cx="552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先做终点确认，再扩展到道路感知提示</a:t>
            </a:r>
          </a:p>
        </p:txBody>
      </p:sp>
      <p:sp>
        <p:nvSpPr>
          <p:cNvPr id="19" name="圆角矩形 18">
            <a:extLst xmlns:a="http://schemas.openxmlformats.org/drawingml/2006/main">
              <a:ext uri="{FF2B5EF4-FFF2-40B4-BE49-F238E27FC236}">
                <a16:creationId xmlns:a16="http://schemas.microsoft.com/office/drawing/2014/main" id="{B62CFC9A-8205-457A-AFAD-9E9A214D9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81525"/>
            <a:ext cx="108204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F0"/>
            </a:solidFill>
            <a:prstDash val="solid"/>
          </a:ln>
        </p:spPr>
      </p:sp>
      <p:sp>
        <p:nvSpPr>
          <p:cNvPr id="20" name="圆角矩形 19">
            <a:extLst xmlns:a="http://schemas.openxmlformats.org/drawingml/2006/main">
              <a:ext uri="{FF2B5EF4-FFF2-40B4-BE49-F238E27FC236}">
                <a16:creationId xmlns:a16="http://schemas.microsoft.com/office/drawing/2014/main" id="{80D7DAE4-4B3B-47A4-9AA2-11C57B0E7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81525"/>
            <a:ext cx="95250" cy="666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5D75"/>
          </a:solidFill>
          <a:ln xmlns:a="http://schemas.openxmlformats.org/drawingml/2006/main" w="0">
            <a:noFill/>
          </a:ln>
        </p:spPr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8B1E226E-161F-4599-B0A8-66C8361A9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78155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8889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E85D75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E85D75"/>
                </a:solidFill>
                <a:latin typeface="PingFang SC"/>
                <a:ea typeface="PingFang SC"/>
                <a:cs typeface="PingFang SC"/>
              </a:rPr>
              <a:t>规模化</a:t>
            </a: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CC1ED5EB-5F7B-4B63-9A46-BE86BCFCF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733925"/>
            <a:ext cx="295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3426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71B33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71B33"/>
                </a:solidFill>
                <a:latin typeface="PingFang SC"/>
                <a:ea typeface="PingFang SC"/>
                <a:cs typeface="PingFang SC"/>
              </a:rPr>
              <a:t>MBTiles 与车端显示集成</a:t>
            </a:r>
          </a:p>
        </p:txBody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791DCC33-A72C-43CF-92C9-FF7AE4622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4724400"/>
            <a:ext cx="552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扩大离线地图范围，接入 HUD / 车机显示终端</a:t>
            </a:r>
          </a:p>
        </p:txBody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4BE464DE-375A-44EA-A061-99AF9F9FC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62625"/>
            <a:ext cx="10820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071B33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071B33"/>
                </a:solidFill>
                <a:latin typeface="PingFang SC"/>
                <a:ea typeface="PingFang SC"/>
                <a:cs typeface="PingFang SC"/>
              </a:rPr>
              <a:t>需要持续守住的约束：离线优先、WGS-84 一致、适配层隔离外部服务、真实数据最小化且合规使用。</a:t>
            </a:r>
          </a:p>
        </p:txBody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310D7250-B7C9-4DE7-A135-A9B372705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7500" lnSpcReduction="1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8390A3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8390A3"/>
                </a:solidFill>
                <a:latin typeface="PingFang SC"/>
                <a:ea typeface="PingFang SC"/>
                <a:cs typeface="PingFang SC"/>
              </a:rPr>
              <a:t>离线导航系统 MVP 汇报  ·  2026.09  ·  11</a:t>
            </a:r>
          </a:p>
        </p:txBody>
      </p:sp>
    </p:spTree>
    <p:extLst>
      <p:ext uri="{BB962C8B-B14F-4D97-AF65-F5344CB8AC3E}">
        <p14:creationId xmlns:p14="http://schemas.microsoft.com/office/powerpoint/2010/main" val="124352099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71B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圆角矩形 6">
            <a:extLst xmlns:a="http://schemas.openxmlformats.org/drawingml/2006/main">
              <a:ext uri="{FF2B5EF4-FFF2-40B4-BE49-F238E27FC236}">
                <a16:creationId xmlns:a16="http://schemas.microsoft.com/office/drawing/2014/main" id="{D6BA866C-5542-4FD2-97E0-4802D171D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104775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2C5FF"/>
          </a:solidFill>
          <a:ln xmlns:a="http://schemas.openxmlformats.org/drawingml/2006/main" w="0">
            <a:noFill/>
          </a:ln>
        </p:spPr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98130EF2-016B-4D38-9BD7-762021F5B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9334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当前 MVP 已验证：离线路由、离线地图、</a:t>
            </a:r>
          </a:p>
          <a:p xmlns:a="http://schemas.openxmlformats.org/drawingml/2006/main">
            <a:pPr algn="l">
              <a:buNone/>
              <a:defRPr sz="25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模拟定位与偏航重算。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52DBAFBF-2ECA-4B17-B8C1-DDA7D9B7D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43300"/>
            <a:ext cx="7810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C9D8EA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C9D8EA"/>
                </a:solidFill>
                <a:latin typeface="PingFang SC"/>
                <a:ea typeface="PingFang SC"/>
                <a:cs typeface="PingFang SC"/>
              </a:rPr>
              <a:t>下一步的核心不是扩展功能清单，而是把真实传感器接入现有的、可观测且可替换的导航内核。</a:t>
            </a:r>
          </a:p>
        </p:txBody>
      </p:sp>
      <p:sp>
        <p:nvSpPr>
          <p:cNvPr id="4" name="圆角矩形 3">
            <a:extLst xmlns:a="http://schemas.openxmlformats.org/drawingml/2006/main">
              <a:ext uri="{FF2B5EF4-FFF2-40B4-BE49-F238E27FC236}">
                <a16:creationId xmlns:a16="http://schemas.microsoft.com/office/drawing/2014/main" id="{6E6F81F8-3B7A-447F-854F-363FC239D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05375"/>
            <a:ext cx="8096250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15272"/>
          </a:solidFill>
          <a:ln xmlns:a="http://schemas.openxmlformats.org/drawingml/2006/main" w="0">
            <a:noFill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B86E82CC-A4A1-4C97-9E6E-DA180478E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34000"/>
            <a:ext cx="190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851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32C5FF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32C5FF"/>
                </a:solidFill>
                <a:latin typeface="PingFang SC"/>
                <a:ea typeface="PingFang SC"/>
                <a:cs typeface="PingFang SC"/>
              </a:rPr>
              <a:t>Q &amp; A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8DB6BB2E-A9D4-495D-9EA2-DEE9747BC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48350"/>
            <a:ext cx="428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556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B4C7DC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B4C7DC"/>
                </a:solidFill>
                <a:latin typeface="PingFang SC"/>
                <a:ea typeface="PingFang SC"/>
                <a:cs typeface="PingFang SC"/>
              </a:rPr>
              <a:t>架构、数据链路与实车演进</a:t>
            </a:r>
          </a:p>
        </p:txBody>
      </p:sp>
    </p:spTree>
    <p:extLst>
      <p:ext uri="{BB962C8B-B14F-4D97-AF65-F5344CB8AC3E}">
        <p14:creationId xmlns:p14="http://schemas.microsoft.com/office/powerpoint/2010/main" val="157956190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2026-09-28T15:42:09.4950000Z</dcterms:created>
  <dcterms:modified xsi:type="dcterms:W3CDTF">2026-09-28T15:42:09.4950000Z</dcterms:modified>
</coreProperties>
</file>