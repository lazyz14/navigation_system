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d22877a88340b8" /><Relationship Type="http://schemas.openxmlformats.org/officeDocument/2006/relationships/extended-properties" Target="/docProps/app.xml" Id="R41bfd4e5b8634638" /><Relationship Type="http://schemas.openxmlformats.org/officeDocument/2006/relationships/officeDocument" Target="/ppt/presentation.xml" Id="R74270432457341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8a460ac53742a9"/>
  </p:sldMasterIdLst>
  <p:notesMasterIdLst>
    <p:notesMasterId xmlns:r="http://schemas.openxmlformats.org/officeDocument/2006/relationships" r:id="Ra78c9f8265324aba"/>
  </p:notesMasterIdLst>
  <p:sldIdLst>
    <p:sldId xmlns:r="http://schemas.openxmlformats.org/officeDocument/2006/relationships" id="256" r:id="R7cafc49f08404506"/>
    <p:sldId xmlns:r="http://schemas.openxmlformats.org/officeDocument/2006/relationships" id="257" r:id="R678297e51e0f4423"/>
    <p:sldId xmlns:r="http://schemas.openxmlformats.org/officeDocument/2006/relationships" id="258" r:id="R7a8a31be59274d85"/>
    <p:sldId xmlns:r="http://schemas.openxmlformats.org/officeDocument/2006/relationships" id="259" r:id="R055e10daca704367"/>
    <p:sldId xmlns:r="http://schemas.openxmlformats.org/officeDocument/2006/relationships" id="260" r:id="Ra6ae54b852f34c5e"/>
    <p:sldId xmlns:r="http://schemas.openxmlformats.org/officeDocument/2006/relationships" id="261" r:id="R12a481a6f507468d"/>
    <p:sldId xmlns:r="http://schemas.openxmlformats.org/officeDocument/2006/relationships" id="262" r:id="Rf5c2a694ecb441db"/>
    <p:sldId xmlns:r="http://schemas.openxmlformats.org/officeDocument/2006/relationships" id="263" r:id="R02e75a6e2ebc4e73"/>
    <p:sldId xmlns:r="http://schemas.openxmlformats.org/officeDocument/2006/relationships" id="264" r:id="Rff150aa4d6604316"/>
    <p:sldId xmlns:r="http://schemas.openxmlformats.org/officeDocument/2006/relationships" id="265" r:id="Ree25ade3674d49ec"/>
    <p:sldId xmlns:r="http://schemas.openxmlformats.org/officeDocument/2006/relationships" id="266" r:id="Rcea866603e144a31"/>
    <p:sldId xmlns:r="http://schemas.openxmlformats.org/officeDocument/2006/relationships" id="267" r:id="Rc12c217579ef49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904a5e977b4890" /><Relationship Type="http://schemas.openxmlformats.org/officeDocument/2006/relationships/slideMaster" Target="/ppt/slideMasters/slideMaster1.xml" Id="Rd08a460ac53742a9" /><Relationship Type="http://schemas.openxmlformats.org/officeDocument/2006/relationships/notesMaster" Target="/ppt/notesMasters/notesMaster1.xml" Id="Ra78c9f8265324aba" /><Relationship Type="http://schemas.openxmlformats.org/officeDocument/2006/relationships/presProps" Target="/ppt/presProps.xml" Id="R36620e6cdd31479b" /><Relationship Type="http://schemas.openxmlformats.org/officeDocument/2006/relationships/tableStyles" Target="/ppt/tableStyles.xml" Id="R4643da7cd4ae440a" /><Relationship Type="http://schemas.openxmlformats.org/officeDocument/2006/relationships/slide" Target="/ppt/slides/slide1.xml" Id="R7cafc49f08404506" /><Relationship Type="http://schemas.openxmlformats.org/officeDocument/2006/relationships/slide" Target="/ppt/slides/slide2.xml" Id="R678297e51e0f4423" /><Relationship Type="http://schemas.openxmlformats.org/officeDocument/2006/relationships/slide" Target="/ppt/slides/slide3.xml" Id="R7a8a31be59274d85" /><Relationship Type="http://schemas.openxmlformats.org/officeDocument/2006/relationships/slide" Target="/ppt/slides/slide4.xml" Id="R055e10daca704367" /><Relationship Type="http://schemas.openxmlformats.org/officeDocument/2006/relationships/slide" Target="/ppt/slides/slide5.xml" Id="Ra6ae54b852f34c5e" /><Relationship Type="http://schemas.openxmlformats.org/officeDocument/2006/relationships/slide" Target="/ppt/slides/slide6.xml" Id="R12a481a6f507468d" /><Relationship Type="http://schemas.openxmlformats.org/officeDocument/2006/relationships/slide" Target="/ppt/slides/slide7.xml" Id="Rf5c2a694ecb441db" /><Relationship Type="http://schemas.openxmlformats.org/officeDocument/2006/relationships/slide" Target="/ppt/slides/slide8.xml" Id="R02e75a6e2ebc4e73" /><Relationship Type="http://schemas.openxmlformats.org/officeDocument/2006/relationships/slide" Target="/ppt/slides/slide9.xml" Id="Rff150aa4d6604316" /><Relationship Type="http://schemas.openxmlformats.org/officeDocument/2006/relationships/slide" Target="/ppt/slides/slide10.xml" Id="Ree25ade3674d49ec" /><Relationship Type="http://schemas.openxmlformats.org/officeDocument/2006/relationships/slide" Target="/ppt/slides/slide11.xml" Id="Rcea866603e144a31" /><Relationship Type="http://schemas.openxmlformats.org/officeDocument/2006/relationships/slide" Target="/ppt/slides/slide12.xml" Id="Rc12c217579ef49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00c15cdb0f49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fd99fec31e4dc1" /><Relationship Type="http://schemas.openxmlformats.org/officeDocument/2006/relationships/notesMaster" Target="/ppt/notesMasters/notesMaster1.xml" Id="R5bad9047fd9c4c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fd07feb84942ad" /><Relationship Type="http://schemas.openxmlformats.org/officeDocument/2006/relationships/notesMaster" Target="/ppt/notesMasters/notesMaster1.xml" Id="Reae5da230a5a4a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b896bd55e749ba" /><Relationship Type="http://schemas.openxmlformats.org/officeDocument/2006/relationships/notesMaster" Target="/ppt/notesMasters/notesMaster1.xml" Id="R75c6235763724e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5caf5166a94a0a" /><Relationship Type="http://schemas.openxmlformats.org/officeDocument/2006/relationships/notesMaster" Target="/ppt/notesMasters/notesMaster1.xml" Id="Rc38da1fe2fb04a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5ca37f8cd84573" /><Relationship Type="http://schemas.openxmlformats.org/officeDocument/2006/relationships/notesMaster" Target="/ppt/notesMasters/notesMaster1.xml" Id="R585bed1ebe6940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ca341994e14bf9" /><Relationship Type="http://schemas.openxmlformats.org/officeDocument/2006/relationships/notesMaster" Target="/ppt/notesMasters/notesMaster1.xml" Id="R906bcc8e24e743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3a98222d7645e7" /><Relationship Type="http://schemas.openxmlformats.org/officeDocument/2006/relationships/notesMaster" Target="/ppt/notesMasters/notesMaster1.xml" Id="Rb1cd9ec5021f4a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02fe83ed0a4bea" /><Relationship Type="http://schemas.openxmlformats.org/officeDocument/2006/relationships/notesMaster" Target="/ppt/notesMasters/notesMaster1.xml" Id="Rb91b4908e03046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8ad8861ab74fc8" /><Relationship Type="http://schemas.openxmlformats.org/officeDocument/2006/relationships/notesMaster" Target="/ppt/notesMasters/notesMaster1.xml" Id="Rcb564b919eac41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736533d3b64a13" /><Relationship Type="http://schemas.openxmlformats.org/officeDocument/2006/relationships/notesMaster" Target="/ppt/notesMasters/notesMaster1.xml" Id="R7e0722bd4a3c45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448ed0bc404097" /><Relationship Type="http://schemas.openxmlformats.org/officeDocument/2006/relationships/notesMaster" Target="/ppt/notesMasters/notesMaster1.xml" Id="Rc979bc4ab7bb47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2dedb2bdc54027" /><Relationship Type="http://schemas.openxmlformats.org/officeDocument/2006/relationships/notesMaster" Target="/ppt/notesMasters/notesMaster1.xml" Id="R864831f2e62b4e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汇报聚焦当前 MVP 已完成的离线导航闭环，以及走向实车部署时的架构路径。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当前项目没有否定 AR-HUD 的价值，而是把它定位为显示层。导航内核可独立演进，并向其他车端或 Web 显示端复用。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不将尚未实现的 GPS、视觉和云端能力混入当前成果。测试轨迹全部为合成数据。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 ARCHITECTURE.md：OSRM 负责路网与路线，FastAPI 负责会话和导航协调，MapLibre 负责渲染。浏览器不直接调用 OSRM。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开源参考：</a:t>
            </a:r>
          </a:p>
          <a:p xmlns:a="http://schemas.openxmlformats.org/drawingml/2006/main">
            <a:r>
              <a:t>OSRM https://github.com/Project-OSRM/osrm-backend</a:t>
            </a:r>
          </a:p>
          <a:p xmlns:a="http://schemas.openxmlformats.org/drawingml/2006/main">
            <a:r>
              <a:t>MapLibre GL JS https://github.com/maplibre/maplibre-gl-js</a:t>
            </a:r>
          </a:p>
          <a:p xmlns:a="http://schemas.openxmlformats.org/drawingml/2006/main">
            <a:r>
              <a:t>FastAPI https://github.com/fastapi/fastapi</a:t>
            </a:r>
          </a:p>
          <a:p xmlns:a="http://schemas.openxmlformats.org/drawingml/2006/main">
            <a:r>
              <a:t>仓库 package.json 与 pyproject.toml 分别声明 maplibre-gl、FastAPI 等依赖。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资料来源：docs/data-build.md；data/metadata/map.osm-build.json；data/metadata/map.osm-maplibre-thematic-geojson-build.json。OSRM 使用 MLD 构建流程。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资料来源：ARCHITECTURE.md 第 4 节与 docs/data-build.md。当前为同一 OSM 构建的 8 类 GeoJSON，后续可替换为 MBTiles 而无需改变前端路由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资料来源：README.md、docs/demo-runbook.md、DEVELOPMENT.md。此页描述项目定义的验证标准和演示闭环，不把其表述为生产实车验证。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这是后续设计建议，尚未在 MVP 实现。数据契约沿用项目 DATA_POLICY.md 中的 WGS-84 模型。传输方案建议局域网 WebSocket 优先，后续可评估 USB / BLE 等链路。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这是后续设计建议，当前 MVP 不包含 OCR、检测模型或真实视频。项目 ARCHITECTURE.md 已定义 OCR 只在接近终点时验证商铺招牌的边界。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本页为规划，不代表现已具备的能力。计划沿用现有架构边界，避免 iOS、视觉模型或车端 UI 直接耦合 OSRM / MapLibre 内核。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感谢。可根据听众继续展开数据构建、偏航匹配算法、iOS 传输协议或视觉服务边界。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6e472f7aa4a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e6024407ec4de9" /><Relationship Type="http://schemas.openxmlformats.org/officeDocument/2006/relationships/slideLayout" Target="/ppt/slideLayouts/slideLayout1.xml" Id="R640ff7ba2a324a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ff7ba2a324a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80ad763324f95" /><Relationship Type="http://schemas.openxmlformats.org/officeDocument/2006/relationships/notesSlide" Target="/ppt/notesSlides/notesSlide1.xml" Id="R34f776de0b8f42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ad9e80dd64a1e" /><Relationship Type="http://schemas.openxmlformats.org/officeDocument/2006/relationships/notesSlide" Target="/ppt/notesSlides/notesSlide2.xml" Id="R677743ffff534e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dccaa12034abf" /><Relationship Type="http://schemas.openxmlformats.org/officeDocument/2006/relationships/notesSlide" Target="/ppt/notesSlides/notesSlide3.xml" Id="Rc8d4e9c0d00c40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ee5dcd0b54156" /><Relationship Type="http://schemas.openxmlformats.org/officeDocument/2006/relationships/notesSlide" Target="/ppt/notesSlides/notesSlide4.xml" Id="Ra2e6efaf7f3540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528d659044075" /><Relationship Type="http://schemas.openxmlformats.org/officeDocument/2006/relationships/notesSlide" Target="/ppt/notesSlides/notesSlide5.xml" Id="Rdb56fa0d58334e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09e3668644334" /><Relationship Type="http://schemas.openxmlformats.org/officeDocument/2006/relationships/notesSlide" Target="/ppt/notesSlides/notesSlide6.xml" Id="R027c06ace72f4d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3d79ff4bb497e" /><Relationship Type="http://schemas.openxmlformats.org/officeDocument/2006/relationships/notesSlide" Target="/ppt/notesSlides/notesSlide7.xml" Id="Rdc4382f6884347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14ccf6ca24364" /><Relationship Type="http://schemas.openxmlformats.org/officeDocument/2006/relationships/notesSlide" Target="/ppt/notesSlides/notesSlide8.xml" Id="R3548e147267340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85ebd27154bc4" /><Relationship Type="http://schemas.openxmlformats.org/officeDocument/2006/relationships/notesSlide" Target="/ppt/notesSlides/notesSlide9.xml" Id="R68440ab04afd4e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523506fc74928" /><Relationship Type="http://schemas.openxmlformats.org/officeDocument/2006/relationships/notesSlide" Target="/ppt/notesSlides/notesSlide10.xml" Id="Rc1b02178b99049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a70eed0904ffc" /><Relationship Type="http://schemas.openxmlformats.org/officeDocument/2006/relationships/notesSlide" Target="/ppt/notesSlides/notesSlide11.xml" Id="R11d9756ba6354d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27f6cbf684a9b" /><Relationship Type="http://schemas.openxmlformats.org/officeDocument/2006/relationships/notesSlide" Target="/ppt/notesSlides/notesSlide12.xml" Id="R3a6972670f7449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84CA4-5886-43C4-A41E-9B8097ED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45261-F244-4C7D-8C7E-F9176534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ED386-9E96-436D-A321-0979EE47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6F3C5-2B35-460E-8F5C-75CA25FA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E517F-DA08-44F1-B1F4-5B31C7B9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DD951-007E-45DB-B386-B70335B1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1A5AE-3974-4FFB-A931-88846396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575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90184-A315-4C14-A1CA-5C854818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93891-4D04-4C48-BA4F-84A3D9DD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面向实车部署的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离线导航系统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7A1A4-AD62-40D5-B33E-2838B54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从 AR-HUD 原型到可扩展的实时导航架构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96FB2-63F8-4051-AB24-4809463D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MVP 阶段成果与下一步演进方案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F7DE4-A7E7-47C2-AE37-1E1864A0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014663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37610-5C02-4103-A7AC-8704728F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26BD2-428A-4CB5-B865-5247C16D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为什么从 Unity 原型走向独立导航架构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2B02B-7C80-48B3-B65E-96BB58E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AR-HUD 的表现层前提仍成立，但实车部署需要把实时导航能力从渲染工程中解耦。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B04FD-F908-4AF0-A08B-D0460D26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101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AC71E-927F-4E4A-A606-9E933DED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52625"/>
            <a:ext cx="54483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7415B-AD38-4B50-A76B-96C78A31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原型阶段：Unity / AR-HUD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38E6-C567-4F4A-BEB8-FD83FF93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适合快速验证 HUD 呈现、路线叠加与交互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业务逻辑、地图渲染、定位处理容易耦合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面向持续定位与实时重算时，调试与替换成本上升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AC2D7-4306-4AA5-879A-AECEE94C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实车部署：导航内核独立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79A8E-C5B3-4867-BB49-AEC00924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路由、地图、定位匹配分别承担明确职责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HUD、Web 与后续车端显示共享同一导航状态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iOS GPS 与视觉识别通过适配层接入，不侵入路由引擎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05378-83F0-4520-9A3D-DFF346C5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设计结论：用本地可复现的导航服务承接实时性要求，AR-HUD 作为可替换的显示终端。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30E60-CBE9-4BD3-8CAD-09EED10C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02</a:t>
            </a:r>
          </a:p>
        </p:txBody>
      </p:sp>
    </p:spTree>
    <p:extLst>
      <p:ext uri="{BB962C8B-B14F-4D97-AF65-F5344CB8AC3E}">
        <p14:creationId xmlns:p14="http://schemas.microsoft.com/office/powerpoint/2010/main" val="1498428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AC016-00DE-4A70-AE4C-0A9B924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8C8FC-E987-456F-B57F-64BBBF24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目标与边界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CE2FE-72EE-40EC-BF43-BCABD68B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先验证一条完整、离线、可重复的汽车导航闭环。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7FE58-3157-4B70-A54A-73E8F9B3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A07D1-103D-4989-829C-8FE4ED6F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6F88D-1BC3-41CC-8BFC-E2076CF5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本阶段已纳入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6B784-FC0A-4690-B952-448F8FC7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离线路线规划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离线地图渲染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模拟轨迹回放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道路吸附与偏航重算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78785-D9F6-4A0B-AD74-D4CFB04B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5F3BE-8224-4242-9685-3A06228E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52DE0-CE36-46F5-A411-2FEB0A00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架构原则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14CC6-A845-40A0-B287-CC4ADEAF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本地优先、可复现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WGS-84 统一坐标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/ MapLibre / FastAPI 分层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前端不直接依赖 OSRM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8A618-C62F-486D-86A6-107FDA6B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D456A-FDA8-44C7-AB43-D13E813D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16052-6E6F-4127-AFB7-A7E4D06F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明确暂不纳入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4706A-E422-4751-9A4D-8F6F0A1E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 GPS 与车辆 CAN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云地图、实时交通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语音、LLM、OCR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真实用户或车辆轨迹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4EAB3-A964-4238-A809-600B394C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这套边界让 MVP 的结果可验证，也为后续硬件与算法接入预留明确接口。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CA3A3-12A6-43F4-8C2E-F129C0AE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03</a:t>
            </a:r>
          </a:p>
        </p:txBody>
      </p:sp>
    </p:spTree>
    <p:extLst>
      <p:ext uri="{BB962C8B-B14F-4D97-AF65-F5344CB8AC3E}">
        <p14:creationId xmlns:p14="http://schemas.microsoft.com/office/powerpoint/2010/main" val="661416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11CA32-F8E3-4888-9964-80610BD3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89B26-B05A-4420-A560-27B538CB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总体架构：四层分工，导航状态统一输出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DB049-D248-4C2D-ABB9-FE5B1003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浏览器、未来 HUD 与车端显示都只消费协调服务发布的导航状态。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66172-D414-4431-9702-E16BA1F3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AD8A2-B5AF-487C-93AE-EB3F782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1CC77-AF7C-4E93-9A7B-84061BE3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离线数据构建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BEEC5-27F2-45E2-BDF8-4EA325A6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OSM → OSRM / GeoJSON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9D44C-A77B-4244-A12B-C63D7805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33977-C8B7-4377-BDB6-A74E89E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5C2C8-8C9A-4F31-967C-AE755EA6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路由引擎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AE317-FEFF-4B46-B7AB-ED846D73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24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路线、最近道路、匹配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16CD1-4849-47F0-8EC3-5A1F926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5DED1-E0F9-4279-864D-D2A9AAB2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655BB-192D-426B-8AC9-072CA5E4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FastAPI 协调层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6B1B9-8666-414D-BCF8-8166E9B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会话、偏航、状态推送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4E7E7-B9DC-4A07-B8D8-C641227B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02A29-DA49-4505-840C-DE634181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06BCD-7A28-4FBB-B153-E21DEF30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 显示层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335BA-C83C-4705-B82B-29DE781C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524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底图、路线、车标、提示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A1CEE-5CE5-495A-88A6-40093765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E84D7-6D3D-4BCF-AD35-1FA3C330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FAF20-2D48-4C70-B8D0-68797B40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9D9292-3210-4469-84E2-127DEE39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5FE95-672E-4B47-983F-4FB574B8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1C2DC-9863-440C-8BCB-1A2EAD7A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43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轨迹来源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DF0BB-023C-47C5-A27A-B8756AD2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29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当前：JSON 回放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后续：iOS GPS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5CA07-E58B-46F2-91EE-DEE6FECA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26C27F-9774-40EA-9598-D628FC67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621774-060A-4355-AF66-894717AF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4337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673E9F-5749-4B50-9A00-9FA8180C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291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匹配位置、进度、下一动作、偏航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006F19-FF8C-407E-BEAD-BD5F7D9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96728E-65BA-466E-9DDA-09F59094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8F8216-C160-400A-8B49-63AFC501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43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显示终端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F063F5-8291-4574-8FFD-6A1608DA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当前：本地 Web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后续：AR-HUD / 车端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D1481A-7BD5-47CC-9C8E-609F0191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91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7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78C443-07F6-4CFD-8E4E-66BA1A5F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36FD65-569E-49CA-AF04-2B8D0F42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关键边界：OSRM 只负责路由与路网查询；MapLibre 只负责显示；FastAPI 负责把位置变成可消费的导航状态。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7D5346-5831-4C5A-B06F-7F0EE4B3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04</a:t>
            </a:r>
          </a:p>
        </p:txBody>
      </p:sp>
    </p:spTree>
    <p:extLst>
      <p:ext uri="{BB962C8B-B14F-4D97-AF65-F5344CB8AC3E}">
        <p14:creationId xmlns:p14="http://schemas.microsoft.com/office/powerpoint/2010/main" val="244819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18DF6-7215-42E9-AC7A-16C0EA3C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D38E0-5EE1-4227-B68A-17DA4E5A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开源基座：复用成熟能力，保留业务边界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ADC6C-16AB-41A9-B06E-23E66BED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不是从零实现路由、地图渲染或 API 框架，而是在适配层实现导航业务规则。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04A09-AF46-4BFA-B01B-35C11C37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13F49-CBA1-418F-95C0-6EEC636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D25DF-0C10-47C9-BB6E-EBF3EFD6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9BE87-F8E5-42CE-B710-5462817B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240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高性能开源路由引擎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5C144-7B25-42BA-B558-1E8FBE2C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14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 profile、Route / Nearest / Match 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C7240-3410-4ED1-9209-558AC6A8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050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Project-OSRM/osrm-backend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6AB09-9C89-4F6E-B647-6846255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59CBC-37B6-4177-8661-5B738975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2F714-002F-43FD-BA85-8EE6DD18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04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MapLibre GL 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AF05C-C84C-408C-9A5C-ED23F48D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62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浏览器端开源地图渲染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605A7-D5DD-4611-814C-D4DDBDED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离线 GeoJSON 图层、路线叠加、相机跟随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E0A15-B9FD-458C-8918-96823E2E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maplibre/maplibre-gl-js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5157B-9855-44D7-9305-F92AAA3D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F324E-223D-457F-BDF0-4A754CC1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C8517-F934-4145-9984-B16AF2D9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FastAPI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FAFA3-DE91-41A0-A814-D102018A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00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Python 服务框架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A37A4-B26C-4D31-A22D-9CA025B6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类型化 API、导航会话、WebSocket 状态推送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CE8C3-DD87-4A80-829F-0DEEF9B7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fastapi/fastapi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AA733-2C01-4826-A509-F38A9A1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05</a:t>
            </a:r>
          </a:p>
        </p:txBody>
      </p:sp>
    </p:spTree>
    <p:extLst>
      <p:ext uri="{BB962C8B-B14F-4D97-AF65-F5344CB8AC3E}">
        <p14:creationId xmlns:p14="http://schemas.microsoft.com/office/powerpoint/2010/main" val="1956047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83144-6027-4C9C-9648-FEB4EC2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FCE7D-4728-43D3-84E6-75B09400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OSM 数据处理：一份原始地图，两条可追溯的离线产线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06165-D91C-41F1-B88C-C0F46CA9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实验区域为北京局部路网。输入、边界、校验值、构建时间与命令均记录在元数据中。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1BF87-B422-420D-8B77-CF2933F5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409950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469F6-785F-42CF-8D59-0B5A46F3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208E2-FED7-4F9F-996D-9B348DED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AE5D7-A090-4711-9FEF-AF56A3DB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map.osm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E15C1-D5D1-4069-ADD6-6BDD96DC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原始 OSM XML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Git 忽略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80921-7E9B-4928-A23A-588BE05C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9670D-6AB5-423E-BF75-A1230A8A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A542F-2B7B-4C84-AF59-3E548205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0FEB6-56BE-4411-BE48-A748607B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14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MLD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389B9-78B8-452E-A515-2F44FD17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0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extract → partition → customize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汽车路网查询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B7005-DE99-43F0-A7DE-2C5C30B2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62275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B8143-F375-44E8-9857-BE78CEF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AE04C-F3CD-411C-A17E-37FD5D8C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AAFFA-E79E-4CF2-9F37-5C20DDDC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8 类 GeoJSON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8AA48-6DC5-4D85-8483-0BA0B141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 / 建筑 / 水系 / 绿地 / 用地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道路名 / 地点名 / POI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7BF43-62B8-486D-9380-23636FC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6227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0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87B6C-47BA-45A2-845F-1C40C934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9BAA3-2BF1-4A30-B3F2-F646875D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6BED9-1C23-4182-A79C-18CF3E51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69182-1606-451D-8982-3B7D3A62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本地静态加载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不依赖在线瓦片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3346E-47BA-4AF2-A13B-10E95F2A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数据治理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341310-5A46-42B1-A201-CC594B80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 SHA-256 · 地图边界 · 构建 UTC 时间 · 工具版本 · 完整命令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8556D-E32A-4904-9EE8-C58326C6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当前实验范围：39.86864–39.90006 N，116.36676–116.41706 E。原始 OSM、OSRM 文件、MBTiles 均不提交 Git。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FC1C9-430B-44D0-AB63-3BA9E8E8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06</a:t>
            </a:r>
          </a:p>
        </p:txBody>
      </p:sp>
    </p:spTree>
    <p:extLst>
      <p:ext uri="{BB962C8B-B14F-4D97-AF65-F5344CB8AC3E}">
        <p14:creationId xmlns:p14="http://schemas.microsoft.com/office/powerpoint/2010/main" val="558778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588A83-1BD9-497B-B8ED-46A02B5D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EF2D9-F060-4AF0-9E4A-39D6DB6C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离线可视化：以主题 GeoJSON 降低 MVP 复杂度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51B49-15A0-4914-A61D-E4DA511A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先交付可读、可离线的底图与导航叠加；地图规模扩大后无缝替换为 MBTiles 矢量瓦片。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466D5-028F-42AE-A6B9-36E7B288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91F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01FBF-8AB8-4E26-BB44-2D9A24A3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B329B-5E23-4452-9DA2-5EDBCAB5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813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683DC-0446-4217-B0B5-F538FFE0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33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679A3-0660-4533-BE31-81AB491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6C0C8-4779-4C8F-A3C1-C6E610F0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D7072-A34C-4192-8D6A-1718878D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53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96BEB-6B1A-48C2-B211-26E315B0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540000">
            <a:off x="1123950" y="2714625"/>
            <a:ext cx="390525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2C5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860BB-314E-4DE0-9DBD-C4DB9174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14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C6A91-835E-485A-A540-C6000ED8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00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7AB0D-334C-4F01-A86D-3FE80742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FE6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FE6FF"/>
                </a:solidFill>
                <a:latin typeface="PingFang SC"/>
                <a:ea typeface="PingFang SC"/>
                <a:cs typeface="PingFang SC"/>
              </a:rPr>
              <a:t>模拟离线导航视图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C6A50-FF67-4FAC-8373-DBF2F456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74398-4A20-4765-AC82-3A6FD904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D792D-1841-4DB2-8DB0-556B8BC2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表达层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8F881-89BF-4AB1-AF89-E61E72EA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道路、建筑、水系、绿地、用地与标签分层渲染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A96DD-0CCD-442A-B8D1-8D35769D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BCED0-4FAE-41A1-AEE3-4FFCC9D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7B4D9-7980-47FC-8ED2-43734FD7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956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导航层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065D5F-8632-4DFF-B52D-5DEB477A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670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主路线高亮、已通过路线灰化、箭头、旋转车标、下一转向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9A1CCD-77E9-43F9-B46D-0393EF29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65DD9-F87F-498D-880F-DFC8455B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0C918-EAA5-4B28-ABD6-C0A023DF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957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性能路径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E19C8-6579-43A9-BA8B-E67C63C5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当前主题 GeoJSON；更大范围与高缩放级别转 MBTiles / 矢量瓦片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8DF43-A575-41A1-AE10-AF58AB10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优化原则：不为当前约 10 MB 的实验地图提前引入 PBF / MBTiles 转换链复杂度。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10EB34-739F-422F-A6EB-3100FB76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07</a:t>
            </a:r>
          </a:p>
        </p:txBody>
      </p:sp>
    </p:spTree>
    <p:extLst>
      <p:ext uri="{BB962C8B-B14F-4D97-AF65-F5344CB8AC3E}">
        <p14:creationId xmlns:p14="http://schemas.microsoft.com/office/powerpoint/2010/main" val="1479880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2943FC-FA2D-4CC7-ACBE-C267148D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ADFF7-FEB1-44D1-A029-73F7438D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当前成果：离线导航闭环已经可演示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F7044-E05D-4D13-B5FB-289205EE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从选点到到达、从偏航到重新规划，均可在本地 Docker 环境复现。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02749-0EC6-483C-88B5-A36815DE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8BECD-8C2D-43F5-89BF-AC5CCA76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6FEB6-3822-44D3-AB2E-F26A4C4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选择起终点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DE406-C5C6-445A-9B54-BB639A9E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地图点击或预置端点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BCB33-721D-489B-B4DE-31BAC3C2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080EF-6FCE-47FE-BB86-9D454550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1C7F1-1790-4675-B2A5-3DD32912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5C8FB-23C3-44D3-9865-5621356D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路线规划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7CB47-74D0-4ADB-9C83-98E5E849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距离、时长、逐步转向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60142-4C97-4995-9968-4EF04322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D8BA7-2F91-4A16-84BC-DF38C623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B04B5-34A8-42AD-BF73-71E91223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E2455-50BF-41DE-8DDC-CFA272D4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开始模拟回放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AB6FC-FB8E-4EC3-978D-CB4DECFC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暂停、继续、重播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2978E-A258-4101-85F5-E2205497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F4CE7-AA8B-41EF-95CD-B8DEAFC0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9DF5B-3085-4C6E-8ABB-57E65378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9F0A3-031D-482A-ABE5-8392EE22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774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</a:t>
            </a:r>
          </a:p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与导航状态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F14A7-9452-4D9A-9CB2-913B205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4EA01-E895-46B1-B1DA-2CC877B1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E24B5-645A-4C9B-87D7-71198372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96D355-5986-4805-AFF6-1736FA30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CAC96-C14E-4E20-BC70-9F71F037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到达 / 偏航重算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66851-1B6F-4AFC-93FF-669B9422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替换路线并继续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C9BC14-D5D4-49DF-ABAC-434ABDDA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3BBEA-6C9D-4309-B9C0-3649E1B2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当前验证点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33018B-0B0D-4EC5-95E2-4627AB56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正常路线  ·  无可达路线  ·  路网外定位点  ·  偏航重算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正常轨迹到达 arrived；偏航轨迹要求恰好触发一次路线替换。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DBE941-C098-4DAD-A3D9-AF12662D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运行方式：bash scripts/demo.sh 启动本地三容器；bash scripts/smoke_test.sh 验证闭环。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90DAD5-391F-444A-8B1F-B0298305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08</a:t>
            </a:r>
          </a:p>
        </p:txBody>
      </p:sp>
    </p:spTree>
    <p:extLst>
      <p:ext uri="{BB962C8B-B14F-4D97-AF65-F5344CB8AC3E}">
        <p14:creationId xmlns:p14="http://schemas.microsoft.com/office/powerpoint/2010/main" val="9307019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65A787-7129-40C5-9CF3-FDD92964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EFED3-28BE-4227-AA4C-A098C6B8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实车路径一：通过 iOS 接入 GPS，保持导航内核不变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6539C-CEBD-4F4A-BDFD-BB70CBB6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建议把 iPhone 视为定位传感器与上行网关，先解决稳定传输、时间同步与断连恢复。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5E52E-3FC8-42E8-981A-BEF65D66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59AA9-24FC-4877-87CA-E032BE90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7F310-7A34-41EB-93C2-A81A6233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iPhone / 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AEE9E-C5B4-466C-8548-F04B734E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Core Location：WGS-84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位置、航向、速度、精度、时间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B0528-031D-4B5B-89E5-A9928A70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D4DDC-C0B5-4B85-920A-5F34BEA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DB732-0C6F-494C-AC76-C0DB59B3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24125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传输适配层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BAC49-3B9A-4057-A4E4-520B282B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局域网 WebSocket 优先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序列号、鉴权、心跳、重连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B791E-7423-4CE5-9695-9AE98206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CCC16-22D7-47E7-9EEE-CEC4AA91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FBDF7-A43A-4FAB-A424-4E5429BF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导航协调层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13031-1799-4223-A91F-EF74B9A9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98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字段校验、时序处理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道路吸附、偏航判断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600A3-7D16-40C7-85EC-43AF50AB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E5C58-D2C9-4D71-A5C7-36B2B0DD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717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5876D4-8322-47B7-A150-F9190EFF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15CF4-EE7E-48C2-B323-4D27DA21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1C81F-5A57-44D2-A103-AB4EC490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定义稳定定位协议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DD55F-6034-4B91-9799-6D78600A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lat / lon / heading / speed_mps / accuracy_m / timestamp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06635-94E2-4E01-8C61-20670AE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59FC7-69B7-4E23-80A5-05699FF5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57E36-9BA4-465E-83F8-5F4F3B78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端到端回放对照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64055-88B0-462A-8ED1-7512845B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同一轨迹输入应产生同一状态序列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F3E63-DB39-49E0-BA72-B8778314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5E77A-DFE1-4245-950D-8DB5C662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7915D-EE01-41D7-ACEB-F8B15DC1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道路匹配上线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FFFAD-3955-4674-91C8-BE7294FF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前端只显示匹配后位置，保留原始点供诊断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9F097-D0DE-4B7E-9514-5EB17874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E3747-AA90-4DD7-BAB0-79E9E33E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39E839-3E8B-4848-B0C1-5240302E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车端异常处理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B0A01B-3220-4D33-8EA4-CEE52E2F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弱网、漂移、断连、低精度与重新获得定位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B7CE1F-A6FE-4CD4-B71E-CBB9F46E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接口原则：iOS 仅替换“定位来源”适配器，不直接驱动地图，不将原始 GPS 写回 OSM。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B39102-2D4F-4048-8F40-2A682E6B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09</a:t>
            </a:r>
          </a:p>
        </p:txBody>
      </p:sp>
    </p:spTree>
    <p:extLst>
      <p:ext uri="{BB962C8B-B14F-4D97-AF65-F5344CB8AC3E}">
        <p14:creationId xmlns:p14="http://schemas.microsoft.com/office/powerpoint/2010/main" val="16489428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B20FB-4CF2-402B-BFE7-BC03996F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73300-F47B-4771-8765-3F68AFB9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实车路径二：视觉模型作为“确认与感知”能力接入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D3B4A-1DD5-4EA6-85C8-F68437E5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视觉不替代地图路由；它为接近目的地、道路事件或 HUD 提示提供附加证据。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1D549-3377-4E04-A47B-B176D2ED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7D8C8-2C88-4853-8ABF-EE62CF6C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D587F-A79C-44FF-A872-255B36E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相机输入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032D2-DE07-45C7-9EE8-FDAE3945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车载或手机相机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帧时间戳与设备标识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7B04D-7C87-426F-BC29-8D95E579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B96A4-A1C5-46EB-9B07-7B90C6E5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FDF82-E29D-4930-8D1A-00E6B09B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视觉推理服务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E8A9E-F5C3-4A44-9136-7A172AD1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检测 / 识别 / 置信度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可本地部署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9FE8C-853F-4870-A838-20F9ED5A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C3406-0E78-497C-B9F2-2A832CE8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3CC69-1E15-4F60-8CBE-0BB0AAD7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33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事件适配层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B4547-04D1-4D6D-ADFC-3C654795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时空对齐、去抖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限定输出事件模型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A4957-0BE6-438F-93F5-EC5DA7D2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1485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B999C-48EB-4508-BE75-19D1A17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F3BA5-DA20-4A95-897E-023DE1FB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导航体验层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8DB54-1B25-437D-BCBA-5BC3CC41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193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到达确认、提示增强</a:t>
            </a:r>
          </a:p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不直接改写路由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F9B2A-88D8-436A-B894-D553F018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812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7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49C4E-0159-47CD-9CB3-9B69A1D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81275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FD1C4-0DF6-403F-B1FC-0BF4CD95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13C60-AF0C-4868-9626-A61C15B3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933DB-B240-45FC-85A8-5BF20C9C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优先落地场景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36D944-0154-43D9-90E5-73787FD9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91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接近终点时识别商铺招牌 / 入口，作为“到达确认”的辅助信号。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759BD-188F-4D77-9D6B-F9F6466A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148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约束：只输出结构化感知事件与置信度；导航会话决定是否展示或触发业务动作；保留人工验证与失败降级。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A19AD-A154-40D3-806A-744F7F57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10</a:t>
            </a:r>
          </a:p>
        </p:txBody>
      </p:sp>
    </p:spTree>
    <p:extLst>
      <p:ext uri="{BB962C8B-B14F-4D97-AF65-F5344CB8AC3E}">
        <p14:creationId xmlns:p14="http://schemas.microsoft.com/office/powerpoint/2010/main" val="9940953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4CF7F-D0CD-408E-8FD2-97C17118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2B150-4230-467E-B8B8-7AB8C97F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下一阶段计划：从可演示闭环走向可路测闭环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EECEC-65FB-4F23-BF64-AEB9D73D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每一步都以可重复输入、可观测状态和明确验收为前提。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90BA3-65F3-4CEF-B9F6-4B1DB9FF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222E9-2EF8-4385-94AB-6928719C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82940-5B35-4597-A477-34CC539C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F9116-D56E-4838-AE89-BDF9D700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050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iOS 定位协议与回放工具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AD84C-2086-47A9-8DCC-B0D53AE8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955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把手机定位数据导入现有模拟器；验证时间戳、精度与断连行为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DA517-C0B5-459B-B72B-999936C4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CDA5F-A2C9-4170-B6A4-36639859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16605-830A-4279-8237-6F99BE6C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D24B0-D9FE-4883-BF6A-DD0FAA93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813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实车定位适配与路测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D93FA-9071-43B8-AA20-1F8A03BE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道路匹配、偏航阈值、状态推送的实车数据验证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2381C-EF0D-4A35-A4C6-B83A5256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CB2D5-14EF-4793-B893-6AE6D1C5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0E621-3E83-4B7F-9A9A-825EA09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后续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9FF31-BAAA-490A-AF0A-843A1358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57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本地视觉事件服务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6B6B3-1674-4EC8-9AB1-CE9D219E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481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先做终点确认，再扩展到道路感知提示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BA71A-8C67-4256-BF30-F644E692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DA5E6-28CF-4E2A-A6C9-53BE039D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86976-E99A-4374-9EE3-9A40DDC3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rPr>
              <a:t>规模化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DA3B3-13D0-4D9D-9851-3276EAE9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339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MBTiles 与车端显示集成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47487-81CA-4B4C-A7CE-A4DCCDD9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244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扩大离线地图范围，接入 HUD / 车机显示终端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E23B0-83BE-43A4-A4E2-CC4CB0E6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需要持续守住的约束：离线优先、WGS-84 一致、适配层隔离外部服务、真实数据最小化且合规使用。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3E564-AD0B-48DC-9E3D-44F01903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11</a:t>
            </a:r>
          </a:p>
        </p:txBody>
      </p:sp>
    </p:spTree>
    <p:extLst>
      <p:ext uri="{BB962C8B-B14F-4D97-AF65-F5344CB8AC3E}">
        <p14:creationId xmlns:p14="http://schemas.microsoft.com/office/powerpoint/2010/main" val="1318079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86FD6-2148-4F8E-B48D-FAD6181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C316F-2A0D-4695-A02A-AD3CE17F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MVP 已验证：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离线路由、离线地图、模拟定位与偏航重算。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4F273-36BC-43CE-BB8F-88BC1803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下一步的核心不是扩展功能清单，而是把真实传感器接入现有的、可观测且可替换的导航内核。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D4421-6496-40E7-8869-F63434AC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8096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27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DB062-EA9A-4F2B-A9C0-103E4550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Q &amp;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4581F-A50F-4609-B2A4-7F82943C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架构、数据链路与实车演进</a:t>
            </a:r>
          </a:p>
        </p:txBody>
      </p:sp>
    </p:spTree>
    <p:extLst>
      <p:ext uri="{BB962C8B-B14F-4D97-AF65-F5344CB8AC3E}">
        <p14:creationId xmlns:p14="http://schemas.microsoft.com/office/powerpoint/2010/main" val="997459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2026-09-28T15:32:37.7480000Z</dcterms:created>
  <dcterms:modified xsi:type="dcterms:W3CDTF">2026-09-28T15:32:37.7480000Z</dcterms:modified>
</coreProperties>
</file>