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9" d="100"/>
          <a:sy n="129" d="100"/>
        </p:scale>
        <p:origin x="144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汇报聚焦当前 MVP 已完成的离线导航闭环，以及走向实车部署时的架构路径。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当前项目没有否定 AR-HUD 的价值，而是把它定位为显示层。导航内核可独立演进，并向其他车端或 Web 显示端复用。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MVP 不将尚未实现的 GPS、视觉和云端能力混入当前成果。测试轨迹全部为合成数据。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 ARCHITECTURE.md：OSRM 负责路网与路线，FastAPI 负责会话和导航协调，MapLibre 负责渲染。浏览器不直接调用 OSRM。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开源参考：</a:t>
            </a:r>
          </a:p>
          <a:p>
            <a:r>
              <a:t>OSRM https://github.com/Project-OSRM/osrm-backend</a:t>
            </a:r>
          </a:p>
          <a:p>
            <a:r>
              <a:t>MapLibre GL JS https://github.com/maplibre/maplibre-gl-js</a:t>
            </a:r>
          </a:p>
          <a:p>
            <a:r>
              <a:t>FastAPI https://github.com/fastapi/fastapi</a:t>
            </a:r>
          </a:p>
          <a:p>
            <a:r>
              <a:t>仓库 package.json 与 pyproject.toml 分别声明 maplibre-gl、FastAPI 等依赖。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资料来源：docs/data-build.md；data/metadata/map.osm-build.json；data/metadata/map.osm-maplibre-thematic-geojson-build.json。OSRM 使用 MLD 构建流程。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资料来源：ARCHITECTURE.md 第 4 节与 docs/data-build.md。当前为同一 OSM 构建的 8 类 GeoJSON，后续可替换为 MBTiles 而无需改变前端路由 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资料来源：README.md、docs/demo-runbook.md、DEVELOPMENT.md。此页描述项目定义的验证标准和演示闭环，不把其表述为生产实车验证。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这是后续设计建议，尚未在 MVP 实现。数据契约沿用项目 DATA_POLICY.md 中的 WGS-84 模型。传输方案建议局域网 WebSocket 优先，后续可评估 USB / BLE 等链路。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这是后续设计建议，当前 MVP 不包含 OCR、检测模型或真实视频。项目 ARCHITECTURE.md 已定义 OCR 只在接近终点时验证商铺招牌的边界。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本页为规划，不代表现已具备的能力。计划沿用现有架构边界，避免 iOS、视觉模型或车端 UI 直接耦合 OSRM / MapLibre 内核。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感谢。可根据听众继续展开数据构建、偏航匹配算法、iOS 传输协议或视觉服务边界。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>
            <a:extLst>
              <a:ext uri="{FF2B5EF4-FFF2-40B4-BE49-F238E27FC236}">
                <a16:creationId xmlns:a16="http://schemas.microsoft.com/office/drawing/2014/main" id="{BB555EC5-4541-4B64-9C4F-2F9C05848F87}"/>
              </a:ext>
            </a:extLst>
          </p:cNvPr>
          <p:cNvSpPr>
            <a:spLocks noGrp="1"/>
          </p:cNvSpPr>
          <p:nvPr/>
        </p:nvSpPr>
        <p:spPr>
          <a:xfrm>
            <a:off x="7334250" y="85725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11436F"/>
          </a:solidFill>
          <a:ln w="0">
            <a:noFill/>
          </a:ln>
        </p:spPr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F012FA39-08FD-414B-8243-1FE918A81B56}"/>
              </a:ext>
            </a:extLst>
          </p:cNvPr>
          <p:cNvSpPr>
            <a:spLocks noGrp="1"/>
          </p:cNvSpPr>
          <p:nvPr/>
        </p:nvSpPr>
        <p:spPr>
          <a:xfrm>
            <a:off x="8001000" y="125730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0B335A"/>
          </a:solidFill>
          <a:ln w="0">
            <a:noFill/>
          </a:ln>
        </p:spPr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69E43751-9ECF-44C9-B225-07E7578B568C}"/>
              </a:ext>
            </a:extLst>
          </p:cNvPr>
          <p:cNvSpPr>
            <a:spLocks noGrp="1"/>
          </p:cNvSpPr>
          <p:nvPr/>
        </p:nvSpPr>
        <p:spPr>
          <a:xfrm>
            <a:off x="8667750" y="165735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11436F"/>
          </a:solidFill>
          <a:ln w="0">
            <a:noFill/>
          </a:ln>
        </p:spPr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D1499FB-BB03-4DE7-B257-4E055FB4404B}"/>
              </a:ext>
            </a:extLst>
          </p:cNvPr>
          <p:cNvSpPr>
            <a:spLocks noGrp="1"/>
          </p:cNvSpPr>
          <p:nvPr/>
        </p:nvSpPr>
        <p:spPr>
          <a:xfrm>
            <a:off x="9334500" y="205740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0B335A"/>
          </a:solidFill>
          <a:ln w="0">
            <a:noFill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FD7A93F-B214-4A1E-8D83-63E79506243C}"/>
              </a:ext>
            </a:extLst>
          </p:cNvPr>
          <p:cNvSpPr>
            <a:spLocks noGrp="1"/>
          </p:cNvSpPr>
          <p:nvPr/>
        </p:nvSpPr>
        <p:spPr>
          <a:xfrm>
            <a:off x="10001250" y="245745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11436F"/>
          </a:solidFill>
          <a:ln w="0">
            <a:noFill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FE7145B-F3E3-4B3D-9127-D7A2AD8E1A81}"/>
              </a:ext>
            </a:extLst>
          </p:cNvPr>
          <p:cNvSpPr>
            <a:spLocks noGrp="1"/>
          </p:cNvSpPr>
          <p:nvPr/>
        </p:nvSpPr>
        <p:spPr>
          <a:xfrm>
            <a:off x="10668000" y="285750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0B335A"/>
          </a:solidFill>
          <a:ln w="0">
            <a:noFill/>
          </a:ln>
        </p:spPr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D913718-21D2-44A1-8EE0-C2B59D6F9F0F}"/>
              </a:ext>
            </a:extLst>
          </p:cNvPr>
          <p:cNvSpPr>
            <a:spLocks noGrp="1"/>
          </p:cNvSpPr>
          <p:nvPr/>
        </p:nvSpPr>
        <p:spPr>
          <a:xfrm>
            <a:off x="11334750" y="325755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11436F"/>
          </a:solidFill>
          <a:ln w="0">
            <a:noFill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6B1964BF-7F41-4DC5-ACA0-B163AFCBA116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47750" cy="66675"/>
          </a:xfrm>
          <a:prstGeom prst="roundRect">
            <a:avLst>
              <a:gd name="adj" fmla="val 50000"/>
            </a:avLst>
          </a:prstGeom>
          <a:solidFill>
            <a:srgbClr val="32C5F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7FEBFF-F0D7-4AC9-8B25-BF30285ED0F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286500" cy="1714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面向实车部署的</a:t>
            </a:r>
            <a:endParaRPr sz="35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离线导航系统</a:t>
            </a:r>
            <a:endParaRPr sz="35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DBA66A-0576-4368-959F-283FF9184044}"/>
              </a:ext>
            </a:extLst>
          </p:cNvPr>
          <p:cNvSpPr>
            <a:spLocks noGrp="1"/>
          </p:cNvSpPr>
          <p:nvPr/>
        </p:nvSpPr>
        <p:spPr>
          <a:xfrm>
            <a:off x="723900" y="3476625"/>
            <a:ext cx="6000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dirty="0" err="1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从</a:t>
            </a:r>
            <a:r>
              <a:rPr sz="1650" b="0" dirty="0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 AR-HUD </a:t>
            </a:r>
            <a:r>
              <a:rPr sz="1650" b="0" dirty="0" err="1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原型到可扩展的实时导航架构</a:t>
            </a:r>
            <a:endParaRPr sz="1650" b="0" dirty="0">
              <a:solidFill>
                <a:srgbClr val="C9D8E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BA0A3C-7F89-44AF-940C-8A8A908D5C97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 algn="l">
              <a:buNone/>
              <a:defRPr sz="1200" b="0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dirty="0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MVP </a:t>
            </a:r>
            <a:r>
              <a:rPr sz="1200" b="0" dirty="0" err="1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阶段成果与下一步演进方案</a:t>
            </a:r>
            <a:endParaRPr lang="en-US" sz="1200" b="0" dirty="0">
              <a:solidFill>
                <a:srgbClr val="32C5FF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200" b="0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endParaRPr sz="1200" b="0" dirty="0">
              <a:solidFill>
                <a:srgbClr val="32C5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AC90C1D-E722-A94C-77F9-A597508FC7C6}"/>
              </a:ext>
            </a:extLst>
          </p:cNvPr>
          <p:cNvSpPr txBox="1"/>
          <p:nvPr/>
        </p:nvSpPr>
        <p:spPr>
          <a:xfrm>
            <a:off x="8133907" y="4497572"/>
            <a:ext cx="3455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乔家桢</a:t>
            </a:r>
            <a:br>
              <a:rPr kumimoji="1" lang="en-US" altLang="zh-CN" dirty="0">
                <a:solidFill>
                  <a:schemeClr val="bg1"/>
                </a:solidFill>
              </a:rPr>
            </a:br>
            <a:r>
              <a:rPr kumimoji="1" lang="en-US" altLang="zh-CN" dirty="0">
                <a:solidFill>
                  <a:schemeClr val="bg1"/>
                </a:solidFill>
              </a:rPr>
              <a:t>2026.9.30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8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DCE77C4-E206-40B2-9C24-940FB0E5314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27A874-C159-4C6D-8D81-B77823E275D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 err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为什么从</a:t>
            </a:r>
            <a:r>
              <a:rPr sz="2400" b="1" dirty="0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 Unity </a:t>
            </a:r>
            <a:r>
              <a:rPr sz="2400" b="1" dirty="0" err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原型走向独立导航架构</a:t>
            </a:r>
            <a:endParaRPr sz="2400" b="1" dirty="0">
              <a:solidFill>
                <a:srgbClr val="071B3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6DA436-604B-44FB-8636-EF5FE197DDDD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AR-HUD 的表现层前提仍成立，但实车部署需要把实时导航能力从渲染工程中解耦。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01A8D74-CC5D-4382-91C7-1F768A5A15E1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5010150" cy="2762250"/>
          </a:xfrm>
          <a:prstGeom prst="roundRect">
            <a:avLst>
              <a:gd name="adj" fmla="val 4138"/>
            </a:avLst>
          </a:prstGeom>
          <a:solidFill>
            <a:srgbClr val="F4F7FB"/>
          </a:solidFill>
          <a:ln w="0">
            <a:noFill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3F8E341-F081-4C2A-BA56-B346A4C5C7FD}"/>
              </a:ext>
            </a:extLst>
          </p:cNvPr>
          <p:cNvSpPr>
            <a:spLocks noGrp="1"/>
          </p:cNvSpPr>
          <p:nvPr/>
        </p:nvSpPr>
        <p:spPr>
          <a:xfrm>
            <a:off x="6057900" y="1952625"/>
            <a:ext cx="5448300" cy="2762250"/>
          </a:xfrm>
          <a:prstGeom prst="roundRect">
            <a:avLst>
              <a:gd name="adj" fmla="val 4138"/>
            </a:avLst>
          </a:prstGeom>
          <a:solidFill>
            <a:srgbClr val="EEF6FF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BB9EFD-E66D-4175-B897-E8508EB7909E}"/>
              </a:ext>
            </a:extLst>
          </p:cNvPr>
          <p:cNvSpPr>
            <a:spLocks noGrp="1"/>
          </p:cNvSpPr>
          <p:nvPr/>
        </p:nvSpPr>
        <p:spPr>
          <a:xfrm>
            <a:off x="990600" y="226695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22" lnSpcReduction="20000"/>
          </a:bodyPr>
          <a:lstStyle/>
          <a:p>
            <a:pPr algn="l">
              <a:buNone/>
              <a:def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原型阶段：Unity / AR-HUD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70C55C-A325-4BCE-99D1-6B007B8A26C3}"/>
              </a:ext>
            </a:extLst>
          </p:cNvPr>
          <p:cNvSpPr>
            <a:spLocks noGrp="1"/>
          </p:cNvSpPr>
          <p:nvPr/>
        </p:nvSpPr>
        <p:spPr>
          <a:xfrm>
            <a:off x="990600" y="2857500"/>
            <a:ext cx="4143375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适合快速验证 HUD 呈现、路线叠加与交互</a:t>
            </a:r>
          </a:p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业务逻辑、地图渲染、定位处理容易耦合</a:t>
            </a:r>
          </a:p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面向持续定位与实时重算时，调试与替换成本上升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33A14D-E1AA-4DAD-94AA-FE1C8133179C}"/>
              </a:ext>
            </a:extLst>
          </p:cNvPr>
          <p:cNvSpPr>
            <a:spLocks noGrp="1"/>
          </p:cNvSpPr>
          <p:nvPr/>
        </p:nvSpPr>
        <p:spPr>
          <a:xfrm>
            <a:off x="6362700" y="226695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22" lnSpcReduction="20000"/>
          </a:bodyPr>
          <a:lstStyle/>
          <a:p>
            <a:pPr algn="l">
              <a:buNone/>
              <a:def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实车部署：导航内核独立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8B7EA4-9E50-4A5B-92E1-44E25D6EF117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4429125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路由、地图、定位匹配分别承担明确职责</a:t>
            </a:r>
          </a:p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HUD、Web 与后续车端显示共享同一导航状态</a:t>
            </a:r>
          </a:p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iOS GPS 与视觉识别通过适配层接入，不侵入路由引擎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2A5B18D-DDDD-438C-AA03-5B94B4BCE902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590550"/>
          </a:xfrm>
          <a:prstGeom prst="roundRect">
            <a:avLst>
              <a:gd name="adj" fmla="val 19355"/>
            </a:avLst>
          </a:prstGeom>
          <a:solidFill>
            <a:srgbClr val="E8F3FF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设计结论：用本地可复现的导航服务承接实时性要求，AR-HUD 作为可替换的显示终端。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389C8C-773D-4DC9-8FEE-40D4DF79DEC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20000"/>
          </a:bodyPr>
          <a:lstStyle/>
          <a:p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02</a:t>
            </a:r>
          </a:p>
        </p:txBody>
      </p:sp>
    </p:spTree>
    <p:extLst>
      <p:ext uri="{BB962C8B-B14F-4D97-AF65-F5344CB8AC3E}">
        <p14:creationId xmlns:p14="http://schemas.microsoft.com/office/powerpoint/2010/main" val="326127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7073294-9BFF-4189-9455-D2AE959351D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368208-F681-4D5C-A83C-46888899334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MVP 目标与边界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C63880-A96F-4430-90FB-87B0AC60CCD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先验证一条完整、离线、可重复的汽车导航闭环。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2B70F86-9703-4924-8A8F-68A6DBBEA1B2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30480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7CA9A3D-7532-4947-9099-FF529E4A349F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3048000" cy="952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67F4FD-03A9-4A94-BB82-D7805B6256BE}"/>
              </a:ext>
            </a:extLst>
          </p:cNvPr>
          <p:cNvSpPr>
            <a:spLocks noGrp="1"/>
          </p:cNvSpPr>
          <p:nvPr/>
        </p:nvSpPr>
        <p:spPr>
          <a:xfrm>
            <a:off x="933450" y="2428875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本阶段已纳入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A0E963-2788-4D69-B70A-7A60FA610CB2}"/>
              </a:ext>
            </a:extLst>
          </p:cNvPr>
          <p:cNvSpPr>
            <a:spLocks noGrp="1"/>
          </p:cNvSpPr>
          <p:nvPr/>
        </p:nvSpPr>
        <p:spPr>
          <a:xfrm>
            <a:off x="933450" y="3048000"/>
            <a:ext cx="253365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离线路线规划</a:t>
            </a:r>
          </a:p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离线地图渲染</a:t>
            </a:r>
          </a:p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模拟轨迹回放</a:t>
            </a:r>
          </a:p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道路吸附与偏航重算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024DBDD-1860-449E-ADA2-3A523FE303BD}"/>
              </a:ext>
            </a:extLst>
          </p:cNvPr>
          <p:cNvSpPr>
            <a:spLocks noGrp="1"/>
          </p:cNvSpPr>
          <p:nvPr/>
        </p:nvSpPr>
        <p:spPr>
          <a:xfrm>
            <a:off x="4343400" y="2047875"/>
            <a:ext cx="30480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AF38421-4483-4340-B568-50EF77E98A80}"/>
              </a:ext>
            </a:extLst>
          </p:cNvPr>
          <p:cNvSpPr>
            <a:spLocks noGrp="1"/>
          </p:cNvSpPr>
          <p:nvPr/>
        </p:nvSpPr>
        <p:spPr>
          <a:xfrm>
            <a:off x="4343400" y="2047875"/>
            <a:ext cx="3048000" cy="9525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74E489-5990-4CD0-951A-20071435020F}"/>
              </a:ext>
            </a:extLst>
          </p:cNvPr>
          <p:cNvSpPr>
            <a:spLocks noGrp="1"/>
          </p:cNvSpPr>
          <p:nvPr/>
        </p:nvSpPr>
        <p:spPr>
          <a:xfrm>
            <a:off x="4591050" y="2428875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架构原则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BE54D8-F105-4846-A0D2-DB7413035085}"/>
              </a:ext>
            </a:extLst>
          </p:cNvPr>
          <p:cNvSpPr>
            <a:spLocks noGrp="1"/>
          </p:cNvSpPr>
          <p:nvPr/>
        </p:nvSpPr>
        <p:spPr>
          <a:xfrm>
            <a:off x="4591050" y="3048000"/>
            <a:ext cx="253365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本地优先、可复现</a:t>
            </a:r>
          </a:p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WGS-84 统一坐标</a:t>
            </a:r>
          </a:p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/ MapLibre / FastAPI 分层</a:t>
            </a:r>
          </a:p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前端不直接依赖 OSRM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DD4DAD5-D890-43F3-95A3-13DDF1D4286E}"/>
              </a:ext>
            </a:extLst>
          </p:cNvPr>
          <p:cNvSpPr>
            <a:spLocks noGrp="1"/>
          </p:cNvSpPr>
          <p:nvPr/>
        </p:nvSpPr>
        <p:spPr>
          <a:xfrm>
            <a:off x="8001000" y="2047875"/>
            <a:ext cx="30480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703B8E81-F227-403F-8245-63EF0619E57D}"/>
              </a:ext>
            </a:extLst>
          </p:cNvPr>
          <p:cNvSpPr>
            <a:spLocks noGrp="1"/>
          </p:cNvSpPr>
          <p:nvPr/>
        </p:nvSpPr>
        <p:spPr>
          <a:xfrm>
            <a:off x="8001000" y="2047875"/>
            <a:ext cx="3048000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C5FD85-635D-453C-85D6-52BACC776C6C}"/>
              </a:ext>
            </a:extLst>
          </p:cNvPr>
          <p:cNvSpPr>
            <a:spLocks noGrp="1"/>
          </p:cNvSpPr>
          <p:nvPr/>
        </p:nvSpPr>
        <p:spPr>
          <a:xfrm>
            <a:off x="8248650" y="2428875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明确暂不纳入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16B53C-0B79-45CC-8DE7-304132C37B9A}"/>
              </a:ext>
            </a:extLst>
          </p:cNvPr>
          <p:cNvSpPr>
            <a:spLocks noGrp="1"/>
          </p:cNvSpPr>
          <p:nvPr/>
        </p:nvSpPr>
        <p:spPr>
          <a:xfrm>
            <a:off x="8248650" y="3048000"/>
            <a:ext cx="253365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真实 GPS 与车辆 CAN</a:t>
            </a:r>
          </a:p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云地图、实时交通</a:t>
            </a:r>
          </a:p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语音、LLM、OCR</a:t>
            </a:r>
          </a:p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真实用户或车辆轨迹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352B02-00AA-4B21-9A04-CAD08CE7E15F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9906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l">
              <a:buNone/>
              <a:defRPr sz="1350" b="1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这套边界让 MVP 的结果可验证，也为后续硬件与算法接入预留明确接口。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6D3533-B24B-4D5A-80FB-C7370850FC1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20000"/>
          </a:bodyPr>
          <a:lstStyle/>
          <a:p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03</a:t>
            </a:r>
          </a:p>
        </p:txBody>
      </p:sp>
    </p:spTree>
    <p:extLst>
      <p:ext uri="{BB962C8B-B14F-4D97-AF65-F5344CB8AC3E}">
        <p14:creationId xmlns:p14="http://schemas.microsoft.com/office/powerpoint/2010/main" val="604088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4D91B836-F984-4112-ABA2-BC43016705C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8AF678-05D3-47F4-907D-BD075DD9CC0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总体架构：四层分工，导航状态统一输出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2D2E97-B6C2-4547-B199-C6C47A1AC7B2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浏览器、未来 HUD 与车端显示都只消费协调服务发布的导航状态。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408C3A1-44A8-4C76-8BCB-CB3BAB1B5386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190750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C4F4F0A-81F4-4E55-83FE-5B746CAE20F2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F4AB29-67F6-4BFE-8FC3-CB502D5CC625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18669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离线数据构建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CF608B-9EB9-47FC-A9AA-A4C428AC716E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272"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dirty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OSM → OSRM / </a:t>
            </a:r>
            <a:r>
              <a:rPr sz="1200" b="0" dirty="0" err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GeoJSON</a:t>
            </a:r>
            <a:endParaRPr sz="1200" b="0" dirty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3C11C9B-CCD3-4526-A03B-B3458D358A16}"/>
              </a:ext>
            </a:extLst>
          </p:cNvPr>
          <p:cNvSpPr>
            <a:spLocks noGrp="1"/>
          </p:cNvSpPr>
          <p:nvPr/>
        </p:nvSpPr>
        <p:spPr>
          <a:xfrm>
            <a:off x="3457575" y="2095500"/>
            <a:ext cx="2190750" cy="781050"/>
          </a:xfrm>
          <a:prstGeom prst="roundRect">
            <a:avLst>
              <a:gd name="adj" fmla="val 14634"/>
            </a:avLst>
          </a:prstGeom>
          <a:solidFill>
            <a:srgbClr val="EEF6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ADF4D6A-9C7A-4575-93DD-38AF2B5F9EA4}"/>
              </a:ext>
            </a:extLst>
          </p:cNvPr>
          <p:cNvSpPr>
            <a:spLocks noGrp="1"/>
          </p:cNvSpPr>
          <p:nvPr/>
        </p:nvSpPr>
        <p:spPr>
          <a:xfrm>
            <a:off x="3457575" y="209550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C0A986-46A8-4B3D-840F-078547094C4D}"/>
              </a:ext>
            </a:extLst>
          </p:cNvPr>
          <p:cNvSpPr>
            <a:spLocks noGrp="1"/>
          </p:cNvSpPr>
          <p:nvPr/>
        </p:nvSpPr>
        <p:spPr>
          <a:xfrm>
            <a:off x="3629025" y="2238375"/>
            <a:ext cx="18669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路由引擎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00B3E7-BED5-44EB-80B1-5249AE27C822}"/>
              </a:ext>
            </a:extLst>
          </p:cNvPr>
          <p:cNvSpPr>
            <a:spLocks noGrp="1"/>
          </p:cNvSpPr>
          <p:nvPr/>
        </p:nvSpPr>
        <p:spPr>
          <a:xfrm>
            <a:off x="3629025" y="24765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路线、最近道路、匹配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1F2CBC2-6009-4360-9D1D-2D4A4FD48891}"/>
              </a:ext>
            </a:extLst>
          </p:cNvPr>
          <p:cNvSpPr>
            <a:spLocks noGrp="1"/>
          </p:cNvSpPr>
          <p:nvPr/>
        </p:nvSpPr>
        <p:spPr>
          <a:xfrm>
            <a:off x="6229350" y="2095500"/>
            <a:ext cx="2476500" cy="781050"/>
          </a:xfrm>
          <a:prstGeom prst="roundRect">
            <a:avLst>
              <a:gd name="adj" fmla="val 14634"/>
            </a:avLst>
          </a:prstGeom>
          <a:solidFill>
            <a:srgbClr val="EEF9F5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96D0175-273B-4A1A-B3FB-275145690993}"/>
              </a:ext>
            </a:extLst>
          </p:cNvPr>
          <p:cNvSpPr>
            <a:spLocks noGrp="1"/>
          </p:cNvSpPr>
          <p:nvPr/>
        </p:nvSpPr>
        <p:spPr>
          <a:xfrm>
            <a:off x="6229350" y="209550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21C28F-4BE4-4B53-BE99-676718FC1EBF}"/>
              </a:ext>
            </a:extLst>
          </p:cNvPr>
          <p:cNvSpPr>
            <a:spLocks noGrp="1"/>
          </p:cNvSpPr>
          <p:nvPr/>
        </p:nvSpPr>
        <p:spPr>
          <a:xfrm>
            <a:off x="6400800" y="2238375"/>
            <a:ext cx="21526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FastAPI 协调层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A47D84-7491-446E-A769-C1C5C4F4F26B}"/>
              </a:ext>
            </a:extLst>
          </p:cNvPr>
          <p:cNvSpPr>
            <a:spLocks noGrp="1"/>
          </p:cNvSpPr>
          <p:nvPr/>
        </p:nvSpPr>
        <p:spPr>
          <a:xfrm>
            <a:off x="6400800" y="2476500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会话、偏航、状态推送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CFAA6915-85DC-430F-A0B4-0B8AE1679411}"/>
              </a:ext>
            </a:extLst>
          </p:cNvPr>
          <p:cNvSpPr>
            <a:spLocks noGrp="1"/>
          </p:cNvSpPr>
          <p:nvPr/>
        </p:nvSpPr>
        <p:spPr>
          <a:xfrm>
            <a:off x="9286875" y="2095500"/>
            <a:ext cx="2190750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20CBB23-2AC3-4224-8D0A-01F465503EB1}"/>
              </a:ext>
            </a:extLst>
          </p:cNvPr>
          <p:cNvSpPr>
            <a:spLocks noGrp="1"/>
          </p:cNvSpPr>
          <p:nvPr/>
        </p:nvSpPr>
        <p:spPr>
          <a:xfrm>
            <a:off x="9286875" y="209550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32C5FF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E46C92B-7989-439B-8FC7-91B6703EE95E}"/>
              </a:ext>
            </a:extLst>
          </p:cNvPr>
          <p:cNvSpPr>
            <a:spLocks noGrp="1"/>
          </p:cNvSpPr>
          <p:nvPr/>
        </p:nvSpPr>
        <p:spPr>
          <a:xfrm>
            <a:off x="9458325" y="2238375"/>
            <a:ext cx="18669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MapLibre 显示层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A460A1F-637D-4147-9970-337D8715D2EC}"/>
              </a:ext>
            </a:extLst>
          </p:cNvPr>
          <p:cNvSpPr>
            <a:spLocks noGrp="1"/>
          </p:cNvSpPr>
          <p:nvPr/>
        </p:nvSpPr>
        <p:spPr>
          <a:xfrm>
            <a:off x="9458325" y="24765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底图、路线、车标、提示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38B2F439-D238-431A-944E-8D9FA901ED29}"/>
              </a:ext>
            </a:extLst>
          </p:cNvPr>
          <p:cNvSpPr>
            <a:spLocks noGrp="1"/>
          </p:cNvSpPr>
          <p:nvPr/>
        </p:nvSpPr>
        <p:spPr>
          <a:xfrm>
            <a:off x="2876550" y="2486025"/>
            <a:ext cx="51435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1" name="直线连接符 20">
            <a:extLst>
              <a:ext uri="{FF2B5EF4-FFF2-40B4-BE49-F238E27FC236}">
                <a16:creationId xmlns:a16="http://schemas.microsoft.com/office/drawing/2014/main" id="{0EA579E6-91E1-43B4-8DE6-8469A40E7EEF}"/>
              </a:ext>
            </a:extLst>
          </p:cNvPr>
          <p:cNvSpPr>
            <a:spLocks noGrp="1"/>
          </p:cNvSpPr>
          <p:nvPr/>
        </p:nvSpPr>
        <p:spPr>
          <a:xfrm>
            <a:off x="5648325" y="2486025"/>
            <a:ext cx="51435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22" name="直线连接符 21">
            <a:extLst>
              <a:ext uri="{FF2B5EF4-FFF2-40B4-BE49-F238E27FC236}">
                <a16:creationId xmlns:a16="http://schemas.microsoft.com/office/drawing/2014/main" id="{CEE0EB05-3DC4-4BFD-8D5E-963775DB6F96}"/>
              </a:ext>
            </a:extLst>
          </p:cNvPr>
          <p:cNvSpPr>
            <a:spLocks noGrp="1"/>
          </p:cNvSpPr>
          <p:nvPr/>
        </p:nvSpPr>
        <p:spPr>
          <a:xfrm>
            <a:off x="8705850" y="2486025"/>
            <a:ext cx="51435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FBC6B17F-35D7-4CA3-A42B-2F2671B89762}"/>
              </a:ext>
            </a:extLst>
          </p:cNvPr>
          <p:cNvSpPr>
            <a:spLocks noGrp="1"/>
          </p:cNvSpPr>
          <p:nvPr/>
        </p:nvSpPr>
        <p:spPr>
          <a:xfrm>
            <a:off x="1885950" y="4000500"/>
            <a:ext cx="2381250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1CFA243C-504F-4F17-831F-1DFDACD5DEEB}"/>
              </a:ext>
            </a:extLst>
          </p:cNvPr>
          <p:cNvSpPr>
            <a:spLocks noGrp="1"/>
          </p:cNvSpPr>
          <p:nvPr/>
        </p:nvSpPr>
        <p:spPr>
          <a:xfrm>
            <a:off x="1885950" y="400050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E85D75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707BB2-02DB-4485-AEC8-4DA7021AD61A}"/>
              </a:ext>
            </a:extLst>
          </p:cNvPr>
          <p:cNvSpPr>
            <a:spLocks noGrp="1"/>
          </p:cNvSpPr>
          <p:nvPr/>
        </p:nvSpPr>
        <p:spPr>
          <a:xfrm>
            <a:off x="2057400" y="4143375"/>
            <a:ext cx="20574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轨迹来源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612F3A2-D6AF-4F27-921C-131457585101}"/>
              </a:ext>
            </a:extLst>
          </p:cNvPr>
          <p:cNvSpPr>
            <a:spLocks noGrp="1"/>
          </p:cNvSpPr>
          <p:nvPr/>
        </p:nvSpPr>
        <p:spPr>
          <a:xfrm>
            <a:off x="2057400" y="436245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889" lnSpcReduction="20000"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当前：JSON 回放</a:t>
            </a:r>
          </a:p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后续：iOS GPS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F3C3DB17-1055-4746-805B-6EC26BB5EEF7}"/>
              </a:ext>
            </a:extLst>
          </p:cNvPr>
          <p:cNvSpPr>
            <a:spLocks noGrp="1"/>
          </p:cNvSpPr>
          <p:nvPr/>
        </p:nvSpPr>
        <p:spPr>
          <a:xfrm>
            <a:off x="5372100" y="4000500"/>
            <a:ext cx="2857500" cy="781050"/>
          </a:xfrm>
          <a:prstGeom prst="roundRect">
            <a:avLst>
              <a:gd name="adj" fmla="val 14634"/>
            </a:avLst>
          </a:prstGeom>
          <a:solidFill>
            <a:srgbClr val="EEF6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1BFED2A-FCA4-45B2-908C-A299F3222C4C}"/>
              </a:ext>
            </a:extLst>
          </p:cNvPr>
          <p:cNvSpPr>
            <a:spLocks noGrp="1"/>
          </p:cNvSpPr>
          <p:nvPr/>
        </p:nvSpPr>
        <p:spPr>
          <a:xfrm>
            <a:off x="5372100" y="400050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4B3E8C-0767-4F87-B95F-9FFCC56ABF44}"/>
              </a:ext>
            </a:extLst>
          </p:cNvPr>
          <p:cNvSpPr>
            <a:spLocks noGrp="1"/>
          </p:cNvSpPr>
          <p:nvPr/>
        </p:nvSpPr>
        <p:spPr>
          <a:xfrm>
            <a:off x="5543550" y="4143375"/>
            <a:ext cx="25336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导航状态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CC2144-7DAD-4D2E-A2C7-998ACAB57E24}"/>
              </a:ext>
            </a:extLst>
          </p:cNvPr>
          <p:cNvSpPr>
            <a:spLocks noGrp="1"/>
          </p:cNvSpPr>
          <p:nvPr/>
        </p:nvSpPr>
        <p:spPr>
          <a:xfrm>
            <a:off x="5543550" y="4362450"/>
            <a:ext cx="2571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匹配位置、进度、下一动作、偏航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E01C30FC-C976-4AF9-9BD0-4CEC4D8931EC}"/>
              </a:ext>
            </a:extLst>
          </p:cNvPr>
          <p:cNvSpPr>
            <a:spLocks noGrp="1"/>
          </p:cNvSpPr>
          <p:nvPr/>
        </p:nvSpPr>
        <p:spPr>
          <a:xfrm>
            <a:off x="9144000" y="4000500"/>
            <a:ext cx="2381250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7A1EC2FD-44BB-4D92-A3BF-AABDAD3D1935}"/>
              </a:ext>
            </a:extLst>
          </p:cNvPr>
          <p:cNvSpPr>
            <a:spLocks noGrp="1"/>
          </p:cNvSpPr>
          <p:nvPr/>
        </p:nvSpPr>
        <p:spPr>
          <a:xfrm>
            <a:off x="9144000" y="400050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32C5FF"/>
          </a:solidFill>
          <a:ln w="0">
            <a:noFill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63BCCB6-AF38-423A-B8EC-4CD074080E85}"/>
              </a:ext>
            </a:extLst>
          </p:cNvPr>
          <p:cNvSpPr>
            <a:spLocks noGrp="1"/>
          </p:cNvSpPr>
          <p:nvPr/>
        </p:nvSpPr>
        <p:spPr>
          <a:xfrm>
            <a:off x="9315450" y="4143375"/>
            <a:ext cx="20574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显示终端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683D2B-B058-4757-A8BB-B0FF041B431A}"/>
              </a:ext>
            </a:extLst>
          </p:cNvPr>
          <p:cNvSpPr>
            <a:spLocks noGrp="1"/>
          </p:cNvSpPr>
          <p:nvPr/>
        </p:nvSpPr>
        <p:spPr>
          <a:xfrm>
            <a:off x="9315450" y="436245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889" lnSpcReduction="20000"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当前：本地 Web</a:t>
            </a:r>
          </a:p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后续：AR-HUD / 车端</a:t>
            </a:r>
          </a:p>
        </p:txBody>
      </p:sp>
      <p:sp>
        <p:nvSpPr>
          <p:cNvPr id="35" name="直线连接符 34">
            <a:extLst>
              <a:ext uri="{FF2B5EF4-FFF2-40B4-BE49-F238E27FC236}">
                <a16:creationId xmlns:a16="http://schemas.microsoft.com/office/drawing/2014/main" id="{DD9CC2FE-9BFF-4786-8EEF-82AEB5740B59}"/>
              </a:ext>
            </a:extLst>
          </p:cNvPr>
          <p:cNvSpPr>
            <a:spLocks noGrp="1"/>
          </p:cNvSpPr>
          <p:nvPr/>
        </p:nvSpPr>
        <p:spPr>
          <a:xfrm>
            <a:off x="4267200" y="4391025"/>
            <a:ext cx="1028700" cy="0"/>
          </a:xfrm>
          <a:prstGeom prst="line">
            <a:avLst/>
          </a:prstGeom>
          <a:noFill/>
          <a:ln w="19050">
            <a:solidFill>
              <a:srgbClr val="E85D75"/>
            </a:solidFill>
            <a:prstDash val="solid"/>
          </a:ln>
        </p:spPr>
      </p:sp>
      <p:sp>
        <p:nvSpPr>
          <p:cNvPr id="36" name="直线连接符 35">
            <a:extLst>
              <a:ext uri="{FF2B5EF4-FFF2-40B4-BE49-F238E27FC236}">
                <a16:creationId xmlns:a16="http://schemas.microsoft.com/office/drawing/2014/main" id="{DA7FD7A4-1D99-4329-BDE0-ED9948C72695}"/>
              </a:ext>
            </a:extLst>
          </p:cNvPr>
          <p:cNvSpPr>
            <a:spLocks noGrp="1"/>
          </p:cNvSpPr>
          <p:nvPr/>
        </p:nvSpPr>
        <p:spPr>
          <a:xfrm>
            <a:off x="8229600" y="4391025"/>
            <a:ext cx="8382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217608B9-7063-4BD2-BCB5-3BF15BB35605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10820400" cy="514350"/>
          </a:xfrm>
          <a:prstGeom prst="roundRect">
            <a:avLst>
              <a:gd name="adj" fmla="val 22222"/>
            </a:avLst>
          </a:prstGeom>
          <a:solidFill>
            <a:srgbClr val="E8F3FF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4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关键边界：OSRM 只负责路由与路网查询；MapLibre 只负责显示；FastAPI 负责把位置变成可消费的导航状态。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B291BA6-411E-435F-882E-0030BF9CDED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20000"/>
          </a:bodyPr>
          <a:lstStyle/>
          <a:p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04</a:t>
            </a:r>
          </a:p>
        </p:txBody>
      </p:sp>
    </p:spTree>
    <p:extLst>
      <p:ext uri="{BB962C8B-B14F-4D97-AF65-F5344CB8AC3E}">
        <p14:creationId xmlns:p14="http://schemas.microsoft.com/office/powerpoint/2010/main" val="1173898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0B356FAF-C5C0-474B-ABC2-4315110E96D3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A3309A-00C7-4AED-9B60-7AEC6244842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开源基座：复用成熟能力，保留业务边界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25C007-C397-4E63-AA0E-1A52D23E93DB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不是从零实现路由、地图渲染或 API 框架，而是在适配层实现导航业务规则。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1088571-85CA-4E53-90BB-339DF7516191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08204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A201740-48DF-4E4B-AB1C-676A752F0CC8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85725" cy="99060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ED8454-1120-450D-BC6A-ADF6DD276109}"/>
              </a:ext>
            </a:extLst>
          </p:cNvPr>
          <p:cNvSpPr>
            <a:spLocks noGrp="1"/>
          </p:cNvSpPr>
          <p:nvPr/>
        </p:nvSpPr>
        <p:spPr>
          <a:xfrm>
            <a:off x="1000125" y="2162175"/>
            <a:ext cx="1762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913" lnSpcReduction="20000"/>
          </a:bodyPr>
          <a:lstStyle/>
          <a:p>
            <a:pPr algn="l">
              <a:buNone/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OSRM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B07135-6973-452A-BA07-084492A5F2B7}"/>
              </a:ext>
            </a:extLst>
          </p:cNvPr>
          <p:cNvSpPr>
            <a:spLocks noGrp="1"/>
          </p:cNvSpPr>
          <p:nvPr/>
        </p:nvSpPr>
        <p:spPr>
          <a:xfrm>
            <a:off x="2762250" y="2124075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高性能开源路由引擎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F68C27-B275-4CAD-A265-2BB93966F0FE}"/>
              </a:ext>
            </a:extLst>
          </p:cNvPr>
          <p:cNvSpPr>
            <a:spLocks noGrp="1"/>
          </p:cNvSpPr>
          <p:nvPr/>
        </p:nvSpPr>
        <p:spPr>
          <a:xfrm>
            <a:off x="5429250" y="211455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汽车 profile、Route / Nearest / Match 能力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D473B83-A51E-461B-B20E-8348A85BDC72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108204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EFCB451-24C0-483E-B5A0-E0A9FA1283E0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85725" cy="9906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6EF9FE-D409-4375-A646-A2118C690FD9}"/>
              </a:ext>
            </a:extLst>
          </p:cNvPr>
          <p:cNvSpPr>
            <a:spLocks noGrp="1"/>
          </p:cNvSpPr>
          <p:nvPr/>
        </p:nvSpPr>
        <p:spPr>
          <a:xfrm>
            <a:off x="1000125" y="3400425"/>
            <a:ext cx="1762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913" lnSpcReduction="20000"/>
          </a:bodyPr>
          <a:lstStyle/>
          <a:p>
            <a:pPr algn="l">
              <a:buNone/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MapLibre GL JS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1E6452-DD7C-477D-AD90-844432560F87}"/>
              </a:ext>
            </a:extLst>
          </p:cNvPr>
          <p:cNvSpPr>
            <a:spLocks noGrp="1"/>
          </p:cNvSpPr>
          <p:nvPr/>
        </p:nvSpPr>
        <p:spPr>
          <a:xfrm>
            <a:off x="2762250" y="3362325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浏览器端开源地图渲染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078ECD-58E7-4B94-998B-B1A646455960}"/>
              </a:ext>
            </a:extLst>
          </p:cNvPr>
          <p:cNvSpPr>
            <a:spLocks noGrp="1"/>
          </p:cNvSpPr>
          <p:nvPr/>
        </p:nvSpPr>
        <p:spPr>
          <a:xfrm>
            <a:off x="5429250" y="335280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离线 GeoJSON 图层、路线叠加、相机跟随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E0A56619-62B0-40C0-802D-3EBB7C021054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108204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E703060D-719A-4185-A654-FE1A196B09B3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85725" cy="990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A7B477-8F6A-4316-B7DB-C0FA42DB504F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1762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913" lnSpcReduction="20000"/>
          </a:bodyPr>
          <a:lstStyle/>
          <a:p>
            <a:pPr algn="l">
              <a:buNone/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FastAPI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33D97B-A3DC-413C-8D04-6570D0F0E624}"/>
              </a:ext>
            </a:extLst>
          </p:cNvPr>
          <p:cNvSpPr>
            <a:spLocks noGrp="1"/>
          </p:cNvSpPr>
          <p:nvPr/>
        </p:nvSpPr>
        <p:spPr>
          <a:xfrm>
            <a:off x="2762250" y="4600575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Python 服务框架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415C71-7580-4248-BF4B-BEF583AB562B}"/>
              </a:ext>
            </a:extLst>
          </p:cNvPr>
          <p:cNvSpPr>
            <a:spLocks noGrp="1"/>
          </p:cNvSpPr>
          <p:nvPr/>
        </p:nvSpPr>
        <p:spPr>
          <a:xfrm>
            <a:off x="5429250" y="459105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类型化 API、导航会话、WebSocket 状态推送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6A925E-2511-492F-8B96-B0C088A45131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20000"/>
          </a:bodyPr>
          <a:lstStyle/>
          <a:p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05</a:t>
            </a:r>
          </a:p>
        </p:txBody>
      </p:sp>
    </p:spTree>
    <p:extLst>
      <p:ext uri="{BB962C8B-B14F-4D97-AF65-F5344CB8AC3E}">
        <p14:creationId xmlns:p14="http://schemas.microsoft.com/office/powerpoint/2010/main" val="1108628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3586356C-5B15-43D1-BACF-A92E57D27D2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D88695-F97C-4F3A-91AE-8B7DE60D4C8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OSM 数据处理：一份原始地图，两条可追溯的离线产线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9D7AF5-71D1-409D-8810-41D804559035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实验区域为北京局部路网。输入、边界、校验值、构建时间与命令均记录在元数据中。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F720B22-5E92-4BCF-9173-7160BC0FA3B2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0820400" cy="3409950"/>
          </a:xfrm>
          <a:prstGeom prst="roundRect">
            <a:avLst>
              <a:gd name="adj" fmla="val 4469"/>
            </a:avLst>
          </a:prstGeom>
          <a:solidFill>
            <a:srgbClr val="F4F7FB"/>
          </a:solidFill>
          <a:ln w="0">
            <a:noFill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D982E9D-F199-472D-8F85-797C19909653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7C2DDEC-AD03-45D2-896D-49F6435AE788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BE927D-EA24-4C55-B997-1568686A514E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14859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map.osm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152B9C-1DF7-41BB-B52B-CB80FEB33B5B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395" lnSpcReduction="20000"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原始 OSM XML</a:t>
            </a:r>
          </a:p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Git 忽略</a:t>
            </a: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C9CD2C6C-3D3A-4B80-8AA1-513771F831D2}"/>
              </a:ext>
            </a:extLst>
          </p:cNvPr>
          <p:cNvSpPr>
            <a:spLocks noGrp="1"/>
          </p:cNvSpPr>
          <p:nvPr/>
        </p:nvSpPr>
        <p:spPr>
          <a:xfrm>
            <a:off x="2495550" y="2962275"/>
            <a:ext cx="47625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D193B20-F203-41F3-8303-668BF3CF65F3}"/>
              </a:ext>
            </a:extLst>
          </p:cNvPr>
          <p:cNvSpPr>
            <a:spLocks noGrp="1"/>
          </p:cNvSpPr>
          <p:nvPr/>
        </p:nvSpPr>
        <p:spPr>
          <a:xfrm>
            <a:off x="3048000" y="2571750"/>
            <a:ext cx="2381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9DEA656-347B-4CF4-8E56-F0FE04016EEA}"/>
              </a:ext>
            </a:extLst>
          </p:cNvPr>
          <p:cNvSpPr>
            <a:spLocks noGrp="1"/>
          </p:cNvSpPr>
          <p:nvPr/>
        </p:nvSpPr>
        <p:spPr>
          <a:xfrm>
            <a:off x="3048000" y="2571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8AA470-1A58-4DF1-9CD9-D934CD207979}"/>
              </a:ext>
            </a:extLst>
          </p:cNvPr>
          <p:cNvSpPr>
            <a:spLocks noGrp="1"/>
          </p:cNvSpPr>
          <p:nvPr/>
        </p:nvSpPr>
        <p:spPr>
          <a:xfrm>
            <a:off x="3219450" y="2714625"/>
            <a:ext cx="20574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MLD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0701E7-DCF9-4324-AFB6-A13E5D878F05}"/>
              </a:ext>
            </a:extLst>
          </p:cNvPr>
          <p:cNvSpPr>
            <a:spLocks noGrp="1"/>
          </p:cNvSpPr>
          <p:nvPr/>
        </p:nvSpPr>
        <p:spPr>
          <a:xfrm>
            <a:off x="3219450" y="295275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395" lnSpcReduction="20000"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extract → partition → customize</a:t>
            </a:r>
          </a:p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汽车路网查询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E98B6450-B0ED-4967-AF82-205E26E09BD5}"/>
              </a:ext>
            </a:extLst>
          </p:cNvPr>
          <p:cNvSpPr>
            <a:spLocks noGrp="1"/>
          </p:cNvSpPr>
          <p:nvPr/>
        </p:nvSpPr>
        <p:spPr>
          <a:xfrm>
            <a:off x="5429250" y="2962275"/>
            <a:ext cx="59055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97E1F2B7-C083-430F-BB50-96E0D366097E}"/>
              </a:ext>
            </a:extLst>
          </p:cNvPr>
          <p:cNvSpPr>
            <a:spLocks noGrp="1"/>
          </p:cNvSpPr>
          <p:nvPr/>
        </p:nvSpPr>
        <p:spPr>
          <a:xfrm>
            <a:off x="6096000" y="2571750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FDEDE8E5-8916-436D-B534-3AA23682CEF5}"/>
              </a:ext>
            </a:extLst>
          </p:cNvPr>
          <p:cNvSpPr>
            <a:spLocks noGrp="1"/>
          </p:cNvSpPr>
          <p:nvPr/>
        </p:nvSpPr>
        <p:spPr>
          <a:xfrm>
            <a:off x="6096000" y="2571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44B8F1-0D48-4F69-9767-9D21C68402A0}"/>
              </a:ext>
            </a:extLst>
          </p:cNvPr>
          <p:cNvSpPr>
            <a:spLocks noGrp="1"/>
          </p:cNvSpPr>
          <p:nvPr/>
        </p:nvSpPr>
        <p:spPr>
          <a:xfrm>
            <a:off x="6267450" y="2714625"/>
            <a:ext cx="14859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8 类 GeoJSON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35AA212-F36B-4439-A895-42EC5BEBC1CE}"/>
              </a:ext>
            </a:extLst>
          </p:cNvPr>
          <p:cNvSpPr>
            <a:spLocks noGrp="1"/>
          </p:cNvSpPr>
          <p:nvPr/>
        </p:nvSpPr>
        <p:spPr>
          <a:xfrm>
            <a:off x="6267450" y="2952750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63" lnSpcReduction="20000"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 / 建筑 / 水系 / 绿地 / 用地</a:t>
            </a:r>
          </a:p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道路名 / 地点名 / POI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B869BFC0-42CF-4112-9534-26894BD801BE}"/>
              </a:ext>
            </a:extLst>
          </p:cNvPr>
          <p:cNvSpPr>
            <a:spLocks noGrp="1"/>
          </p:cNvSpPr>
          <p:nvPr/>
        </p:nvSpPr>
        <p:spPr>
          <a:xfrm>
            <a:off x="7905750" y="2962275"/>
            <a:ext cx="1447800" cy="0"/>
          </a:xfrm>
          <a:prstGeom prst="line">
            <a:avLst/>
          </a:prstGeom>
          <a:noFill/>
          <a:ln w="19050">
            <a:solidFill>
              <a:srgbClr val="16A085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BDCE5D94-A276-4166-BC30-85BD36855423}"/>
              </a:ext>
            </a:extLst>
          </p:cNvPr>
          <p:cNvSpPr>
            <a:spLocks noGrp="1"/>
          </p:cNvSpPr>
          <p:nvPr/>
        </p:nvSpPr>
        <p:spPr>
          <a:xfrm>
            <a:off x="9429750" y="2571750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7C957616-CCA5-4400-B827-1FFB32626835}"/>
              </a:ext>
            </a:extLst>
          </p:cNvPr>
          <p:cNvSpPr>
            <a:spLocks noGrp="1"/>
          </p:cNvSpPr>
          <p:nvPr/>
        </p:nvSpPr>
        <p:spPr>
          <a:xfrm>
            <a:off x="9429750" y="2571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32C5FF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88F4F4-0B77-4876-B125-17EF2478500A}"/>
              </a:ext>
            </a:extLst>
          </p:cNvPr>
          <p:cNvSpPr>
            <a:spLocks noGrp="1"/>
          </p:cNvSpPr>
          <p:nvPr/>
        </p:nvSpPr>
        <p:spPr>
          <a:xfrm>
            <a:off x="9601200" y="2714625"/>
            <a:ext cx="14859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MapLibre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EEB7C5-6C18-49C1-A7A2-94449545FC87}"/>
              </a:ext>
            </a:extLst>
          </p:cNvPr>
          <p:cNvSpPr>
            <a:spLocks noGrp="1"/>
          </p:cNvSpPr>
          <p:nvPr/>
        </p:nvSpPr>
        <p:spPr>
          <a:xfrm>
            <a:off x="9601200" y="2952750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395" lnSpcReduction="20000"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本地静态加载</a:t>
            </a:r>
          </a:p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不依赖在线瓦片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1D37AC3-82CD-44CE-91E5-1E4FD7DC6FE1}"/>
              </a:ext>
            </a:extLst>
          </p:cNvPr>
          <p:cNvSpPr>
            <a:spLocks noGrp="1"/>
          </p:cNvSpPr>
          <p:nvPr/>
        </p:nvSpPr>
        <p:spPr>
          <a:xfrm>
            <a:off x="1066800" y="4333875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500" lnSpcReduction="10000"/>
          </a:bodyPr>
          <a:lstStyle/>
          <a:p>
            <a:pPr algn="l"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数据治理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E864FFD-98EF-4FAC-ADF1-A33D87923578}"/>
              </a:ext>
            </a:extLst>
          </p:cNvPr>
          <p:cNvSpPr>
            <a:spLocks noGrp="1"/>
          </p:cNvSpPr>
          <p:nvPr/>
        </p:nvSpPr>
        <p:spPr>
          <a:xfrm>
            <a:off x="2590800" y="4333875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 lnSpcReduction="20000"/>
          </a:bodyPr>
          <a:lstStyle/>
          <a:p>
            <a:pPr algn="l">
              <a:buNone/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输入 SHA-256 · 地图边界 · 构建 UTC 时间 · 工具版本 · 完整命令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ED05EC-E255-4266-9D88-217A47CA8FEC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当前实验范围：39.86864–39.90006 N，116.36676–116.41706 E。原始 OSM、OSRM 文件、MBTiles 均不提交 Git。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D8EBE72-854C-4D38-A9FA-5E9B853D72D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20000"/>
          </a:bodyPr>
          <a:lstStyle/>
          <a:p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06</a:t>
            </a:r>
          </a:p>
        </p:txBody>
      </p:sp>
    </p:spTree>
    <p:extLst>
      <p:ext uri="{BB962C8B-B14F-4D97-AF65-F5344CB8AC3E}">
        <p14:creationId xmlns:p14="http://schemas.microsoft.com/office/powerpoint/2010/main" val="290930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5FFC2C31-9E6A-4B09-A045-E644D1C8D24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A4EB16-65E8-4658-8CFD-67144E38C65E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离线可视化：以主题 GeoJSON 降低 MVP 复杂度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7EC8DC-8265-4CA3-AA62-298D217DE74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先交付可读、可离线的底图与导航叠加；地图规模扩大后无缝替换为 MBTiles 矢量瓦片。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E333CA81-264D-49FD-A9CB-17C3C34AD0AD}"/>
              </a:ext>
            </a:extLst>
          </p:cNvPr>
          <p:cNvSpPr>
            <a:spLocks noGrp="1"/>
          </p:cNvSpPr>
          <p:nvPr/>
        </p:nvSpPr>
        <p:spPr>
          <a:xfrm>
            <a:off x="6210300" y="2143125"/>
            <a:ext cx="49530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38FB8DF3-EB81-4DA1-95F0-0259AE3B8C4D}"/>
              </a:ext>
            </a:extLst>
          </p:cNvPr>
          <p:cNvSpPr>
            <a:spLocks noGrp="1"/>
          </p:cNvSpPr>
          <p:nvPr/>
        </p:nvSpPr>
        <p:spPr>
          <a:xfrm>
            <a:off x="6210300" y="2143125"/>
            <a:ext cx="76200" cy="7429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A8378B-F8E8-42FA-9B73-0A884AF799A0}"/>
              </a:ext>
            </a:extLst>
          </p:cNvPr>
          <p:cNvSpPr>
            <a:spLocks noGrp="1"/>
          </p:cNvSpPr>
          <p:nvPr/>
        </p:nvSpPr>
        <p:spPr>
          <a:xfrm>
            <a:off x="6438900" y="2295525"/>
            <a:ext cx="10477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表达层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CF4067F-A11C-4924-9E73-2F4C79C5F304}"/>
              </a:ext>
            </a:extLst>
          </p:cNvPr>
          <p:cNvSpPr>
            <a:spLocks noGrp="1"/>
          </p:cNvSpPr>
          <p:nvPr/>
        </p:nvSpPr>
        <p:spPr>
          <a:xfrm>
            <a:off x="7524750" y="226695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道路、建筑、水系、绿地、用地与标签分层渲染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4BFCEEC5-8F66-4048-A2AE-5700545822C6}"/>
              </a:ext>
            </a:extLst>
          </p:cNvPr>
          <p:cNvSpPr>
            <a:spLocks noGrp="1"/>
          </p:cNvSpPr>
          <p:nvPr/>
        </p:nvSpPr>
        <p:spPr>
          <a:xfrm>
            <a:off x="6210300" y="3143250"/>
            <a:ext cx="49530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2862F802-C1B4-453A-8465-26288C5A7D17}"/>
              </a:ext>
            </a:extLst>
          </p:cNvPr>
          <p:cNvSpPr>
            <a:spLocks noGrp="1"/>
          </p:cNvSpPr>
          <p:nvPr/>
        </p:nvSpPr>
        <p:spPr>
          <a:xfrm>
            <a:off x="6210300" y="3143250"/>
            <a:ext cx="76200" cy="74295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0AA786C-DCA4-436F-B99D-A3A522870B68}"/>
              </a:ext>
            </a:extLst>
          </p:cNvPr>
          <p:cNvSpPr>
            <a:spLocks noGrp="1"/>
          </p:cNvSpPr>
          <p:nvPr/>
        </p:nvSpPr>
        <p:spPr>
          <a:xfrm>
            <a:off x="6438900" y="3295650"/>
            <a:ext cx="10477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导航层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1F391E-B9F4-4C4B-B41B-8ABBB7F36B75}"/>
              </a:ext>
            </a:extLst>
          </p:cNvPr>
          <p:cNvSpPr>
            <a:spLocks noGrp="1"/>
          </p:cNvSpPr>
          <p:nvPr/>
        </p:nvSpPr>
        <p:spPr>
          <a:xfrm>
            <a:off x="7524750" y="3267075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主路线高亮、已通过路线灰化、箭头、旋转车标、下一转向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8E6ECC14-3273-4274-B434-F4C345BA0311}"/>
              </a:ext>
            </a:extLst>
          </p:cNvPr>
          <p:cNvSpPr>
            <a:spLocks noGrp="1"/>
          </p:cNvSpPr>
          <p:nvPr/>
        </p:nvSpPr>
        <p:spPr>
          <a:xfrm>
            <a:off x="6210300" y="4143375"/>
            <a:ext cx="49530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00C2F270-C266-43B7-8B10-77C8771A9283}"/>
              </a:ext>
            </a:extLst>
          </p:cNvPr>
          <p:cNvSpPr>
            <a:spLocks noGrp="1"/>
          </p:cNvSpPr>
          <p:nvPr/>
        </p:nvSpPr>
        <p:spPr>
          <a:xfrm>
            <a:off x="6210300" y="4143375"/>
            <a:ext cx="76200" cy="7429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8FE4FF-5396-4969-B714-8DACCB3B1E2D}"/>
              </a:ext>
            </a:extLst>
          </p:cNvPr>
          <p:cNvSpPr>
            <a:spLocks noGrp="1"/>
          </p:cNvSpPr>
          <p:nvPr/>
        </p:nvSpPr>
        <p:spPr>
          <a:xfrm>
            <a:off x="6438900" y="4295775"/>
            <a:ext cx="10477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性能路径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ED8FBC-258B-4AE4-87B4-9EDD4DFE1949}"/>
              </a:ext>
            </a:extLst>
          </p:cNvPr>
          <p:cNvSpPr>
            <a:spLocks noGrp="1"/>
          </p:cNvSpPr>
          <p:nvPr/>
        </p:nvSpPr>
        <p:spPr>
          <a:xfrm>
            <a:off x="7524750" y="426720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当前主题 GeoJSON；更大范围与高缩放级别转 MBTiles / 矢量瓦片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74BED47-A5DD-424D-AEFF-4B04C1B7D6EB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优化原则：不为当前约 10 MB 的实验地图提前引入 PBF / MBTiles 转换链复杂度。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9421DA0-71B3-46F7-A4E5-15527D753EE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20000"/>
          </a:bodyPr>
          <a:lstStyle/>
          <a:p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07</a:t>
            </a:r>
          </a:p>
        </p:txBody>
      </p:sp>
      <p:pic>
        <p:nvPicPr>
          <p:cNvPr id="48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41" y="2076929"/>
            <a:ext cx="5435009" cy="291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6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C50286D6-9D07-421C-A460-6702BB336BB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478AD0-DB7F-4CE7-92D1-86B6AACA0EC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MVP 当前成果：离线导航闭环已经可演示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B44D48-CC12-40B6-800E-E655C4913600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从选点到到达、从偏航到重新规划，均可在本地 Docker 环境复现。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191032A-DF4D-4FD9-A1DA-7375F1139289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762125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7F79FDF-8695-43BC-B52E-686452F2C4E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16D73A-1654-40CF-A87B-6D6456780C61}"/>
              </a:ext>
            </a:extLst>
          </p:cNvPr>
          <p:cNvSpPr>
            <a:spLocks noGrp="1"/>
          </p:cNvSpPr>
          <p:nvPr/>
        </p:nvSpPr>
        <p:spPr>
          <a:xfrm>
            <a:off x="857250" y="25241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选择起终点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017DB5-0818-4541-BDAB-4F610F1FEFCC}"/>
              </a:ext>
            </a:extLst>
          </p:cNvPr>
          <p:cNvSpPr>
            <a:spLocks noGrp="1"/>
          </p:cNvSpPr>
          <p:nvPr/>
        </p:nvSpPr>
        <p:spPr>
          <a:xfrm>
            <a:off x="857250" y="2743200"/>
            <a:ext cx="1476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59"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地图点击或预置端点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FCEE5877-715D-442D-8902-E8D1E5A9BE57}"/>
              </a:ext>
            </a:extLst>
          </p:cNvPr>
          <p:cNvSpPr>
            <a:spLocks noGrp="1"/>
          </p:cNvSpPr>
          <p:nvPr/>
        </p:nvSpPr>
        <p:spPr>
          <a:xfrm>
            <a:off x="2447925" y="2771775"/>
            <a:ext cx="352425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A808915-AE69-4F56-B0EA-8C6AF4390210}"/>
              </a:ext>
            </a:extLst>
          </p:cNvPr>
          <p:cNvSpPr>
            <a:spLocks noGrp="1"/>
          </p:cNvSpPr>
          <p:nvPr/>
        </p:nvSpPr>
        <p:spPr>
          <a:xfrm>
            <a:off x="2876550" y="2381250"/>
            <a:ext cx="1762125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B53C922-F3B9-4AF1-866C-9C9D96279BD1}"/>
              </a:ext>
            </a:extLst>
          </p:cNvPr>
          <p:cNvSpPr>
            <a:spLocks noGrp="1"/>
          </p:cNvSpPr>
          <p:nvPr/>
        </p:nvSpPr>
        <p:spPr>
          <a:xfrm>
            <a:off x="287655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C0D4EB-1226-43B9-98DD-C60D7490B47B}"/>
              </a:ext>
            </a:extLst>
          </p:cNvPr>
          <p:cNvSpPr>
            <a:spLocks noGrp="1"/>
          </p:cNvSpPr>
          <p:nvPr/>
        </p:nvSpPr>
        <p:spPr>
          <a:xfrm>
            <a:off x="3048000" y="25241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路线规划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50CFCF-36CA-45A1-941F-9269E2240AC6}"/>
              </a:ext>
            </a:extLst>
          </p:cNvPr>
          <p:cNvSpPr>
            <a:spLocks noGrp="1"/>
          </p:cNvSpPr>
          <p:nvPr/>
        </p:nvSpPr>
        <p:spPr>
          <a:xfrm>
            <a:off x="3048000" y="2743200"/>
            <a:ext cx="1476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178" lnSpcReduction="10000"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距离、时长、逐步转向</a:t>
            </a:r>
          </a:p>
        </p:txBody>
      </p:sp>
      <p:sp>
        <p:nvSpPr>
          <p:cNvPr id="13" name="直线连接符 12">
            <a:extLst>
              <a:ext uri="{FF2B5EF4-FFF2-40B4-BE49-F238E27FC236}">
                <a16:creationId xmlns:a16="http://schemas.microsoft.com/office/drawing/2014/main" id="{D00D073B-7754-45C5-8575-90AEBF51BCCD}"/>
              </a:ext>
            </a:extLst>
          </p:cNvPr>
          <p:cNvSpPr>
            <a:spLocks noGrp="1"/>
          </p:cNvSpPr>
          <p:nvPr/>
        </p:nvSpPr>
        <p:spPr>
          <a:xfrm>
            <a:off x="4638675" y="2771775"/>
            <a:ext cx="352425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93C23BD-8A4A-4A11-8306-959E683FFC94}"/>
              </a:ext>
            </a:extLst>
          </p:cNvPr>
          <p:cNvSpPr>
            <a:spLocks noGrp="1"/>
          </p:cNvSpPr>
          <p:nvPr/>
        </p:nvSpPr>
        <p:spPr>
          <a:xfrm>
            <a:off x="5067300" y="2381250"/>
            <a:ext cx="1762125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C936BF5-682A-49D7-AECC-7D06C8253CAA}"/>
              </a:ext>
            </a:extLst>
          </p:cNvPr>
          <p:cNvSpPr>
            <a:spLocks noGrp="1"/>
          </p:cNvSpPr>
          <p:nvPr/>
        </p:nvSpPr>
        <p:spPr>
          <a:xfrm>
            <a:off x="506730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830F4C-E545-4C83-939B-EE77997AA1EE}"/>
              </a:ext>
            </a:extLst>
          </p:cNvPr>
          <p:cNvSpPr>
            <a:spLocks noGrp="1"/>
          </p:cNvSpPr>
          <p:nvPr/>
        </p:nvSpPr>
        <p:spPr>
          <a:xfrm>
            <a:off x="5238750" y="25241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开始模拟回放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D54CD6-5601-483A-AE8E-A96C20CF1CA0}"/>
              </a:ext>
            </a:extLst>
          </p:cNvPr>
          <p:cNvSpPr>
            <a:spLocks noGrp="1"/>
          </p:cNvSpPr>
          <p:nvPr/>
        </p:nvSpPr>
        <p:spPr>
          <a:xfrm>
            <a:off x="5238750" y="2743200"/>
            <a:ext cx="1476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暂停、继续、重播</a:t>
            </a:r>
          </a:p>
        </p:txBody>
      </p:sp>
      <p:sp>
        <p:nvSpPr>
          <p:cNvPr id="18" name="直线连接符 17">
            <a:extLst>
              <a:ext uri="{FF2B5EF4-FFF2-40B4-BE49-F238E27FC236}">
                <a16:creationId xmlns:a16="http://schemas.microsoft.com/office/drawing/2014/main" id="{0B5AA879-B1AC-49C1-BC9F-DC3EF1BD73FB}"/>
              </a:ext>
            </a:extLst>
          </p:cNvPr>
          <p:cNvSpPr>
            <a:spLocks noGrp="1"/>
          </p:cNvSpPr>
          <p:nvPr/>
        </p:nvSpPr>
        <p:spPr>
          <a:xfrm>
            <a:off x="6829425" y="2771775"/>
            <a:ext cx="352425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E3CCA53-D154-4F58-80E2-7940338F3553}"/>
              </a:ext>
            </a:extLst>
          </p:cNvPr>
          <p:cNvSpPr>
            <a:spLocks noGrp="1"/>
          </p:cNvSpPr>
          <p:nvPr/>
        </p:nvSpPr>
        <p:spPr>
          <a:xfrm>
            <a:off x="7258050" y="2381250"/>
            <a:ext cx="1762125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A8F5DCDE-906B-48C9-A39C-3297E1DAC03E}"/>
              </a:ext>
            </a:extLst>
          </p:cNvPr>
          <p:cNvSpPr>
            <a:spLocks noGrp="1"/>
          </p:cNvSpPr>
          <p:nvPr/>
        </p:nvSpPr>
        <p:spPr>
          <a:xfrm>
            <a:off x="725805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7B6F649-7951-4246-A968-FE90A4B13D79}"/>
              </a:ext>
            </a:extLst>
          </p:cNvPr>
          <p:cNvSpPr>
            <a:spLocks noGrp="1"/>
          </p:cNvSpPr>
          <p:nvPr/>
        </p:nvSpPr>
        <p:spPr>
          <a:xfrm>
            <a:off x="7429500" y="25241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5245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道路匹配</a:t>
            </a:r>
          </a:p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与导航状态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FEABE21-84C7-4EC6-98F1-DD9B091DA905}"/>
              </a:ext>
            </a:extLst>
          </p:cNvPr>
          <p:cNvSpPr>
            <a:spLocks noGrp="1"/>
          </p:cNvSpPr>
          <p:nvPr/>
        </p:nvSpPr>
        <p:spPr>
          <a:xfrm>
            <a:off x="7429500" y="2724150"/>
            <a:ext cx="1476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176" lnSpcReduction="20000"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匹配位置、进度、下一动作</a:t>
            </a:r>
          </a:p>
        </p:txBody>
      </p:sp>
      <p:sp>
        <p:nvSpPr>
          <p:cNvPr id="23" name="直线连接符 22">
            <a:extLst>
              <a:ext uri="{FF2B5EF4-FFF2-40B4-BE49-F238E27FC236}">
                <a16:creationId xmlns:a16="http://schemas.microsoft.com/office/drawing/2014/main" id="{F067DFEE-0F2F-485A-864B-A6C9922424DA}"/>
              </a:ext>
            </a:extLst>
          </p:cNvPr>
          <p:cNvSpPr>
            <a:spLocks noGrp="1"/>
          </p:cNvSpPr>
          <p:nvPr/>
        </p:nvSpPr>
        <p:spPr>
          <a:xfrm>
            <a:off x="9020175" y="2771775"/>
            <a:ext cx="352425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09938594-A201-4480-B7C0-28F20A1275B4}"/>
              </a:ext>
            </a:extLst>
          </p:cNvPr>
          <p:cNvSpPr>
            <a:spLocks noGrp="1"/>
          </p:cNvSpPr>
          <p:nvPr/>
        </p:nvSpPr>
        <p:spPr>
          <a:xfrm>
            <a:off x="9448800" y="2381250"/>
            <a:ext cx="1762125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752628A5-CF2D-474D-A276-C24A16B10231}"/>
              </a:ext>
            </a:extLst>
          </p:cNvPr>
          <p:cNvSpPr>
            <a:spLocks noGrp="1"/>
          </p:cNvSpPr>
          <p:nvPr/>
        </p:nvSpPr>
        <p:spPr>
          <a:xfrm>
            <a:off x="944880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E85D75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DAAD16F-5FA5-4B7B-98A7-8B1D6CE142BE}"/>
              </a:ext>
            </a:extLst>
          </p:cNvPr>
          <p:cNvSpPr>
            <a:spLocks noGrp="1"/>
          </p:cNvSpPr>
          <p:nvPr/>
        </p:nvSpPr>
        <p:spPr>
          <a:xfrm>
            <a:off x="9620250" y="25241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到达 / 偏航重算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3782A7E-8360-4599-8C2B-CABA5733A587}"/>
              </a:ext>
            </a:extLst>
          </p:cNvPr>
          <p:cNvSpPr>
            <a:spLocks noGrp="1"/>
          </p:cNvSpPr>
          <p:nvPr/>
        </p:nvSpPr>
        <p:spPr>
          <a:xfrm>
            <a:off x="9620250" y="2743200"/>
            <a:ext cx="1476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替换路线并继续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53491B37-E264-4398-896E-460D1FF87106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10820400" cy="152400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D633177-5F96-49CE-A914-7DAE87CEABB7}"/>
              </a:ext>
            </a:extLst>
          </p:cNvPr>
          <p:cNvSpPr>
            <a:spLocks noGrp="1"/>
          </p:cNvSpPr>
          <p:nvPr/>
        </p:nvSpPr>
        <p:spPr>
          <a:xfrm>
            <a:off x="990600" y="41910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16" lnSpcReduction="20000"/>
          </a:bodyPr>
          <a:lstStyle/>
          <a:p>
            <a:pPr algn="l">
              <a:buNone/>
              <a:defRPr sz="15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当前验证点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15326F6-CF62-4675-A26B-B35CF2CA9DBA}"/>
              </a:ext>
            </a:extLst>
          </p:cNvPr>
          <p:cNvSpPr>
            <a:spLocks noGrp="1"/>
          </p:cNvSpPr>
          <p:nvPr/>
        </p:nvSpPr>
        <p:spPr>
          <a:xfrm>
            <a:off x="3143250" y="41052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正常路线  ·  无可达路线  ·  路网外定位点  ·  偏航重算</a:t>
            </a:r>
          </a:p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正常轨迹到达 arrived；偏航轨迹要求恰好触发一次路线替换。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7BFE03C-04B2-421F-AF77-2383E9A91A70}"/>
              </a:ext>
            </a:extLst>
          </p:cNvPr>
          <p:cNvSpPr>
            <a:spLocks noGrp="1"/>
          </p:cNvSpPr>
          <p:nvPr/>
        </p:nvSpPr>
        <p:spPr>
          <a:xfrm>
            <a:off x="990600" y="50482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309" lnSpcReduction="20000"/>
          </a:bodyPr>
          <a:lstStyle/>
          <a:p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运行方式：bash scripts/demo.sh 启动本地三容器；bash scripts/smoke_test.sh 验证闭环。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96A16C-50BF-4533-A3C3-7603ABF827F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1852" lnSpcReduction="20000"/>
          </a:bodyPr>
          <a:lstStyle/>
          <a:p>
            <a:pPr algn="r">
              <a:buNone/>
              <a:defRPr sz="1125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08</a:t>
            </a:r>
          </a:p>
        </p:txBody>
      </p:sp>
    </p:spTree>
    <p:extLst>
      <p:ext uri="{BB962C8B-B14F-4D97-AF65-F5344CB8AC3E}">
        <p14:creationId xmlns:p14="http://schemas.microsoft.com/office/powerpoint/2010/main" val="637621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A1AFC3AD-FDD6-44CF-A05B-4AA3F376DEE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DF4980-EF9F-44B4-8E8E-93CBD24A3F8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实车路径一：通过 iOS 接入 GPS，保持导航内核不变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114D3E-AAEF-43D2-9AA3-B88BA603F219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建议把 iPhone 视为定位传感器与上行网关，先解决稳定传输、时间同步与断连恢复。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7DB2A67-4FF8-49E6-A973-180BE6165E63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476500" cy="781050"/>
          </a:xfrm>
          <a:prstGeom prst="roundRect">
            <a:avLst>
              <a:gd name="adj" fmla="val 14634"/>
            </a:avLst>
          </a:prstGeom>
          <a:solidFill>
            <a:srgbClr val="EEF6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D84DFDF-9741-4B66-BA84-AC4F01C5E2DB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F42243-31C8-4CBF-8289-4B42475CF682}"/>
              </a:ext>
            </a:extLst>
          </p:cNvPr>
          <p:cNvSpPr>
            <a:spLocks noGrp="1"/>
          </p:cNvSpPr>
          <p:nvPr/>
        </p:nvSpPr>
        <p:spPr>
          <a:xfrm>
            <a:off x="857250" y="2524125"/>
            <a:ext cx="21526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iPhone / iOS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623A69-9AA8-4E7B-8E1E-C4C7CCA4617F}"/>
              </a:ext>
            </a:extLst>
          </p:cNvPr>
          <p:cNvSpPr>
            <a:spLocks noGrp="1"/>
          </p:cNvSpPr>
          <p:nvPr/>
        </p:nvSpPr>
        <p:spPr>
          <a:xfrm>
            <a:off x="857250" y="27432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59" lnSpcReduction="20000"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Core Location：WGS-84</a:t>
            </a:r>
            <a:endParaRPr sz="400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位置、航向、速度、精度、时间</a:t>
            </a:r>
            <a:endParaRPr sz="400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6ED99DC2-A3C8-4E05-AFFB-2D7495BA6085}"/>
              </a:ext>
            </a:extLst>
          </p:cNvPr>
          <p:cNvSpPr>
            <a:spLocks noGrp="1"/>
          </p:cNvSpPr>
          <p:nvPr/>
        </p:nvSpPr>
        <p:spPr>
          <a:xfrm>
            <a:off x="4000500" y="2381250"/>
            <a:ext cx="2667000" cy="781050"/>
          </a:xfrm>
          <a:prstGeom prst="roundRect">
            <a:avLst>
              <a:gd name="adj" fmla="val 14634"/>
            </a:avLst>
          </a:prstGeom>
          <a:solidFill>
            <a:srgbClr val="FFF5E8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142C06B-B131-4F0A-9806-F34D4416E015}"/>
              </a:ext>
            </a:extLst>
          </p:cNvPr>
          <p:cNvSpPr>
            <a:spLocks noGrp="1"/>
          </p:cNvSpPr>
          <p:nvPr/>
        </p:nvSpPr>
        <p:spPr>
          <a:xfrm>
            <a:off x="400050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C80F61-5DC2-491B-9B0A-9C01DDFC6155}"/>
              </a:ext>
            </a:extLst>
          </p:cNvPr>
          <p:cNvSpPr>
            <a:spLocks noGrp="1"/>
          </p:cNvSpPr>
          <p:nvPr/>
        </p:nvSpPr>
        <p:spPr>
          <a:xfrm>
            <a:off x="4171950" y="2524125"/>
            <a:ext cx="2343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传输适配层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D71D41-ED42-45F8-8802-AD7928BB9966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176" lnSpcReduction="20000"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局域网 WebSocket 优先</a:t>
            </a:r>
          </a:p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序列号、鉴权、心跳、重连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15ABA194-A981-425A-9425-C52A9610E243}"/>
              </a:ext>
            </a:extLst>
          </p:cNvPr>
          <p:cNvSpPr>
            <a:spLocks noGrp="1"/>
          </p:cNvSpPr>
          <p:nvPr/>
        </p:nvSpPr>
        <p:spPr>
          <a:xfrm>
            <a:off x="7620000" y="2381250"/>
            <a:ext cx="2857500" cy="781050"/>
          </a:xfrm>
          <a:prstGeom prst="roundRect">
            <a:avLst>
              <a:gd name="adj" fmla="val 14634"/>
            </a:avLst>
          </a:prstGeom>
          <a:solidFill>
            <a:srgbClr val="EEF9F5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477B834-72ED-4CA7-91C2-0B4A653997DB}"/>
              </a:ext>
            </a:extLst>
          </p:cNvPr>
          <p:cNvSpPr>
            <a:spLocks noGrp="1"/>
          </p:cNvSpPr>
          <p:nvPr/>
        </p:nvSpPr>
        <p:spPr>
          <a:xfrm>
            <a:off x="762000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33D67A-C3C4-498F-8B63-0FCD8AD43694}"/>
              </a:ext>
            </a:extLst>
          </p:cNvPr>
          <p:cNvSpPr>
            <a:spLocks noGrp="1"/>
          </p:cNvSpPr>
          <p:nvPr/>
        </p:nvSpPr>
        <p:spPr>
          <a:xfrm>
            <a:off x="7791450" y="2524125"/>
            <a:ext cx="25336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导航协调层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B199C6F-D81B-4EBC-B243-0A6646548023}"/>
              </a:ext>
            </a:extLst>
          </p:cNvPr>
          <p:cNvSpPr>
            <a:spLocks noGrp="1"/>
          </p:cNvSpPr>
          <p:nvPr/>
        </p:nvSpPr>
        <p:spPr>
          <a:xfrm>
            <a:off x="7791450" y="2743200"/>
            <a:ext cx="2571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176" lnSpcReduction="20000"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字段校验、时序处理</a:t>
            </a:r>
          </a:p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道路吸附、偏航判断</a:t>
            </a:r>
          </a:p>
        </p:txBody>
      </p:sp>
      <p:sp>
        <p:nvSpPr>
          <p:cNvPr id="16" name="直线连接符 15">
            <a:extLst>
              <a:ext uri="{FF2B5EF4-FFF2-40B4-BE49-F238E27FC236}">
                <a16:creationId xmlns:a16="http://schemas.microsoft.com/office/drawing/2014/main" id="{35E82C3E-A823-4094-9A5D-4BB67601A249}"/>
              </a:ext>
            </a:extLst>
          </p:cNvPr>
          <p:cNvSpPr>
            <a:spLocks noGrp="1"/>
          </p:cNvSpPr>
          <p:nvPr/>
        </p:nvSpPr>
        <p:spPr>
          <a:xfrm>
            <a:off x="3162300" y="2771775"/>
            <a:ext cx="7620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BD4593E1-2B6F-4483-AC9F-EF7BB212D16C}"/>
              </a:ext>
            </a:extLst>
          </p:cNvPr>
          <p:cNvSpPr>
            <a:spLocks noGrp="1"/>
          </p:cNvSpPr>
          <p:nvPr/>
        </p:nvSpPr>
        <p:spPr>
          <a:xfrm>
            <a:off x="6667500" y="2771775"/>
            <a:ext cx="8763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9F1046C-10D0-4607-B800-D4CF0BF9AAFD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24765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627C21-A81D-4E95-B2B0-4861FDB5A2F1}"/>
              </a:ext>
            </a:extLst>
          </p:cNvPr>
          <p:cNvSpPr>
            <a:spLocks noGrp="1"/>
          </p:cNvSpPr>
          <p:nvPr/>
        </p:nvSpPr>
        <p:spPr>
          <a:xfrm>
            <a:off x="857250" y="444817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667" lnSpcReduction="20000"/>
          </a:bodyPr>
          <a:lstStyle/>
          <a:p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2BC7DF-937F-4817-9E90-C66F6BC98ED3}"/>
              </a:ext>
            </a:extLst>
          </p:cNvPr>
          <p:cNvSpPr>
            <a:spLocks noGrp="1"/>
          </p:cNvSpPr>
          <p:nvPr/>
        </p:nvSpPr>
        <p:spPr>
          <a:xfrm>
            <a:off x="1209675" y="4419600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 lnSpcReduction="20000"/>
          </a:bodyPr>
          <a:lstStyle/>
          <a:p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定义稳定定位协议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BE77544-7BE2-45B6-825E-11AD48E22991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654" lnSpcReduction="20000"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lat / lon / heading / speed_mps / accuracy_m / timestamp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5B6E8488-8684-4E86-AC63-D18DDCD88B39}"/>
              </a:ext>
            </a:extLst>
          </p:cNvPr>
          <p:cNvSpPr>
            <a:spLocks noGrp="1"/>
          </p:cNvSpPr>
          <p:nvPr/>
        </p:nvSpPr>
        <p:spPr>
          <a:xfrm>
            <a:off x="3390900" y="4286250"/>
            <a:ext cx="24765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FAC755A-46CF-43B9-8F77-79B0D36BB822}"/>
              </a:ext>
            </a:extLst>
          </p:cNvPr>
          <p:cNvSpPr>
            <a:spLocks noGrp="1"/>
          </p:cNvSpPr>
          <p:nvPr/>
        </p:nvSpPr>
        <p:spPr>
          <a:xfrm>
            <a:off x="3562350" y="444817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667" lnSpcReduction="20000"/>
          </a:bodyPr>
          <a:lstStyle/>
          <a:p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48799D-D486-4E5B-AF98-288AEA035624}"/>
              </a:ext>
            </a:extLst>
          </p:cNvPr>
          <p:cNvSpPr>
            <a:spLocks noGrp="1"/>
          </p:cNvSpPr>
          <p:nvPr/>
        </p:nvSpPr>
        <p:spPr>
          <a:xfrm>
            <a:off x="3914775" y="4419600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 lnSpcReduction="20000"/>
          </a:bodyPr>
          <a:lstStyle/>
          <a:p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端到端回放对照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7977734-7925-438D-9242-89F437C7DB6C}"/>
              </a:ext>
            </a:extLst>
          </p:cNvPr>
          <p:cNvSpPr>
            <a:spLocks noGrp="1"/>
          </p:cNvSpPr>
          <p:nvPr/>
        </p:nvSpPr>
        <p:spPr>
          <a:xfrm>
            <a:off x="3562350" y="4762500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763"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同一轨迹输入应产生同一状态序列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A0B45568-DB63-4852-99F9-2525C270DE79}"/>
              </a:ext>
            </a:extLst>
          </p:cNvPr>
          <p:cNvSpPr>
            <a:spLocks noGrp="1"/>
          </p:cNvSpPr>
          <p:nvPr/>
        </p:nvSpPr>
        <p:spPr>
          <a:xfrm>
            <a:off x="6096000" y="4286250"/>
            <a:ext cx="24765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E2A83DD-75CC-4424-9C86-AC551FB01C2A}"/>
              </a:ext>
            </a:extLst>
          </p:cNvPr>
          <p:cNvSpPr>
            <a:spLocks noGrp="1"/>
          </p:cNvSpPr>
          <p:nvPr/>
        </p:nvSpPr>
        <p:spPr>
          <a:xfrm>
            <a:off x="6267450" y="444817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667" lnSpcReduction="20000"/>
          </a:bodyPr>
          <a:lstStyle/>
          <a:p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F31568-60D9-4223-8F2A-81CCE5A79B12}"/>
              </a:ext>
            </a:extLst>
          </p:cNvPr>
          <p:cNvSpPr>
            <a:spLocks noGrp="1"/>
          </p:cNvSpPr>
          <p:nvPr/>
        </p:nvSpPr>
        <p:spPr>
          <a:xfrm>
            <a:off x="6619875" y="4419600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 lnSpcReduction="20000"/>
          </a:bodyPr>
          <a:lstStyle/>
          <a:p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道路匹配上线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8DEA874-094F-4211-B16A-F2092C7DDA81}"/>
              </a:ext>
            </a:extLst>
          </p:cNvPr>
          <p:cNvSpPr>
            <a:spLocks noGrp="1"/>
          </p:cNvSpPr>
          <p:nvPr/>
        </p:nvSpPr>
        <p:spPr>
          <a:xfrm>
            <a:off x="6267450" y="4762500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654" lnSpcReduction="20000"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前端只显示匹配后位置，保留原始点供诊断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BCB5B8F9-84C7-4F75-B79C-E2B1CE7AA369}"/>
              </a:ext>
            </a:extLst>
          </p:cNvPr>
          <p:cNvSpPr>
            <a:spLocks noGrp="1"/>
          </p:cNvSpPr>
          <p:nvPr/>
        </p:nvSpPr>
        <p:spPr>
          <a:xfrm>
            <a:off x="8801100" y="4286250"/>
            <a:ext cx="24765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0897576-EF1C-4FD8-B5E2-4606D93864D8}"/>
              </a:ext>
            </a:extLst>
          </p:cNvPr>
          <p:cNvSpPr>
            <a:spLocks noGrp="1"/>
          </p:cNvSpPr>
          <p:nvPr/>
        </p:nvSpPr>
        <p:spPr>
          <a:xfrm>
            <a:off x="8972550" y="444817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667" lnSpcReduction="20000"/>
          </a:bodyPr>
          <a:lstStyle/>
          <a:p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2A34A59-6A01-4FDB-96F7-718AC2A6F0BC}"/>
              </a:ext>
            </a:extLst>
          </p:cNvPr>
          <p:cNvSpPr>
            <a:spLocks noGrp="1"/>
          </p:cNvSpPr>
          <p:nvPr/>
        </p:nvSpPr>
        <p:spPr>
          <a:xfrm>
            <a:off x="9324975" y="4419600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 lnSpcReduction="20000"/>
          </a:bodyPr>
          <a:lstStyle/>
          <a:p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车端异常处理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7D03612-448A-4616-BF96-A1E4ACBAC5B5}"/>
              </a:ext>
            </a:extLst>
          </p:cNvPr>
          <p:cNvSpPr>
            <a:spLocks noGrp="1"/>
          </p:cNvSpPr>
          <p:nvPr/>
        </p:nvSpPr>
        <p:spPr>
          <a:xfrm>
            <a:off x="8972550" y="4762500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654" lnSpcReduction="20000"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弱网、漂移、断连、低精度与重新获得定位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B2F8B09-C066-4723-A789-C086727EC097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buNone/>
              <a:def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接口原则：iOS 仅替换“定位来源”适配器，不直接驱动地图，不将原始 GPS 写回 OSM。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895ADDC-B8CF-43C0-9156-719C75B2013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20000"/>
          </a:bodyPr>
          <a:lstStyle/>
          <a:p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09</a:t>
            </a:r>
          </a:p>
        </p:txBody>
      </p:sp>
    </p:spTree>
    <p:extLst>
      <p:ext uri="{BB962C8B-B14F-4D97-AF65-F5344CB8AC3E}">
        <p14:creationId xmlns:p14="http://schemas.microsoft.com/office/powerpoint/2010/main" val="1941221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5A54B18C-72DE-4004-B0E9-C3ECD6058AE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E01D2B-0D43-4233-ACFD-1FBFF793B4C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实车路径二：视觉模型作为“确认与感知”能力接入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60D002-B9AE-4449-84AE-1BE8F261DD0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视觉不替代地图路由；它为接近目的地、道路事件或 HUD 提示提供附加证据。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FA37C4E-AD44-433B-8CC6-91F87B885A41}"/>
              </a:ext>
            </a:extLst>
          </p:cNvPr>
          <p:cNvSpPr>
            <a:spLocks noGrp="1"/>
          </p:cNvSpPr>
          <p:nvPr/>
        </p:nvSpPr>
        <p:spPr>
          <a:xfrm>
            <a:off x="685800" y="2180811"/>
            <a:ext cx="2190750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1911CC6-6F72-4F23-9D3D-B51B21229F21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E85D75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D285A8-C76B-4606-B52B-BFE10332558D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8669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相机输入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D2CECC-0D39-44FC-8446-A5C622A20137}"/>
              </a:ext>
            </a:extLst>
          </p:cNvPr>
          <p:cNvSpPr>
            <a:spLocks noGrp="1"/>
          </p:cNvSpPr>
          <p:nvPr/>
        </p:nvSpPr>
        <p:spPr>
          <a:xfrm>
            <a:off x="857250" y="2552700"/>
            <a:ext cx="1905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176" lnSpcReduction="20000"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dirty="0" err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车载或手机相机</a:t>
            </a:r>
            <a:endParaRPr sz="1200" b="0" dirty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dirty="0" err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帧时间戳与设备标识</a:t>
            </a:r>
            <a:endParaRPr sz="1200" b="0" dirty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C85F29C-C9C0-4B70-9514-3D99893AA941}"/>
              </a:ext>
            </a:extLst>
          </p:cNvPr>
          <p:cNvSpPr>
            <a:spLocks noGrp="1"/>
          </p:cNvSpPr>
          <p:nvPr/>
        </p:nvSpPr>
        <p:spPr>
          <a:xfrm>
            <a:off x="3448050" y="2190750"/>
            <a:ext cx="2381250" cy="781050"/>
          </a:xfrm>
          <a:prstGeom prst="roundRect">
            <a:avLst>
              <a:gd name="adj" fmla="val 14634"/>
            </a:avLst>
          </a:prstGeom>
          <a:solidFill>
            <a:srgbClr val="FFF5E8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A89583B-20DD-4577-8306-9A136E041627}"/>
              </a:ext>
            </a:extLst>
          </p:cNvPr>
          <p:cNvSpPr>
            <a:spLocks noGrp="1"/>
          </p:cNvSpPr>
          <p:nvPr/>
        </p:nvSpPr>
        <p:spPr>
          <a:xfrm>
            <a:off x="3448050" y="2190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C7189E-61D0-48B7-B4CD-C9C4969F97F6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0574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视觉推理服务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40F8BA-C34D-414D-9F1C-EDA37C621425}"/>
              </a:ext>
            </a:extLst>
          </p:cNvPr>
          <p:cNvSpPr>
            <a:spLocks noGrp="1"/>
          </p:cNvSpPr>
          <p:nvPr/>
        </p:nvSpPr>
        <p:spPr>
          <a:xfrm>
            <a:off x="3619500" y="255270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176" lnSpcReduction="20000"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检测 / 识别 / 置信度</a:t>
            </a:r>
          </a:p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可本地部署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643CB928-899A-407F-9D2B-901B41A820AF}"/>
              </a:ext>
            </a:extLst>
          </p:cNvPr>
          <p:cNvSpPr>
            <a:spLocks noGrp="1"/>
          </p:cNvSpPr>
          <p:nvPr/>
        </p:nvSpPr>
        <p:spPr>
          <a:xfrm>
            <a:off x="7086600" y="2190750"/>
            <a:ext cx="2381250" cy="781050"/>
          </a:xfrm>
          <a:prstGeom prst="roundRect">
            <a:avLst>
              <a:gd name="adj" fmla="val 14634"/>
            </a:avLst>
          </a:prstGeom>
          <a:solidFill>
            <a:srgbClr val="EEF6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56818889-3E2C-40D8-8B07-39DADB20EE4E}"/>
              </a:ext>
            </a:extLst>
          </p:cNvPr>
          <p:cNvSpPr>
            <a:spLocks noGrp="1"/>
          </p:cNvSpPr>
          <p:nvPr/>
        </p:nvSpPr>
        <p:spPr>
          <a:xfrm>
            <a:off x="7086600" y="2190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CAF43B-1525-4F2A-958C-DA90C10B86B4}"/>
              </a:ext>
            </a:extLst>
          </p:cNvPr>
          <p:cNvSpPr>
            <a:spLocks noGrp="1"/>
          </p:cNvSpPr>
          <p:nvPr/>
        </p:nvSpPr>
        <p:spPr>
          <a:xfrm>
            <a:off x="7258050" y="2333625"/>
            <a:ext cx="20574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事件适配层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973506-C3E2-4A28-8ECA-FD98A6575A03}"/>
              </a:ext>
            </a:extLst>
          </p:cNvPr>
          <p:cNvSpPr>
            <a:spLocks noGrp="1"/>
          </p:cNvSpPr>
          <p:nvPr/>
        </p:nvSpPr>
        <p:spPr>
          <a:xfrm>
            <a:off x="7258050" y="255270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176" lnSpcReduction="20000"/>
          </a:bodyPr>
          <a:lstStyle/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时空对齐、去抖</a:t>
            </a:r>
          </a:p>
          <a:p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限定输出事件模型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FE910C3-89C7-4A56-AB35-FA42B499AB11}"/>
              </a:ext>
            </a:extLst>
          </p:cNvPr>
          <p:cNvSpPr>
            <a:spLocks noGrp="1"/>
          </p:cNvSpPr>
          <p:nvPr/>
        </p:nvSpPr>
        <p:spPr>
          <a:xfrm>
            <a:off x="10020300" y="2190750"/>
            <a:ext cx="1485900" cy="781050"/>
          </a:xfrm>
          <a:prstGeom prst="roundRect">
            <a:avLst>
              <a:gd name="adj" fmla="val 14634"/>
            </a:avLst>
          </a:prstGeom>
          <a:solidFill>
            <a:srgbClr val="EEF9F5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9891BF12-E576-4F75-8320-93ECED6B35B5}"/>
              </a:ext>
            </a:extLst>
          </p:cNvPr>
          <p:cNvSpPr>
            <a:spLocks noGrp="1"/>
          </p:cNvSpPr>
          <p:nvPr/>
        </p:nvSpPr>
        <p:spPr>
          <a:xfrm>
            <a:off x="10020300" y="2190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7D5539-E590-4CD4-B81C-4B63D4F5168C}"/>
              </a:ext>
            </a:extLst>
          </p:cNvPr>
          <p:cNvSpPr>
            <a:spLocks noGrp="1"/>
          </p:cNvSpPr>
          <p:nvPr/>
        </p:nvSpPr>
        <p:spPr>
          <a:xfrm>
            <a:off x="10191750" y="2333625"/>
            <a:ext cx="11620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990" lnSpcReduction="20000"/>
          </a:bodyPr>
          <a:lstStyle/>
          <a:p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导航体验层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A8F5AB0-7C27-42A7-B39E-6626B5876389}"/>
              </a:ext>
            </a:extLst>
          </p:cNvPr>
          <p:cNvSpPr>
            <a:spLocks noGrp="1"/>
          </p:cNvSpPr>
          <p:nvPr/>
        </p:nvSpPr>
        <p:spPr>
          <a:xfrm>
            <a:off x="10191750" y="2552700"/>
            <a:ext cx="12001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317" lnSpcReduction="20000"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到达确认、提示增强</a:t>
            </a:r>
          </a:p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不直接改写路由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63F02C01-EE90-4ADD-891B-E837F05D1C9A}"/>
              </a:ext>
            </a:extLst>
          </p:cNvPr>
          <p:cNvSpPr>
            <a:spLocks noGrp="1"/>
          </p:cNvSpPr>
          <p:nvPr/>
        </p:nvSpPr>
        <p:spPr>
          <a:xfrm>
            <a:off x="2876550" y="2581275"/>
            <a:ext cx="495300" cy="0"/>
          </a:xfrm>
          <a:prstGeom prst="line">
            <a:avLst/>
          </a:prstGeom>
          <a:noFill/>
          <a:ln w="19050">
            <a:solidFill>
              <a:srgbClr val="E85D75"/>
            </a:solidFill>
            <a:prstDash val="solid"/>
          </a:ln>
        </p:spPr>
      </p:sp>
      <p:sp>
        <p:nvSpPr>
          <p:cNvPr id="21" name="直线连接符 20">
            <a:extLst>
              <a:ext uri="{FF2B5EF4-FFF2-40B4-BE49-F238E27FC236}">
                <a16:creationId xmlns:a16="http://schemas.microsoft.com/office/drawing/2014/main" id="{5E605B5C-6DC7-4A52-BE8D-658F04FBBAE1}"/>
              </a:ext>
            </a:extLst>
          </p:cNvPr>
          <p:cNvSpPr>
            <a:spLocks noGrp="1"/>
          </p:cNvSpPr>
          <p:nvPr/>
        </p:nvSpPr>
        <p:spPr>
          <a:xfrm>
            <a:off x="5829300" y="2581275"/>
            <a:ext cx="11811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2" name="直线连接符 21">
            <a:extLst>
              <a:ext uri="{FF2B5EF4-FFF2-40B4-BE49-F238E27FC236}">
                <a16:creationId xmlns:a16="http://schemas.microsoft.com/office/drawing/2014/main" id="{D72B6C48-ABD6-42BF-8F1E-92FE867072EC}"/>
              </a:ext>
            </a:extLst>
          </p:cNvPr>
          <p:cNvSpPr>
            <a:spLocks noGrp="1"/>
          </p:cNvSpPr>
          <p:nvPr/>
        </p:nvSpPr>
        <p:spPr>
          <a:xfrm>
            <a:off x="9467850" y="2581275"/>
            <a:ext cx="47625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9F9A8827-838F-4FEE-A6C3-18D560F13390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0820400" cy="1381125"/>
          </a:xfrm>
          <a:prstGeom prst="roundRect">
            <a:avLst>
              <a:gd name="adj" fmla="val 11034"/>
            </a:avLst>
          </a:prstGeom>
          <a:solidFill>
            <a:srgbClr val="F4F7FB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6125D1-D51F-47E5-B585-2358AD1FC9DA}"/>
              </a:ext>
            </a:extLst>
          </p:cNvPr>
          <p:cNvSpPr>
            <a:spLocks noGrp="1"/>
          </p:cNvSpPr>
          <p:nvPr/>
        </p:nvSpPr>
        <p:spPr>
          <a:xfrm>
            <a:off x="1000125" y="4286250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500" lnSpcReduction="20000"/>
          </a:bodyPr>
          <a:lstStyle/>
          <a:p>
            <a:pPr algn="l">
              <a:buNone/>
              <a:def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优先落地场景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3174F6-7D0F-474C-934E-70D460BFD510}"/>
              </a:ext>
            </a:extLst>
          </p:cNvPr>
          <p:cNvSpPr>
            <a:spLocks noGrp="1"/>
          </p:cNvSpPr>
          <p:nvPr/>
        </p:nvSpPr>
        <p:spPr>
          <a:xfrm>
            <a:off x="3190875" y="42291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接近终点时识别商铺招牌 / 入口，作为“到达确认”的辅助信号。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A6BB007-4E9B-4D36-8FED-20E51D8A3963}"/>
              </a:ext>
            </a:extLst>
          </p:cNvPr>
          <p:cNvSpPr>
            <a:spLocks noGrp="1"/>
          </p:cNvSpPr>
          <p:nvPr/>
        </p:nvSpPr>
        <p:spPr>
          <a:xfrm>
            <a:off x="3190875" y="4714875"/>
            <a:ext cx="7143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523"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约束：只输出结构化感知事件与置信度；导航会话决定是否展示或触发业务动作；保留人工验证与失败降级。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2A2F9E-A3ED-47F7-B5C6-279B1E5B003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20000"/>
          </a:bodyPr>
          <a:lstStyle/>
          <a:p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10</a:t>
            </a:r>
          </a:p>
        </p:txBody>
      </p:sp>
    </p:spTree>
    <p:extLst>
      <p:ext uri="{BB962C8B-B14F-4D97-AF65-F5344CB8AC3E}">
        <p14:creationId xmlns:p14="http://schemas.microsoft.com/office/powerpoint/2010/main" val="1307274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3BB0F40F-257C-4B24-817A-E9241A2AE3F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12D79C-B2DB-477D-B627-BAB3A4F31F6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下一阶段计划：从可演示闭环走向可路测闭环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B982EF-1CED-4146-90AD-ECE3C082C941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每一步都以可重复输入、可观测状态和明确验收为前提。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22C5B3BE-4B37-446B-A197-A7546683D8AF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3981690-DA3D-4CFE-B528-DEB500C9F7C3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5250" cy="6667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162215-4FA1-4CC0-829D-02EFC296BA43}"/>
              </a:ext>
            </a:extLst>
          </p:cNvPr>
          <p:cNvSpPr>
            <a:spLocks noGrp="1"/>
          </p:cNvSpPr>
          <p:nvPr/>
        </p:nvSpPr>
        <p:spPr>
          <a:xfrm>
            <a:off x="1047750" y="21526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389" lnSpcReduction="20000"/>
          </a:bodyPr>
          <a:lstStyle/>
          <a:p>
            <a:pPr algn="l">
              <a:buNone/>
              <a:defRPr sz="1125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近期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428DEF-A8CD-4C56-B68B-E57FD0A1BCAB}"/>
              </a:ext>
            </a:extLst>
          </p:cNvPr>
          <p:cNvSpPr>
            <a:spLocks noGrp="1"/>
          </p:cNvSpPr>
          <p:nvPr/>
        </p:nvSpPr>
        <p:spPr>
          <a:xfrm>
            <a:off x="2286000" y="2105025"/>
            <a:ext cx="2952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926" lnSpcReduction="20000"/>
          </a:bodyPr>
          <a:lstStyle/>
          <a:p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iOS 定位协议与回放工具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28107E-FFA7-4B47-96F2-356514895FB4}"/>
              </a:ext>
            </a:extLst>
          </p:cNvPr>
          <p:cNvSpPr>
            <a:spLocks noGrp="1"/>
          </p:cNvSpPr>
          <p:nvPr/>
        </p:nvSpPr>
        <p:spPr>
          <a:xfrm>
            <a:off x="5476875" y="2095500"/>
            <a:ext cx="552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把手机定位数据导入现有模拟器；验证时间戳、精度与断连行为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AB8291D-CCDA-4A36-B12D-6420F9915DDB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9E5ACF0-8958-4040-891B-E1316883F981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95250" cy="66675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4D85AB-4170-4B24-8B65-A96F855FD558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389" lnSpcReduction="20000"/>
          </a:bodyPr>
          <a:lstStyle/>
          <a:p>
            <a:pPr algn="l">
              <a:buNone/>
              <a:defRPr sz="1125" b="1">
                <a:solidFill>
                  <a:srgbClr val="16A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A085"/>
                </a:solidFill>
                <a:latin typeface="PingFang SC"/>
                <a:ea typeface="PingFang SC"/>
                <a:cs typeface="PingFang SC"/>
              </a:rPr>
              <a:t>中期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28FA8C-4072-43F1-9983-B5527B7E35E5}"/>
              </a:ext>
            </a:extLst>
          </p:cNvPr>
          <p:cNvSpPr>
            <a:spLocks noGrp="1"/>
          </p:cNvSpPr>
          <p:nvPr/>
        </p:nvSpPr>
        <p:spPr>
          <a:xfrm>
            <a:off x="2286000" y="2981325"/>
            <a:ext cx="2952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926" lnSpcReduction="20000"/>
          </a:bodyPr>
          <a:lstStyle/>
          <a:p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实车定位适配与路测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C73DEF-4829-490C-BC59-D356A53EC528}"/>
              </a:ext>
            </a:extLst>
          </p:cNvPr>
          <p:cNvSpPr>
            <a:spLocks noGrp="1"/>
          </p:cNvSpPr>
          <p:nvPr/>
        </p:nvSpPr>
        <p:spPr>
          <a:xfrm>
            <a:off x="5476875" y="2971800"/>
            <a:ext cx="552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道路匹配、偏航阈值、状态推送的实车数据验证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8D70556-B595-4696-8DC3-E65110C0EC8E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E44C53F-139B-4E5F-8E80-50E219DA8785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95250" cy="666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D75CA3-A49C-4FF3-8227-447A0ED4EF05}"/>
              </a:ext>
            </a:extLst>
          </p:cNvPr>
          <p:cNvSpPr>
            <a:spLocks noGrp="1"/>
          </p:cNvSpPr>
          <p:nvPr/>
        </p:nvSpPr>
        <p:spPr>
          <a:xfrm>
            <a:off x="1047750" y="39052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389" lnSpcReduction="20000"/>
          </a:bodyPr>
          <a:lstStyle/>
          <a:p>
            <a:pPr algn="l"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后续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8A1321-5ABB-4AB1-B5E0-62882B70E72F}"/>
              </a:ext>
            </a:extLst>
          </p:cNvPr>
          <p:cNvSpPr>
            <a:spLocks noGrp="1"/>
          </p:cNvSpPr>
          <p:nvPr/>
        </p:nvSpPr>
        <p:spPr>
          <a:xfrm>
            <a:off x="2286000" y="3857625"/>
            <a:ext cx="2952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926" lnSpcReduction="20000"/>
          </a:bodyPr>
          <a:lstStyle/>
          <a:p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本地视觉事件服务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F6426E6-9B84-43E0-9E73-495ACE1CF568}"/>
              </a:ext>
            </a:extLst>
          </p:cNvPr>
          <p:cNvSpPr>
            <a:spLocks noGrp="1"/>
          </p:cNvSpPr>
          <p:nvPr/>
        </p:nvSpPr>
        <p:spPr>
          <a:xfrm>
            <a:off x="5476875" y="3848100"/>
            <a:ext cx="552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先做终点确认，再扩展到道路感知提示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B62CFC9A-8205-457A-AFAD-9E9A214D9D0A}"/>
              </a:ext>
            </a:extLst>
          </p:cNvPr>
          <p:cNvSpPr>
            <a:spLocks noGrp="1"/>
          </p:cNvSpPr>
          <p:nvPr/>
        </p:nvSpPr>
        <p:spPr>
          <a:xfrm>
            <a:off x="685800" y="4581525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80D7DAE4-4B3B-47A4-9AA2-11C57B0E7112}"/>
              </a:ext>
            </a:extLst>
          </p:cNvPr>
          <p:cNvSpPr>
            <a:spLocks noGrp="1"/>
          </p:cNvSpPr>
          <p:nvPr/>
        </p:nvSpPr>
        <p:spPr>
          <a:xfrm>
            <a:off x="685800" y="4581525"/>
            <a:ext cx="95250" cy="666750"/>
          </a:xfrm>
          <a:prstGeom prst="roundRect">
            <a:avLst>
              <a:gd name="adj" fmla="val 50000"/>
            </a:avLst>
          </a:prstGeom>
          <a:solidFill>
            <a:srgbClr val="E85D75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1E226E-161F-4599-B0A8-66C8361A9B1A}"/>
              </a:ext>
            </a:extLst>
          </p:cNvPr>
          <p:cNvSpPr>
            <a:spLocks noGrp="1"/>
          </p:cNvSpPr>
          <p:nvPr/>
        </p:nvSpPr>
        <p:spPr>
          <a:xfrm>
            <a:off x="1047750" y="47815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389" lnSpcReduction="20000"/>
          </a:bodyPr>
          <a:lstStyle/>
          <a:p>
            <a:pPr algn="l">
              <a:buNone/>
              <a:defRPr sz="1125" b="1">
                <a:solidFill>
                  <a:srgbClr val="E85D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85D75"/>
                </a:solidFill>
                <a:latin typeface="PingFang SC"/>
                <a:ea typeface="PingFang SC"/>
                <a:cs typeface="PingFang SC"/>
              </a:rPr>
              <a:t>规模化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1ED5EB-5F7B-4B63-9A46-BE86BCFCFE32}"/>
              </a:ext>
            </a:extLst>
          </p:cNvPr>
          <p:cNvSpPr>
            <a:spLocks noGrp="1"/>
          </p:cNvSpPr>
          <p:nvPr/>
        </p:nvSpPr>
        <p:spPr>
          <a:xfrm>
            <a:off x="2286000" y="4733925"/>
            <a:ext cx="2952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926" lnSpcReduction="20000"/>
          </a:bodyPr>
          <a:lstStyle/>
          <a:p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MBTiles 与车端显示集成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91DCC33-A72C-43CF-92C9-FF7AE462270C}"/>
              </a:ext>
            </a:extLst>
          </p:cNvPr>
          <p:cNvSpPr>
            <a:spLocks noGrp="1"/>
          </p:cNvSpPr>
          <p:nvPr/>
        </p:nvSpPr>
        <p:spPr>
          <a:xfrm>
            <a:off x="5476875" y="4724400"/>
            <a:ext cx="552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扩大离线地图范围，接入 HUD / 车机显示终端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E464DE-375A-44EA-A061-99AF9F9FC973}"/>
              </a:ext>
            </a:extLst>
          </p:cNvPr>
          <p:cNvSpPr>
            <a:spLocks noGrp="1"/>
          </p:cNvSpPr>
          <p:nvPr/>
        </p:nvSpPr>
        <p:spPr>
          <a:xfrm>
            <a:off x="685800" y="576262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需要持续守住的约束：离线优先、WGS-84 一致、适配层隔离外部服务、真实数据最小化且合规使用。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D7250-B7C9-4DE7-A135-A9B3727059F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20000"/>
          </a:bodyPr>
          <a:lstStyle/>
          <a:p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11</a:t>
            </a:r>
          </a:p>
        </p:txBody>
      </p:sp>
    </p:spTree>
    <p:extLst>
      <p:ext uri="{BB962C8B-B14F-4D97-AF65-F5344CB8AC3E}">
        <p14:creationId xmlns:p14="http://schemas.microsoft.com/office/powerpoint/2010/main" val="1243520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extLst>
              <a:ext uri="{FF2B5EF4-FFF2-40B4-BE49-F238E27FC236}">
                <a16:creationId xmlns:a16="http://schemas.microsoft.com/office/drawing/2014/main" id="{D6BA866C-5542-4FD2-97E0-4802D171DED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47750" cy="66675"/>
          </a:xfrm>
          <a:prstGeom prst="roundRect">
            <a:avLst>
              <a:gd name="adj" fmla="val 50000"/>
            </a:avLst>
          </a:prstGeom>
          <a:solidFill>
            <a:srgbClr val="32C5FF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130EF2-016B-4D38-9BD7-762021F5BEF9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33450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 MVP 已验证：离线路由、离线地图、</a:t>
            </a:r>
          </a:p>
          <a:p>
            <a:pPr algn="l"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模拟定位与偏航重算。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DBAFBF-2ECA-4B17-B8C1-DDA7D9B7D52D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7810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650" b="0" dirty="0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下一步准备将引入真实传感器，实现完整的导航流程。</a:t>
            </a:r>
            <a:endParaRPr sz="1650" b="0" dirty="0">
              <a:solidFill>
                <a:srgbClr val="C9D8E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E6F81F8-3B7A-447F-854F-363FC239DC4F}"/>
              </a:ext>
            </a:extLst>
          </p:cNvPr>
          <p:cNvSpPr>
            <a:spLocks noGrp="1"/>
          </p:cNvSpPr>
          <p:nvPr/>
        </p:nvSpPr>
        <p:spPr>
          <a:xfrm>
            <a:off x="723900" y="4905375"/>
            <a:ext cx="8096250" cy="19050"/>
          </a:xfrm>
          <a:prstGeom prst="roundRect">
            <a:avLst>
              <a:gd name="adj" fmla="val 50000"/>
            </a:avLst>
          </a:prstGeom>
          <a:solidFill>
            <a:srgbClr val="315272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6E82CC-A4A1-4C97-9E6E-DA180478ED75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51" lnSpcReduction="10000"/>
          </a:bodyPr>
          <a:lstStyle/>
          <a:p>
            <a:pPr algn="l">
              <a:buNone/>
              <a:defRPr sz="2175" b="1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Q &amp; 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B6BB2E-A9D4-495D-9EA2-DEE9747BC074}"/>
              </a:ext>
            </a:extLst>
          </p:cNvPr>
          <p:cNvSpPr>
            <a:spLocks noGrp="1"/>
          </p:cNvSpPr>
          <p:nvPr/>
        </p:nvSpPr>
        <p:spPr>
          <a:xfrm>
            <a:off x="723900" y="58483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l">
              <a:buNone/>
              <a:defRPr sz="1125" b="0">
                <a:solidFill>
                  <a:srgbClr val="B4C7D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4C7DC"/>
                </a:solidFill>
                <a:latin typeface="PingFang SC"/>
                <a:ea typeface="PingFang SC"/>
                <a:cs typeface="PingFang SC"/>
              </a:rPr>
              <a:t>架构、数据链路与实车演进</a:t>
            </a:r>
          </a:p>
        </p:txBody>
      </p:sp>
    </p:spTree>
    <p:extLst>
      <p:ext uri="{BB962C8B-B14F-4D97-AF65-F5344CB8AC3E}">
        <p14:creationId xmlns:p14="http://schemas.microsoft.com/office/powerpoint/2010/main" val="15795619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996</Words>
  <Application>Microsoft Macintosh PowerPoint</Application>
  <DocSecurity>0</DocSecurity>
  <PresentationFormat>宽屏</PresentationFormat>
  <Paragraphs>204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家桢 乔</cp:lastModifiedBy>
  <cp:revision>2</cp:revision>
  <dcterms:created xsi:type="dcterms:W3CDTF">2026-09-28T15:42:51Z</dcterms:created>
  <dcterms:modified xsi:type="dcterms:W3CDTF">2026-09-29T13:38:51Z</dcterms:modified>
</cp:coreProperties>
</file>