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fe7dfaeedd4450" /><Relationship Type="http://schemas.openxmlformats.org/officeDocument/2006/relationships/extended-properties" Target="/docProps/app.xml" Id="Rf80c755edac4468a" /><Relationship Type="http://schemas.openxmlformats.org/officeDocument/2006/relationships/officeDocument" Target="/ppt/presentation.xml" Id="R969d14c138c74c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17b82c6db74c40"/>
  </p:sldMasterIdLst>
  <p:notesMasterIdLst>
    <p:notesMasterId xmlns:r="http://schemas.openxmlformats.org/officeDocument/2006/relationships" r:id="R909e681b01b240bc"/>
  </p:notesMasterIdLst>
  <p:sldIdLst>
    <p:sldId xmlns:r="http://schemas.openxmlformats.org/officeDocument/2006/relationships" id="256" r:id="R5933d7e40da54df8"/>
    <p:sldId xmlns:r="http://schemas.openxmlformats.org/officeDocument/2006/relationships" id="257" r:id="Rbf5af563e277457e"/>
    <p:sldId xmlns:r="http://schemas.openxmlformats.org/officeDocument/2006/relationships" id="258" r:id="Rda7813e52d194fc5"/>
    <p:sldId xmlns:r="http://schemas.openxmlformats.org/officeDocument/2006/relationships" id="259" r:id="R44ec105ed5544846"/>
    <p:sldId xmlns:r="http://schemas.openxmlformats.org/officeDocument/2006/relationships" id="260" r:id="R324a9f05a9154d26"/>
    <p:sldId xmlns:r="http://schemas.openxmlformats.org/officeDocument/2006/relationships" id="261" r:id="R343586105a0840f9"/>
    <p:sldId xmlns:r="http://schemas.openxmlformats.org/officeDocument/2006/relationships" id="262" r:id="R372d4d0de6c34dbc"/>
    <p:sldId xmlns:r="http://schemas.openxmlformats.org/officeDocument/2006/relationships" id="263" r:id="R2215863de12e4e18"/>
    <p:sldId xmlns:r="http://schemas.openxmlformats.org/officeDocument/2006/relationships" id="264" r:id="R092806d3c71e4847"/>
    <p:sldId xmlns:r="http://schemas.openxmlformats.org/officeDocument/2006/relationships" id="265" r:id="Rf0bfcd89750e4009"/>
    <p:sldId xmlns:r="http://schemas.openxmlformats.org/officeDocument/2006/relationships" id="266" r:id="R7af784540fb14490"/>
    <p:sldId xmlns:r="http://schemas.openxmlformats.org/officeDocument/2006/relationships" id="267" r:id="R45dbdf4b6e374f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6cec889c734872" /><Relationship Type="http://schemas.openxmlformats.org/officeDocument/2006/relationships/slideMaster" Target="/ppt/slideMasters/slideMaster1.xml" Id="R0817b82c6db74c40" /><Relationship Type="http://schemas.openxmlformats.org/officeDocument/2006/relationships/notesMaster" Target="/ppt/notesMasters/notesMaster1.xml" Id="R909e681b01b240bc" /><Relationship Type="http://schemas.openxmlformats.org/officeDocument/2006/relationships/presProps" Target="/ppt/presProps.xml" Id="R1f8d0e25d41f4d71" /><Relationship Type="http://schemas.openxmlformats.org/officeDocument/2006/relationships/tableStyles" Target="/ppt/tableStyles.xml" Id="R626f0e2980fe4c5a" /><Relationship Type="http://schemas.openxmlformats.org/officeDocument/2006/relationships/slide" Target="/ppt/slides/slide1.xml" Id="R5933d7e40da54df8" /><Relationship Type="http://schemas.openxmlformats.org/officeDocument/2006/relationships/slide" Target="/ppt/slides/slide2.xml" Id="Rbf5af563e277457e" /><Relationship Type="http://schemas.openxmlformats.org/officeDocument/2006/relationships/slide" Target="/ppt/slides/slide3.xml" Id="Rda7813e52d194fc5" /><Relationship Type="http://schemas.openxmlformats.org/officeDocument/2006/relationships/slide" Target="/ppt/slides/slide4.xml" Id="R44ec105ed5544846" /><Relationship Type="http://schemas.openxmlformats.org/officeDocument/2006/relationships/slide" Target="/ppt/slides/slide5.xml" Id="R324a9f05a9154d26" /><Relationship Type="http://schemas.openxmlformats.org/officeDocument/2006/relationships/slide" Target="/ppt/slides/slide6.xml" Id="R343586105a0840f9" /><Relationship Type="http://schemas.openxmlformats.org/officeDocument/2006/relationships/slide" Target="/ppt/slides/slide7.xml" Id="R372d4d0de6c34dbc" /><Relationship Type="http://schemas.openxmlformats.org/officeDocument/2006/relationships/slide" Target="/ppt/slides/slide8.xml" Id="R2215863de12e4e18" /><Relationship Type="http://schemas.openxmlformats.org/officeDocument/2006/relationships/slide" Target="/ppt/slides/slide9.xml" Id="R092806d3c71e4847" /><Relationship Type="http://schemas.openxmlformats.org/officeDocument/2006/relationships/slide" Target="/ppt/slides/slide10.xml" Id="Rf0bfcd89750e4009" /><Relationship Type="http://schemas.openxmlformats.org/officeDocument/2006/relationships/slide" Target="/ppt/slides/slide11.xml" Id="R7af784540fb14490" /><Relationship Type="http://schemas.openxmlformats.org/officeDocument/2006/relationships/slide" Target="/ppt/slides/slide12.xml" Id="R45dbdf4b6e374f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59f71b9977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8ab26461474b10" /><Relationship Type="http://schemas.openxmlformats.org/officeDocument/2006/relationships/notesMaster" Target="/ppt/notesMasters/notesMaster1.xml" Id="R7384d84c3d584b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4b2fb92b6e40fe" /><Relationship Type="http://schemas.openxmlformats.org/officeDocument/2006/relationships/notesMaster" Target="/ppt/notesMasters/notesMaster1.xml" Id="R0f39a5d1e9554e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8466e3bbeb4e6a" /><Relationship Type="http://schemas.openxmlformats.org/officeDocument/2006/relationships/notesMaster" Target="/ppt/notesMasters/notesMaster1.xml" Id="R416fe86e9e634b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f390a243b241df" /><Relationship Type="http://schemas.openxmlformats.org/officeDocument/2006/relationships/notesMaster" Target="/ppt/notesMasters/notesMaster1.xml" Id="Ra81cde58b8074c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00192bb29f45e5" /><Relationship Type="http://schemas.openxmlformats.org/officeDocument/2006/relationships/notesMaster" Target="/ppt/notesMasters/notesMaster1.xml" Id="Rd8d0229f755342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cc58d6831d497e" /><Relationship Type="http://schemas.openxmlformats.org/officeDocument/2006/relationships/notesMaster" Target="/ppt/notesMasters/notesMaster1.xml" Id="Re5105674932641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72ffdc47f34f20" /><Relationship Type="http://schemas.openxmlformats.org/officeDocument/2006/relationships/notesMaster" Target="/ppt/notesMasters/notesMaster1.xml" Id="Rca5aa7244da842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3d7caf92fa496e" /><Relationship Type="http://schemas.openxmlformats.org/officeDocument/2006/relationships/notesMaster" Target="/ppt/notesMasters/notesMaster1.xml" Id="R54027d7afaa945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131d6b8c8243f9" /><Relationship Type="http://schemas.openxmlformats.org/officeDocument/2006/relationships/notesMaster" Target="/ppt/notesMasters/notesMaster1.xml" Id="R70199daedf1347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6443647a404f1e" /><Relationship Type="http://schemas.openxmlformats.org/officeDocument/2006/relationships/notesMaster" Target="/ppt/notesMasters/notesMaster1.xml" Id="R5e93bca3457a40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eb3f50870e4654" /><Relationship Type="http://schemas.openxmlformats.org/officeDocument/2006/relationships/notesMaster" Target="/ppt/notesMasters/notesMaster1.xml" Id="Rc167c26e577a40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29608787474520" /><Relationship Type="http://schemas.openxmlformats.org/officeDocument/2006/relationships/notesMaster" Target="/ppt/notesMasters/notesMaster1.xml" Id="R89f46c39b90f4c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汇报聚焦当前 MVP 已完成的离线导航闭环，以及走向实车部署时的架构路径。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当前项目没有否定 AR-HUD 的价值，而是把它定位为显示层。导航内核可独立演进，并向其他车端或 Web 显示端复用。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不将尚未实现的 GPS、视觉和云端能力混入当前成果。测试轨迹全部为合成数据。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 ARCHITECTURE.md：OSRM 负责路网与路线，FastAPI 负责会话和导航协调，MapLibre 负责渲染。浏览器不直接调用 OSRM。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开源参考：</a:t>
            </a:r>
          </a:p>
          <a:p xmlns:a="http://schemas.openxmlformats.org/drawingml/2006/main">
            <a:r>
              <a:t>OSRM https://github.com/Project-OSRM/osrm-backend</a:t>
            </a:r>
          </a:p>
          <a:p xmlns:a="http://schemas.openxmlformats.org/drawingml/2006/main">
            <a:r>
              <a:t>MapLibre GL JS https://github.com/maplibre/maplibre-gl-js</a:t>
            </a:r>
          </a:p>
          <a:p xmlns:a="http://schemas.openxmlformats.org/drawingml/2006/main">
            <a:r>
              <a:t>FastAPI https://github.com/fastapi/fastapi</a:t>
            </a:r>
          </a:p>
          <a:p xmlns:a="http://schemas.openxmlformats.org/drawingml/2006/main">
            <a:r>
              <a:t>仓库 package.json 与 pyproject.toml 分别声明 maplibre-gl、FastAPI 等依赖。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资料来源：docs/data-build.md；data/metadata/map.osm-build.json；data/metadata/map.osm-maplibre-thematic-geojson-build.json。OSRM 使用 MLD 构建流程。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资料来源：ARCHITECTURE.md 第 4 节与 docs/data-build.md。当前为同一 OSM 构建的 8 类 GeoJSON，后续可替换为 MBTiles 而无需改变前端路由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资料来源：README.md、docs/demo-runbook.md、DEVELOPMENT.md。此页描述项目定义的验证标准和演示闭环，不把其表述为生产实车验证。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这是后续设计建议，尚未在 MVP 实现。数据契约沿用项目 DATA_POLICY.md 中的 WGS-84 模型。传输方案建议局域网 WebSocket 优先，后续可评估 USB / BLE 等链路。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这是后续设计建议，当前 MVP 不包含 OCR、检测模型或真实视频。项目 ARCHITECTURE.md 已定义 OCR 只在接近终点时验证商铺招牌的边界。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本页为规划，不代表现已具备的能力。计划沿用现有架构边界，避免 iOS、视觉模型或车端 UI 直接耦合 OSRM / MapLibre 内核。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感谢。可根据听众继续展开数据构建、偏航匹配算法、iOS 传输协议或视觉服务边界。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351761ceb4b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001b28ef814101" /><Relationship Type="http://schemas.openxmlformats.org/officeDocument/2006/relationships/slideLayout" Target="/ppt/slideLayouts/slideLayout1.xml" Id="R4b2f8987e22747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2f8987e22747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c9dddec0c46b4" /><Relationship Type="http://schemas.openxmlformats.org/officeDocument/2006/relationships/notesSlide" Target="/ppt/notesSlides/notesSlide1.xml" Id="R2718410463c34b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778c5713d49bc" /><Relationship Type="http://schemas.openxmlformats.org/officeDocument/2006/relationships/notesSlide" Target="/ppt/notesSlides/notesSlide2.xml" Id="R1f274c857fb243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2dd12eab248dd" /><Relationship Type="http://schemas.openxmlformats.org/officeDocument/2006/relationships/notesSlide" Target="/ppt/notesSlides/notesSlide3.xml" Id="Rd5abd8ca1c4b45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6597c0f894879" /><Relationship Type="http://schemas.openxmlformats.org/officeDocument/2006/relationships/notesSlide" Target="/ppt/notesSlides/notesSlide4.xml" Id="Re4403079e51a4d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787bc87c945b4" /><Relationship Type="http://schemas.openxmlformats.org/officeDocument/2006/relationships/notesSlide" Target="/ppt/notesSlides/notesSlide5.xml" Id="R361fb92b3f0c42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1381a57e441c4" /><Relationship Type="http://schemas.openxmlformats.org/officeDocument/2006/relationships/notesSlide" Target="/ppt/notesSlides/notesSlide6.xml" Id="Rdb09cbdaa30c4a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c09d0df90491b" /><Relationship Type="http://schemas.openxmlformats.org/officeDocument/2006/relationships/notesSlide" Target="/ppt/notesSlides/notesSlide7.xml" Id="Rd9ea2c8b23e24c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4056b1a6b4480" /><Relationship Type="http://schemas.openxmlformats.org/officeDocument/2006/relationships/notesSlide" Target="/ppt/notesSlides/notesSlide8.xml" Id="Rbd964999d49d4a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81a565f924279" /><Relationship Type="http://schemas.openxmlformats.org/officeDocument/2006/relationships/notesSlide" Target="/ppt/notesSlides/notesSlide9.xml" Id="R121edacdf42d40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6bccc20714340" /><Relationship Type="http://schemas.openxmlformats.org/officeDocument/2006/relationships/notesSlide" Target="/ppt/notesSlides/notesSlide10.xml" Id="R26a1f8cb164341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767006f88482d" /><Relationship Type="http://schemas.openxmlformats.org/officeDocument/2006/relationships/notesSlide" Target="/ppt/notesSlides/notesSlide11.xml" Id="Rb15aeefef29746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eebc9bf204376" /><Relationship Type="http://schemas.openxmlformats.org/officeDocument/2006/relationships/notesSlide" Target="/ppt/notesSlides/notesSlide12.xml" Id="R9e56c038619543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55EC5-4541-4B64-9C4F-2F9C0584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2FA39-08FD-414B-8243-1FE918A8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43751-9ECF-44C9-B225-07E7578B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499FB-BB03-4DE7-B257-4E055FB4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7A93F-B214-4A1E-8D83-63E7950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7145B-F3E3-4B3D-9127-D7A2AD8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13718-21D2-44A1-8EE0-C2B59D6F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575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964BF-7F41-4DC5-ACA0-B163AFC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FEBFF-F0D7-4AC9-8B25-BF30285E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面向实车部署的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离线导航系统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BA66A-0576-4368-959F-283FF918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从 AR-HUD 原型到可扩展的实时导航架构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A0A3C-7F89-44AF-940C-8A8A908D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MVP 阶段成果与下一步演进方案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ABC57-7386-434A-A9CD-3D0762E3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274485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E77C4-E206-40B2-9C24-940FB0E5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7A874-C159-4C6D-8D81-B77823E2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为什么从 Unity 原型走向独立导航架构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DA436-604B-44FB-8636-EF5FE197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AR-HUD 的表现层前提仍成立，但实车部署需要把实时导航能力从渲染工程中解耦。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A8D74-CC5D-4382-91C7-1F768A5A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101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8E341-F081-4C2A-BA56-B346A4C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52625"/>
            <a:ext cx="54483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B9EFD-E66D-4175-B897-E8508EB7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原型阶段：Unity / AR-HUD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0C55C-A325-4BCE-99D1-6B007B8A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适合快速验证 HUD 呈现、路线叠加与交互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业务逻辑、地图渲染、定位处理容易耦合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面向持续定位与实时重算时，调试与替换成本上升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3A14D-E1AA-4DAD-94AA-FE1C8133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实车部署：导航内核独立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B7EA4-9E50-4A5B-92E1-44E25D6E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路由、地图、定位匹配分别承担明确职责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HUD、Web 与后续车端显示共享同一导航状态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iOS GPS 与视觉识别通过适配层接入，不侵入路由引擎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5B18D-DDDD-438C-AA03-5B94B4BC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设计结论：用本地可复现的导航服务承接实时性要求，AR-HUD 作为可替换的显示终端。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89C8C-773D-4DC9-8FEE-40D4DF79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02</a:t>
            </a:r>
          </a:p>
        </p:txBody>
      </p:sp>
    </p:spTree>
    <p:extLst>
      <p:ext uri="{BB962C8B-B14F-4D97-AF65-F5344CB8AC3E}">
        <p14:creationId xmlns:p14="http://schemas.microsoft.com/office/powerpoint/2010/main" val="326127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73294-9BFF-4189-9455-D2AE959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68208-F681-4D5C-A83C-46888899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目标与边界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63880-A96F-4430-90FB-87B0AC6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先验证一条完整、离线、可重复的汽车导航闭环。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70F86-9703-4924-8A8F-68A6DBBE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A9A3D-7532-4947-9099-FF529E4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7F4FD-03A9-4A94-BB82-D7805B62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本阶段已纳入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0E963-2788-4D69-B70A-7A60FA61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离线路线规划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离线地图渲染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模拟轨迹回放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道路吸附与偏航重算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4DBDD-1860-449E-ADA2-3A523FE3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38421-4483-4340-B568-50EF77E9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4E489-5990-4CD0-951A-20071435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架构原则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E54D8-F105-4846-A0D2-DB741303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本地优先、可复现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WGS-84 统一坐标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/ MapLibre / FastAPI 分层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前端不直接依赖 OSRM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4DAD5-D890-43F3-95A3-13DDF1D4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B8E81-F227-403F-8245-63EF0619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5FD85-635D-453C-85D6-52BACC77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明确暂不纳入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6B53C-0B79-45CC-8DE7-304132C3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 GPS 与车辆 CAN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云地图、实时交通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语音、LLM、OCR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真实用户或车辆轨迹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52B02-00AA-4B21-9A04-CAD08CE7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这套边界让 MVP 的结果可验证，也为后续硬件与算法接入预留明确接口。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D3533-B24B-4D5A-80FB-C7370850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03</a:t>
            </a:r>
          </a:p>
        </p:txBody>
      </p:sp>
    </p:spTree>
    <p:extLst>
      <p:ext uri="{BB962C8B-B14F-4D97-AF65-F5344CB8AC3E}">
        <p14:creationId xmlns:p14="http://schemas.microsoft.com/office/powerpoint/2010/main" val="604088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91B836-F984-4112-ABA2-BC430167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AF678-05D3-47F4-907D-BD075DD9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总体架构：四层分工，导航状态统一输出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D2E97-B6C2-4547-B199-C6C47A1A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浏览器、未来 HUD 与车端显示都只消费协调服务发布的导航状态。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8C3A1-44A8-4C76-8BCB-CB3BAB1B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F4F0A-81F4-4E55-83FE-5B746CAE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4AB29-67F6-4BFE-8FC3-CB502D5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离线数据构建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F608B-9EB9-47FC-A9AA-A4C428A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OSM → OSRM / GeoJSON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11C9B-CCD3-4526-A03B-B3458D3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F4D6A-9C7A-4575-93DD-38AF2B5F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0A986-46A8-4B3D-840F-0785470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路由引擎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0B3E7-BED5-44EB-80B1-5249AE27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24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路线、最近道路、匹配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2CBC2-6009-4360-9D1D-2D4A4FD4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D0175-273B-4A1A-B3FB-27514569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1C28F-4BE4-4B53-BE99-676718F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FastAPI 协调层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47D84-7491-446E-A769-C1C5C4F4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会话、偏航、状态推送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A6915-85DC-430F-A0B4-0B8AE167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CBB23-2AC3-4224-8D0A-01F4655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6C92B-7989-439B-8FC7-91B6703E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 显示层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60A1F-637D-4147-9970-337D8715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524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底图、路线、车标、提示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2F439-D238-431A-944E-8D9FA901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579E6-91E1-43B4-8DE6-8469A40E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0EB05-3DC4-4BFD-8D5E-963775DB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6B17F-35D7-4CA3-A42B-2F2671B8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A243C-504F-4F17-831F-1DFDACD5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707BB2-02DB-4485-AEC8-4DA7021A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43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轨迹来源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2F3A2-D6AF-4F27-921C-13145758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29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当前：JSON 回放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后续：iOS GPS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C3DB17-1055-4746-805B-6EC26BB5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FED2A-FCA4-45B2-908C-A299F322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B3E8C-0767-4F87-B95F-9FFCC56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43375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CC2144-7DAD-4D2E-A2C7-998ACAB5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291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匹配位置、进度、下一动作、偏航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1C30FC-C976-4AF9-9BD0-4CEC4D89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1EC2FD-44BB-4D92-A3BF-AABDAD3D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3BCCB6-AF38-423A-B8EC-4CD07408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43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显示终端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683D2B-B058-4757-A8BB-B0FF041B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当前：本地 Web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后续：AR-HUD / 车端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9CC2FE-9BFF-4786-8EEF-82AEB574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910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7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7FD7A4-1D99-4329-BDE0-ED9948C7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910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7608B9-7063-4BD2-BCB5-3BF15BB3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关键边界：OSRM 只负责路由与路网查询；MapLibre 只负责显示；FastAPI 负责把位置变成可消费的导航状态。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291BA6-411E-435F-882E-0030BF9C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04</a:t>
            </a:r>
          </a:p>
        </p:txBody>
      </p:sp>
    </p:spTree>
    <p:extLst>
      <p:ext uri="{BB962C8B-B14F-4D97-AF65-F5344CB8AC3E}">
        <p14:creationId xmlns:p14="http://schemas.microsoft.com/office/powerpoint/2010/main" val="1173898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56FAF-C5C0-474B-ABC2-4315110E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3309A-00C7-4AED-9B60-7AEC6244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开源基座：复用成熟能力，保留业务边界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5C007-C397-4E63-AA0E-1A52D23E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不是从零实现路由、地图渲染或 API 框架，而是在适配层实现导航业务规则。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88571-85CA-4E53-90BB-339DF751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01740-48DF-4E4B-AB1C-676A752F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D8454-1120-450D-BC6A-ADF6DD27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07135-6973-452A-BA07-084492A5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240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高性能开源路由引擎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68C27-B275-4CAD-A265-2BB9396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14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 profile、Route / Nearest / Match 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5069E-DD1C-4BDA-A2FD-F263CF58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050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Project-OSRM/osrm-backend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73B83-A51E-461B-B20E-8348A85B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CB451-24C0-483E-B5A0-E0A9FA12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EF9FE-D409-4375-A646-A2118C69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04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MapLibre GL 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E6452-DD7C-477D-AD90-84443256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62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浏览器端开源地图渲染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78ECD-58E7-4B94-998B-B1A64645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离线 GeoJSON 图层、路线叠加、相机跟随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922FB-1273-4399-A1D8-A39A5B72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330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maplibre/maplibre-gl-js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56619-62B0-40C0-802D-3EBB7C02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3060D-719A-4185-A654-FE1A196B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7B477-8F6A-4316-B7DB-C0FA42DB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FastAPI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3D97B-A3DC-413C-8D04-6570D0F0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005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Python 服务框架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15C71-7580-4248-BF4B-BEF583AB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类型化 API、导航会话、WebSocket 状态推送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1B3FE-8A79-48A4-9455-4EB6F27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fastapi/fastapi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A925E-2511-492F-8B96-B0C088A4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05</a:t>
            </a:r>
          </a:p>
        </p:txBody>
      </p:sp>
    </p:spTree>
    <p:extLst>
      <p:ext uri="{BB962C8B-B14F-4D97-AF65-F5344CB8AC3E}">
        <p14:creationId xmlns:p14="http://schemas.microsoft.com/office/powerpoint/2010/main" val="1108628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6356C-5B15-43D1-BACF-A92E57D2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88695-F97C-4F3A-91AE-8B7DE60D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OSM 数据处理：一份原始地图，两条可追溯的离线产线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D7AF5-71D1-409D-8810-41D80455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实验区域为北京局部路网。输入、边界、校验值、构建时间与命令均记录在元数据中。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20B22-5E92-4BCF-9173-7160BC0F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409950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82E9D-F199-472D-8F85-797C199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2DDEC-AD03-45D2-896D-49F6435A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E927D-EA24-4C55-B997-1568686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map.osm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52B9C-1DF7-41BB-B52B-CB80FEB3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原始 OSM XML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Git 忽略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D2C6C-3D3A-4B80-8AA1-513771F8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62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93B20-F203-41F3-8303-668BF3CF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EA656-347B-4CF4-8E56-F0FE040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AA470-1A58-4DF1-9CD9-D934CD20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14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MLD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701E7-DCF9-4324-AFB6-A13E5D87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0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extract → partition → customize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汽车路网查询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B6450-B0ED-4967-AF82-205E26E0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62275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1F2B7-C083-430F-BB50-96E0D366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DE8E5-8916-436D-B534-3AA2368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4B8F1-0D48-4F69-9767-9D21C684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8 类 GeoJSON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AA212-F36B-4439-A895-42EC5BEB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 / 建筑 / 水系 / 绿地 / 用地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道路名 / 地点名 / POI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9BFC0-42CF-4112-9534-26894BD8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6227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0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E5D94-A276-4166-BC30-85BD368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57616-CCA5-4400-B827-1FFB326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8F4F4-0B77-4876-B125-17EF2478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EB7C5-6C18-49C1-A7A2-94449545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本地静态加载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不依赖在线瓦片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D37AC3-82CD-44CE-91E5-1E4FD7D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数据治理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64FFD-98EF-4FAC-ADF1-A33D8792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输入 SHA-256 · 地图边界 · 构建 UTC 时间 · 工具版本 · 完整命令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ED05EC-E255-4266-9D88-217A47CA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当前实验范围：39.86864–39.90006 N，116.36676–116.41706 E。原始 OSM、OSRM 文件、MBTiles 均不提交 Git。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8EBE72-854C-4D38-A9FA-5E9B853D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06</a:t>
            </a:r>
          </a:p>
        </p:txBody>
      </p:sp>
    </p:spTree>
    <p:extLst>
      <p:ext uri="{BB962C8B-B14F-4D97-AF65-F5344CB8AC3E}">
        <p14:creationId xmlns:p14="http://schemas.microsoft.com/office/powerpoint/2010/main" val="290930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FC2C31-9E6A-4B09-A045-E644D1C8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4EB16-65E8-4658-8CFD-67144E3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离线可视化：以主题 GeoJSON 降低 MVP 复杂度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EC8DC-8265-4CA3-AA62-298D217D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先交付可读、可离线的底图与导航叠加；地图规模扩大后无缝替换为 MBTiles 矢量瓦片。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C1C62-342F-4172-B691-B2A42E05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048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91F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E2EAC-E90D-47D9-A1BE-718D44CE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6010E-2593-40C0-9D24-00882753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813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7AE76-079C-4F57-BAC3-B261A59B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338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D2222-90FB-4073-AF4E-C9167D66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C2E41-CEE0-4362-90E4-70965D14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F8CAC-15A4-4D69-A9CE-FA8C1AE8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C45AC-3328-483F-B7D3-4E40F2A2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540000">
            <a:off x="1123950" y="2714625"/>
            <a:ext cx="390525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2C5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F0D36-7BEE-49C1-8382-74599BCF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14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71743-02FF-409A-8B54-817DF0D0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00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F16F9-3090-4D3A-8FC0-793F7CD3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FE6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FE6FF"/>
                </a:solidFill>
                <a:latin typeface="PingFang SC"/>
                <a:ea typeface="PingFang SC"/>
                <a:cs typeface="PingFang SC"/>
              </a:rPr>
              <a:t>模拟离线导航视图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3CA81-264D-49FD-A9CB-17C3C34A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B8DF3-EB81-4DA1-95F0-0259AE3B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8378B-F8E8-42FA-9B73-0A884AF7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表达层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4067F-A11C-4924-9E73-2F4C79C5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道路、建筑、水系、绿地、用地与标签分层渲染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CEEC5-8F66-4048-A2AE-57005458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2F802-C1B4-453A-8465-26288C5A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A786C-DCA4-436F-B99D-A3A52287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956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导航层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F391E-B9F4-4C4B-B41B-8ABBB7F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670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主路线高亮、已通过路线灰化、箭头、旋转车标、下一转向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ECC14-3273-4274-B434-F4C345BA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3375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C2F270-C266-43B7-8B10-77C8771A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337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FE4FF-5396-4969-B714-8DACCB3B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957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性能路径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ED8FBC-258B-4AE4-87B4-9EDD4DFE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当前主题 GeoJSON；更大范围与高缩放级别转 MBTiles / 矢量瓦片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BED47-A5DD-424D-AEFF-4B04C1B7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优化原则：不为当前约 10 MB 的实验地图提前引入 PBF / MBTiles 转换链复杂度。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421DA0-71B3-46F7-A4E5-15527D75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07</a:t>
            </a:r>
          </a:p>
        </p:txBody>
      </p:sp>
    </p:spTree>
    <p:extLst>
      <p:ext uri="{BB962C8B-B14F-4D97-AF65-F5344CB8AC3E}">
        <p14:creationId xmlns:p14="http://schemas.microsoft.com/office/powerpoint/2010/main" val="151786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0286D6-9D07-421C-A460-6702BB33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78AD0-DB7F-4CE7-92D1-86B6AACA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当前成果：离线导航闭环已经可演示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44D48-CC12-40B6-800E-E655C491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从选点到到达、从偏航到重新规划，均可在本地 Docker 环境复现。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1032A-DF4D-4FD9-A1DA-7375F113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79FDF-8695-43BC-B52E-686452F2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6D73A-1654-40CF-A87B-6D645678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选择起终点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17DB5-0818-4541-BDAB-4F610F1F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地图点击或预置端点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E5877-715D-442D-8902-E8D1E5A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08915-AE69-4F56-B0EA-8C6AF43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3C922-F3B9-4AF1-866C-9C9D9627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0D4EB-1226-43B9-98DD-C60D749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路线规划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0CFCF-36CA-45A1-941F-9269E224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距离、时长、逐步转向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D073B-7754-45C5-8575-90AEBF51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C23BD-8A4A-4A11-8306-959E683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36BF5-682A-49D7-AECC-7D06C825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30F4C-E545-4C83-939B-EE77997A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开始模拟回放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54CD6-5601-483A-AE8E-A96C20CF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暂停、继续、重播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AA879-B1AC-49C1-BC9F-DC3EF1BD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CCA53-D154-4F58-80E2-7940338F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5DCDE-906B-48C9-A39C-3297E1DA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6F649-7951-4246-A968-FE90A4B1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774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</a:t>
            </a:r>
          </a:p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与导航状态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ABE21-84C7-4EC6-98F1-DD9B091D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67DFEE-0F2F-485A-864B-A6C99224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38594-A201-4480-B7C0-28F20A12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2628A5-CF2D-474D-A276-C24A16B1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AAD16F-5FA5-4B7B-98A7-8B1D6CE1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到达 / 偏航重算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82A7E-8360-4599-8C2B-CABA573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替换路线并继续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91B37-E264-4398-896E-460D1FF8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33177-5F96-49CE-A914-7DAE87CE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当前验证点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326F6-CF62-4675-A26B-B35CF2CA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正常路线  ·  无可达路线  ·  路网外定位点  ·  偏航重算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正常轨迹到达 arrived；偏航轨迹要求恰好触发一次路线替换。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BFE03C-04B2-421F-AF77-2383E9A9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运行方式：bash scripts/demo.sh 启动本地三容器；bash scripts/smoke_test.sh 验证闭环。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96A16C-50BF-4533-A3C3-7603ABF8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08</a:t>
            </a:r>
          </a:p>
        </p:txBody>
      </p:sp>
    </p:spTree>
    <p:extLst>
      <p:ext uri="{BB962C8B-B14F-4D97-AF65-F5344CB8AC3E}">
        <p14:creationId xmlns:p14="http://schemas.microsoft.com/office/powerpoint/2010/main" val="6376213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AFC3AD-FDD6-44CF-A05B-4AA3F376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F4980-EF9F-44B4-8E8E-93CBD24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实车路径一：通过 iOS 接入 GPS，保持导航内核不变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14D3E-AAEF-43D2-9AA3-B88BA603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建议把 iPhone 视为定位传感器与上行网关，先解决稳定传输、时间同步与断连恢复。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B2A67-4FF8-49E6-A973-180BE61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4DFDF-9741-4B66-BA84-AC4F01C5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42243-31C8-4CBF-8289-4B42475C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iPhone / 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23A69-9AA8-4E7B-8E1E-C4C7CCA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Core Location：WGS-84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位置、航向、速度、精度、时间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99DC2-A3C8-4E05-AFFB-2D7495BA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2C06B-B131-4F0A-9806-F34D4416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80F61-5DC2-491B-9B0A-9C01DDFC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24125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传输适配层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71D41-ED42-45F8-8802-AD7928BB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局域网 WebSocket 优先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序列号、鉴权、心跳、重连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BA194-A981-425A-9425-C52A961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7B834-72ED-4CA7-91C2-0B4A6539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3D67A-C3C4-498F-8B63-0FCD8AD4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24125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导航协调层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99C6F-D81B-4EBC-B243-0A664654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98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字段校验、时序处理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道路吸附、偏航判断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82C3E-A823-4094-9A5D-4BB67601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593E1-2B6F-4483-AC9F-EF7BB212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717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1046C-10D0-4607-B800-D4CF0BF9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27C21-A81D-4E95-B2B0-4861FDB5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BC7DF-937F-4817-9E90-C66F6BC9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定义稳定定位协议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77544-7BE2-45B6-825E-11AD48E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lat / lon / heading / speed_mps / accuracy_m / timestamp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E8488-8684-4E86-AC63-D18DDCD8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C755A-46CF-43B9-8F77-79B0D36B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8799D-D486-4E5B-AF98-288AEA0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端到端回放对照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977734-7925-438D-9242-89F437C7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同一轨迹输入应产生同一状态序列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B45568-DB63-4852-99F9-2525C270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2A83DD-75CC-4424-9C86-AC551FB0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F31568-60D9-4223-8F2A-81CCE5A7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道路匹配上线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EA874-094F-4211-B16A-F2092C7D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前端只显示匹配后位置，保留原始点供诊断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B5B8F9-84C7-4F75-B79C-E2B1CE7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897576-EF1C-4FD8-B5E2-4606D938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34A59-6A01-4FDB-96F7-718AC2A6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车端异常处理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D03612-448A-4616-BF96-A1E4ACB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弱网、漂移、断连、低精度与重新获得定位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2F8B09-C066-4723-A789-C086727E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接口原则：iOS 仅替换“定位来源”适配器，不直接驱动地图，不将原始 GPS 写回 OSM。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95ADDC-B8CF-43C0-9156-719C75B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09</a:t>
            </a:r>
          </a:p>
        </p:txBody>
      </p:sp>
    </p:spTree>
    <p:extLst>
      <p:ext uri="{BB962C8B-B14F-4D97-AF65-F5344CB8AC3E}">
        <p14:creationId xmlns:p14="http://schemas.microsoft.com/office/powerpoint/2010/main" val="1941221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54B18C-72DE-4004-B0E9-C3ECD605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01D2B-0D43-4233-ACFD-1FBFF79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实车路径二：视觉模型作为“确认与感知”能力接入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0D002-B9AE-4449-84AE-1BE8F261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视觉不替代地图路由；它为接近目的地、道路事件或 HUD 提示提供附加证据。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37C4E-AD44-433B-8CC6-91F87B8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11CC6-6F72-4F23-9D3D-B51B2122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285A8-C76B-4606-B52B-BFE1033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相机输入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2CECC-0D39-44FC-8446-A5C622A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车载或手机相机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帧时间戳与设备标识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5F29C-C9C0-4B70-9514-3D99893A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9583B-20DD-4577-8306-9A136E0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7189E-61D0-48B7-B4CD-C9C4969F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视觉推理服务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0F8BA-C34D-414D-9F1C-EDA37C62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检测 / 识别 / 置信度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可本地部署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CB928-899A-407F-9D2B-901B41A8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18889-3E2C-40D8-8B07-39DADB20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AF43B-1525-4F2A-958C-DA90C10B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33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事件适配层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73506-C3E2-4A28-8ECA-FD98A657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时空对齐、去抖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限定输出事件模型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910C3-89C7-4A56-AB35-FA42B499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1485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1BF12-E576-4F75-8320-93ECED6B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D5539-E590-4CD4-B81C-4B63D4F5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导航体验层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F5AB0-7C27-42A7-B39E-6626B587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到达确认、提示增强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不直接改写路由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02C01-EE90-4ADD-891B-E837F05D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812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7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05B5C-6DC7-4A52-BE8D-658F04F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81275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B6C48-ABD6-42BF-8F1E-92FE8670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81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A8827-838F-4FEE-A6C3-18D560F1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6125D1-D51F-47E5-B585-2358AD1F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优先落地场景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174F6-7D0F-474C-934E-70D460BF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291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接近终点时识别商铺招牌 / 入口，作为“到达确认”的辅助信号。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BB007-4E9B-4D36-8FED-20E51D8A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148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约束：只输出结构化感知事件与置信度；导航会话决定是否展示或触发业务动作；保留人工验证与失败降级。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2A2F9E-A3ED-47F7-B5C6-279B1E5B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10</a:t>
            </a:r>
          </a:p>
        </p:txBody>
      </p:sp>
    </p:spTree>
    <p:extLst>
      <p:ext uri="{BB962C8B-B14F-4D97-AF65-F5344CB8AC3E}">
        <p14:creationId xmlns:p14="http://schemas.microsoft.com/office/powerpoint/2010/main" val="1307274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0F40F-257C-4B24-817A-E9241A2A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2D79C-B2DB-477D-B627-BAB3A4F3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下一阶段计划：从可演示闭环走向可路测闭环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982EF-1CED-4146-90AD-ECE3C08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每一步都以可重复输入、可观测状态和明确验收为前提。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5B3BE-4B37-446B-A197-A7546683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81690-DA3D-4CFE-B528-DEB500C9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62215-4FA1-4CC0-829D-02EFC296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28DEF-A8CD-4C56-B68B-E57FD0A1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050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iOS 定位协议与回放工具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8107E-FFA7-4B47-96F2-3565148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955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把手机定位数据导入现有模拟器；验证时间戳、精度与断连行为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8291D-CCDA-4A36-B12D-6420F991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5ACF0-8958-4040-891B-E131688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D85AB-4170-4B24-8B65-A96F855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8FA8C-4072-43F1-9983-B5527B7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813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实车定位适配与路测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73DEF-4829-490C-BC59-D356A53E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道路匹配、偏航阈值、状态推送的实车数据验证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70556-B595-4696-8DC3-E65110C0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4C53F-139B-4E5F-8E80-50E219DA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75CA3-A49C-4FF3-8227-447A0ED4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后续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A1321-5ABB-4AB1-B5E0-62882B70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576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本地视觉事件服务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426E6-9B84-43E0-9E73-495ACE1C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481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先做终点确认，再扩展到道路感知提示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CFC9A-8205-457A-AFAD-9E9A214D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7DAE4-4B3B-47A4-9AA2-11C57B0E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E226E-161F-4599-B0A8-66C8361A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rPr>
              <a:t>规模化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ED5EB-5F7B-4B63-9A46-BE86BCFC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339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MBTiles 与车端显示集成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1DCC33-A72C-43CF-92C9-FF7AE462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244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扩大离线地图范围，接入 HUD / 车机显示终端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464DE-375A-44EA-A061-99AF9F9F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需要持续守住的约束：离线优先、WGS-84 一致、适配层隔离外部服务、真实数据最小化且合规使用。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0D7250-B7C9-4DE7-A135-A9B37270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11</a:t>
            </a:r>
          </a:p>
        </p:txBody>
      </p:sp>
    </p:spTree>
    <p:extLst>
      <p:ext uri="{BB962C8B-B14F-4D97-AF65-F5344CB8AC3E}">
        <p14:creationId xmlns:p14="http://schemas.microsoft.com/office/powerpoint/2010/main" val="12435209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A866C-5542-4FD2-97E0-4802D17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30EF2-016B-4D38-9BD7-762021F5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MVP 已验证：离线路由、离线地图、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模拟定位与偏航重算。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BAFBF-2ECA-4B17-B8C1-DDA7D9B7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下一步的核心不是扩展功能清单，而是把真实传感器接入现有的、可观测且可替换的导航内核。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F81F8-3B7A-447F-854F-363FC239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8096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27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E82CC-A4A1-4C97-9E6E-DA180478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Q &amp;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6BB2E-A9D4-495D-9EA2-DEE9747B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架构、数据链路与实车演进</a:t>
            </a:r>
          </a:p>
        </p:txBody>
      </p:sp>
    </p:spTree>
    <p:extLst>
      <p:ext uri="{BB962C8B-B14F-4D97-AF65-F5344CB8AC3E}">
        <p14:creationId xmlns:p14="http://schemas.microsoft.com/office/powerpoint/2010/main" val="1579561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2026-09-28T15:34:09.5130000Z</dcterms:created>
  <dcterms:modified xsi:type="dcterms:W3CDTF">2026-09-28T15:34:09.5130000Z</dcterms:modified>
</coreProperties>
</file>