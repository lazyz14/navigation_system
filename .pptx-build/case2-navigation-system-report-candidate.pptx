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8d19a255be4e71" /><Relationship Type="http://schemas.openxmlformats.org/officeDocument/2006/relationships/extended-properties" Target="/docProps/app.xml" Id="R77da1d95066c473e" /><Relationship Type="http://schemas.openxmlformats.org/officeDocument/2006/relationships/officeDocument" Target="/ppt/presentation.xml" Id="R338f58b6a7b34b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9a47a236447d1"/>
  </p:sldMasterIdLst>
  <p:notesMasterIdLst>
    <p:notesMasterId xmlns:r="http://schemas.openxmlformats.org/officeDocument/2006/relationships" r:id="Rdf9fda5d248e455b"/>
  </p:notesMasterIdLst>
  <p:sldIdLst>
    <p:sldId xmlns:r="http://schemas.openxmlformats.org/officeDocument/2006/relationships" id="256" r:id="Re190a98384dd44ae"/>
    <p:sldId xmlns:r="http://schemas.openxmlformats.org/officeDocument/2006/relationships" id="257" r:id="R72e97131e8e046c6"/>
    <p:sldId xmlns:r="http://schemas.openxmlformats.org/officeDocument/2006/relationships" id="258" r:id="R983cd3d0b56f4557"/>
    <p:sldId xmlns:r="http://schemas.openxmlformats.org/officeDocument/2006/relationships" id="259" r:id="Raf1911536ba244b6"/>
    <p:sldId xmlns:r="http://schemas.openxmlformats.org/officeDocument/2006/relationships" id="260" r:id="Rd03a7ddf0f3e4b0f"/>
    <p:sldId xmlns:r="http://schemas.openxmlformats.org/officeDocument/2006/relationships" id="261" r:id="R5c54bd3ea8cb4eed"/>
    <p:sldId xmlns:r="http://schemas.openxmlformats.org/officeDocument/2006/relationships" id="262" r:id="R67f27f7747f843a3"/>
    <p:sldId xmlns:r="http://schemas.openxmlformats.org/officeDocument/2006/relationships" id="263" r:id="R13bfb8ee7e714994"/>
    <p:sldId xmlns:r="http://schemas.openxmlformats.org/officeDocument/2006/relationships" id="264" r:id="Ra18dc6771d4548db"/>
    <p:sldId xmlns:r="http://schemas.openxmlformats.org/officeDocument/2006/relationships" id="265" r:id="R922acb332538436a"/>
    <p:sldId xmlns:r="http://schemas.openxmlformats.org/officeDocument/2006/relationships" id="266" r:id="Rc9e4c31b1d1f409c"/>
    <p:sldId xmlns:r="http://schemas.openxmlformats.org/officeDocument/2006/relationships" id="267" r:id="Rbe171eb9f23a41f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6572a6d064f38" /><Relationship Type="http://schemas.openxmlformats.org/officeDocument/2006/relationships/slideMaster" Target="/ppt/slideMasters/slideMaster1.xml" Id="Raa89a47a236447d1" /><Relationship Type="http://schemas.openxmlformats.org/officeDocument/2006/relationships/notesMaster" Target="/ppt/notesMasters/notesMaster1.xml" Id="Rdf9fda5d248e455b" /><Relationship Type="http://schemas.openxmlformats.org/officeDocument/2006/relationships/presProps" Target="/ppt/presProps.xml" Id="R35f3af1b44624578" /><Relationship Type="http://schemas.openxmlformats.org/officeDocument/2006/relationships/viewProps" Target="/ppt/viewProps.xml" Id="R0c4a5afc867a4791" /><Relationship Type="http://schemas.openxmlformats.org/officeDocument/2006/relationships/tableStyles" Target="/ppt/tableStyles.xml" Id="Rf8bd2f113dce482a" /><Relationship Type="http://schemas.openxmlformats.org/officeDocument/2006/relationships/slide" Target="/ppt/slides/slide1.xml" Id="Re190a98384dd44ae" /><Relationship Type="http://schemas.openxmlformats.org/officeDocument/2006/relationships/slide" Target="/ppt/slides/slide2.xml" Id="R72e97131e8e046c6" /><Relationship Type="http://schemas.openxmlformats.org/officeDocument/2006/relationships/slide" Target="/ppt/slides/slide3.xml" Id="R983cd3d0b56f4557" /><Relationship Type="http://schemas.openxmlformats.org/officeDocument/2006/relationships/slide" Target="/ppt/slides/slide4.xml" Id="Raf1911536ba244b6" /><Relationship Type="http://schemas.openxmlformats.org/officeDocument/2006/relationships/slide" Target="/ppt/slides/slide5.xml" Id="Rd03a7ddf0f3e4b0f" /><Relationship Type="http://schemas.openxmlformats.org/officeDocument/2006/relationships/slide" Target="/ppt/slides/slide6.xml" Id="R5c54bd3ea8cb4eed" /><Relationship Type="http://schemas.openxmlformats.org/officeDocument/2006/relationships/slide" Target="/ppt/slides/slide7.xml" Id="R67f27f7747f843a3" /><Relationship Type="http://schemas.openxmlformats.org/officeDocument/2006/relationships/slide" Target="/ppt/slides/slide8.xml" Id="R13bfb8ee7e714994" /><Relationship Type="http://schemas.openxmlformats.org/officeDocument/2006/relationships/slide" Target="/ppt/slides/slide9.xml" Id="Ra18dc6771d4548db" /><Relationship Type="http://schemas.openxmlformats.org/officeDocument/2006/relationships/slide" Target="/ppt/slides/slide10.xml" Id="R922acb332538436a" /><Relationship Type="http://schemas.openxmlformats.org/officeDocument/2006/relationships/slide" Target="/ppt/slides/slide11.xml" Id="Rc9e4c31b1d1f409c" /><Relationship Type="http://schemas.openxmlformats.org/officeDocument/2006/relationships/slide" Target="/ppt/slides/slide12.xml" Id="Rbe171eb9f23a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455560a783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7ce368dd44822" /><Relationship Type="http://schemas.openxmlformats.org/officeDocument/2006/relationships/notesMaster" Target="/ppt/notesMasters/notesMaster1.xml" Id="Rdec86f5d2f47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a0f30dd6043a9" /><Relationship Type="http://schemas.openxmlformats.org/officeDocument/2006/relationships/notesMaster" Target="/ppt/notesMasters/notesMaster1.xml" Id="Rfd744e4b2954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c51276ca04e0e" /><Relationship Type="http://schemas.openxmlformats.org/officeDocument/2006/relationships/notesMaster" Target="/ppt/notesMasters/notesMaster1.xml" Id="R41692d350438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5ad379eda4f89" /><Relationship Type="http://schemas.openxmlformats.org/officeDocument/2006/relationships/notesMaster" Target="/ppt/notesMasters/notesMaster1.xml" Id="R1fa51b69f77f49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0c869bfc54d92" /><Relationship Type="http://schemas.openxmlformats.org/officeDocument/2006/relationships/notesMaster" Target="/ppt/notesMasters/notesMaster1.xml" Id="Red02359276754b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ecfb9fc5e4ce6" /><Relationship Type="http://schemas.openxmlformats.org/officeDocument/2006/relationships/notesMaster" Target="/ppt/notesMasters/notesMaster1.xml" Id="Rfa2206f1e52c41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b93c616fd94f79" /><Relationship Type="http://schemas.openxmlformats.org/officeDocument/2006/relationships/notesMaster" Target="/ppt/notesMasters/notesMaster1.xml" Id="Rc674003185c3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7ad1553b54203" /><Relationship Type="http://schemas.openxmlformats.org/officeDocument/2006/relationships/notesMaster" Target="/ppt/notesMasters/notesMaster1.xml" Id="R665edf8d44be41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29e1c40bc4b29" /><Relationship Type="http://schemas.openxmlformats.org/officeDocument/2006/relationships/notesMaster" Target="/ppt/notesMasters/notesMaster1.xml" Id="R5b9f59de273240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5a00337034bc5" /><Relationship Type="http://schemas.openxmlformats.org/officeDocument/2006/relationships/notesMaster" Target="/ppt/notesMasters/notesMaster1.xml" Id="R98134c524bea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b3f0161aa14c20" /><Relationship Type="http://schemas.openxmlformats.org/officeDocument/2006/relationships/notesMaster" Target="/ppt/notesMasters/notesMaster1.xml" Id="R5e846e8c7dcc43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2d20519b4c4eba" /><Relationship Type="http://schemas.openxmlformats.org/officeDocument/2006/relationships/notesMaster" Target="/ppt/notesMasters/notesMaster1.xml" Id="R3caa38757a88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项目背景：AR-HUD 的展示价值保留，但导航内核需要独立演进。</a:t>
            </a:r>
          </a:p>
          <a:p xmlns:a="http://schemas.openxmlformats.org/drawingml/2006/main">
            <a:r>
              <a:t>来源：项目 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边界来自 README.md、DEVELOPMENT.md 与 DATA_POLICY.md。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开源项目：github.com/Project-OSRM/osrm-backend；github.com/maplibre/maplibre-gl-js；github.com/fastapi/fastapi。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截图来自用户更新后的离线导航 MVP 报告第 7 页。资料来源：ARCHITECTURE.md 与 docs/data-build.md。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实现。数据契约来自 DATA_POLICY.md。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接入边界。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此页为后续计划，不代表现已具备的能力。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ea6fe6b9348d7" /><Relationship Type="http://schemas.openxmlformats.org/officeDocument/2006/relationships/image" Target="/ppt/media/image.png" Id="R88be330515624d9b" /><Relationship Type="http://schemas.openxmlformats.org/officeDocument/2006/relationships/image" Target="/ppt/media/image.emf" Id="R7a4b7c19cd994a3b" /><Relationship Type="http://schemas.openxmlformats.org/officeDocument/2006/relationships/image" Target="/ppt/media/image2.emf" Id="R2cfc8edb08db49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461f1d64a4696" /><Relationship Type="http://schemas.openxmlformats.org/officeDocument/2006/relationships/image" Target="/ppt/media/image2.png" Id="R4e989b609b3c4df2" /><Relationship Type="http://schemas.openxmlformats.org/officeDocument/2006/relationships/image" Target="/ppt/media/image2.emf" Id="Rcb899c8bfdea4155" /><Relationship Type="http://schemas.openxmlformats.org/officeDocument/2006/relationships/image" Target="/ppt/media/image3.emf" Id="R00df991a05a0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5962ab0a14ae8" /><Relationship Type="http://schemas.openxmlformats.org/officeDocument/2006/relationships/image" Target="/ppt/media/image3.png" Id="R034f59bc4f344d89" /><Relationship Type="http://schemas.openxmlformats.org/officeDocument/2006/relationships/image" Target="/ppt/media/image.emf" Id="Re265092f89be44e7" /><Relationship Type="http://schemas.openxmlformats.org/officeDocument/2006/relationships/image" Target="/ppt/media/image2.emf" Id="Ree48dfd97fb940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142782eb44c4f" /><Relationship Type="http://schemas.openxmlformats.org/officeDocument/2006/relationships/image" Target="/ppt/media/image.jpeg" Id="R235bffe2e86a440f" /><Relationship Type="http://schemas.openxmlformats.org/officeDocument/2006/relationships/image" Target="/ppt/media/image4.png" Id="R32f7c92b650445ea" /><Relationship Type="http://schemas.openxmlformats.org/officeDocument/2006/relationships/image" Target="/ppt/media/image4.emf" Id="R3124f67f421447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6b1d127c04834" /><Relationship Type="http://schemas.openxmlformats.org/officeDocument/2006/relationships/image" Target="/ppt/media/image3.emf" Id="Rb6bbbb4934254609" /><Relationship Type="http://schemas.openxmlformats.org/officeDocument/2006/relationships/image" Target="/ppt/media/image4.emf" Id="Rf316aaee45a342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aef61933f439d" /><Relationship Type="http://schemas.openxmlformats.org/officeDocument/2006/relationships/image" Target="/ppt/media/image5.png" Id="R4baee876e0404e4c" /><Relationship Type="http://schemas.openxmlformats.org/officeDocument/2006/relationships/image" Target="/ppt/media/image3.emf" Id="R7cedecfb55b54b9a" /><Relationship Type="http://schemas.openxmlformats.org/officeDocument/2006/relationships/image" Target="/ppt/media/image4.emf" Id="Ra4f701d72df541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09f5bb1c74298" /><Relationship Type="http://schemas.openxmlformats.org/officeDocument/2006/relationships/image" Target="/ppt/media/image4.png" Id="R60dfcbe1b31548a1" /><Relationship Type="http://schemas.openxmlformats.org/officeDocument/2006/relationships/image" Target="/ppt/media/image5.emf" Id="Rab1e55f6401e49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3992306df4f85" /><Relationship Type="http://schemas.openxmlformats.org/officeDocument/2006/relationships/image" Target="/ppt/media/image5.emf" Id="R546e93c0f51a43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5b35f08914872" /><Relationship Type="http://schemas.openxmlformats.org/officeDocument/2006/relationships/image" Target="/ppt/media/image5.emf" Id="R32db890c0d7b4b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1526e62b542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76cc2798c4f26" /><Relationship Type="http://schemas.openxmlformats.org/officeDocument/2006/relationships/image" Target="/ppt/media/image4.png" Id="Rf458f05df23540a2" /><Relationship Type="http://schemas.openxmlformats.org/officeDocument/2006/relationships/image" Target="/ppt/media/image2.emf" Id="Rd24db5b75c314b10" /><Relationship Type="http://schemas.openxmlformats.org/officeDocument/2006/relationships/image" Target="/ppt/media/image.emf" Id="R19a0f628239c4a89" /><Relationship Type="http://schemas.openxmlformats.org/officeDocument/2006/relationships/image" Target="/ppt/media/image5.emf" Id="Rc9cdeb70f5dc490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5a1add0844772" /><Relationship Type="http://schemas.openxmlformats.org/officeDocument/2006/relationships/image" Target="/ppt/media/image2.emf" Id="Re2e782c72e3244cb" /><Relationship Type="http://schemas.openxmlformats.org/officeDocument/2006/relationships/image" Target="/ppt/media/image.emf" Id="R6e3de7bf7fc945f1" /><Relationship Type="http://schemas.openxmlformats.org/officeDocument/2006/relationships/image" Target="/ppt/media/image6.emf" Id="R210d00bfa5b24dc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3cdd86ff64af1" /><Relationship Type="http://schemas.openxmlformats.org/officeDocument/2006/relationships/image" Target="/ppt/media/image2.emf" Id="R8ffc96a5fa174938" /><Relationship Type="http://schemas.openxmlformats.org/officeDocument/2006/relationships/image" Target="/ppt/media/image.emf" Id="Re2a9f035abce4c31" /><Relationship Type="http://schemas.openxmlformats.org/officeDocument/2006/relationships/image" Target="/ppt/media/image6.emf" Id="R196bf102223541c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e885f35e9447c" /><Relationship Type="http://schemas.openxmlformats.org/officeDocument/2006/relationships/image" Target="/ppt/media/image5.emf" Id="Rc76c33f42465424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af75f353e4609" /><Relationship Type="http://schemas.openxmlformats.org/officeDocument/2006/relationships/image" Target="/ppt/media/image2.jpeg" Id="R301f9e77ae374d8f" /><Relationship Type="http://schemas.openxmlformats.org/officeDocument/2006/relationships/image" Target="/ppt/media/image6.png" Id="R9756e1d50c544e6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61756d45e4fe6" /><Relationship Type="http://schemas.openxmlformats.org/officeDocument/2006/relationships/image" Target="/ppt/media/image.emf" Id="Rac1c1d7ed4c541ab" /><Relationship Type="http://schemas.openxmlformats.org/officeDocument/2006/relationships/image" Target="/ppt/media/image4.png" Id="Ref2ecda73def4332" /><Relationship Type="http://schemas.openxmlformats.org/officeDocument/2006/relationships/image" Target="/ppt/media/image7.png" Id="Rc650a9f11ca14eba" /><Relationship Type="http://schemas.openxmlformats.org/officeDocument/2006/relationships/image" Target="/ppt/media/image2.emf" Id="R75c41da75bf044a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e33051562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286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2D19DE88-F7A5-F543-8EAD-B96C80292E8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23732" y="1079518"/>
            <a:ext cx="5229706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6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ADC6F6-B9EA-5B40-9683-611772644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32321" y="2236805"/>
            <a:ext cx="5220050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b7c19cd994a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7" y="264833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2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c8edb08db49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9b609b3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286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2D19DE88-F7A5-F543-8EAD-B96C80292E8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23732" y="914173"/>
            <a:ext cx="5229706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6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ADC6F6-B9EA-5B40-9683-611772644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32321" y="2071462"/>
            <a:ext cx="5220050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99c8bfdea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1658" y="245020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f991a05a041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f59bc4f344d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72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B52A39-59A7-AD41-9748-662EAF7E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087" y="0"/>
            <a:ext cx="404191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5092f89be44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7" y="264833"/>
            <a:ext cx="1548805" cy="202018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DA8790A-F5F2-1447-97AF-C8252DE27A8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380383" y="1993107"/>
            <a:ext cx="347198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C9330A7-36C2-C748-BA4C-007314F528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85728" y="3150395"/>
            <a:ext cx="3465577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8dfd97fb9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5bffe2e86a44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3157" y="0"/>
            <a:ext cx="4748930" cy="5144429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7c92b6504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0998" y="0"/>
            <a:ext cx="4453002" cy="5143500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8E22D469-66DA-3646-A3F5-62A37514247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B62562-CB73-EE4A-B26A-53A04DF0C6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4f67f421447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713" y="4336934"/>
            <a:ext cx="2275274" cy="43593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374D08-1B64-E649-A8F3-3465DA5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998" y="0"/>
            <a:ext cx="445300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>
              <a:alpha val="87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1ABF0E9-3472-9C4B-890F-AA55CFB1556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77458AB-6DCF-A547-A957-CF814F8DBA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1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bbb493425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6aaee45a342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786" y="236905"/>
            <a:ext cx="1970713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ee876e0404e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8134" y="0"/>
            <a:ext cx="9152135" cy="514350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FB9FEC7-89D8-2449-8C19-374BD2EC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997" y="0"/>
            <a:ext cx="445300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  <a:endParaRPr sz="1800"/>
          </a:p>
        </p:txBody>
      </p:sp>
      <p:sp>
        <p:nvSpPr>
          <p:cNvPr id="20" name="Title 1">
            <a:extLst xmlns:a="http://schemas.openxmlformats.org/drawingml/2006/main">
              <a:ext uri="{FF2B5EF4-FFF2-40B4-BE49-F238E27FC236}">
                <a16:creationId xmlns:a16="http://schemas.microsoft.com/office/drawing/2014/main" id="{DB6CBE2D-62A3-E24F-9CE7-3DC9D9C2154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21" name="Subtitle 2">
            <a:extLst xmlns:a="http://schemas.openxmlformats.org/drawingml/2006/main">
              <a:ext uri="{FF2B5EF4-FFF2-40B4-BE49-F238E27FC236}">
                <a16:creationId xmlns:a16="http://schemas.microsoft.com/office/drawing/2014/main" id="{8DF5D57C-5071-194D-AA8A-A3B289E43C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9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decfb55b5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3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701d72df5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786" y="236905"/>
            <a:ext cx="1970713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CF6E47-03B9-477C-99BC-A5339AFE66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39418C-7680-47BA-847F-83EC221647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674654-C6F4-4E36-AC7F-A2147C2B1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fcbe1b31548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e55f6401e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13CF71-E06F-4BAA-9238-4BD1ED99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CFE5B6-25DE-9C4C-B1BE-D67F5BA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445BE1-6649-4E49-A6A3-C557E3A0F3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AF3077-48CA-4EFA-AFDF-C3946D391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BED723-3CB4-4839-A893-51131B8269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0D5B42-7A2D-43F9-9DDD-65EEBDD9B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e93c0f51a43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CFE5B6-25DE-9C4C-B1BE-D67F5BA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3E2FDFE-9E6C-4A3C-AD54-BD3B82B1D8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744F8F-F46F-48EA-8683-BBEECE4DB3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1DC48C-C74C-4C0F-B386-FAE3B46AA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F35E6D-3CA1-4968-9057-42885734A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b890c0d7b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E05A22-8729-4AA2-B376-E4FD172AA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340896"/>
            <a:ext cx="8248650" cy="141379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2060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0F6751-5539-4A16-906A-A3AE598377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328154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08AB06-3E8E-4A02-B8DC-7E1B7AC98E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328154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E99B52-DF60-1540-A901-6477B334B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1752988"/>
            <a:ext cx="8248650" cy="2477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8f05df235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99412"/>
            <a:ext cx="9144000" cy="325815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B38A8E-0609-4B97-8A5D-B762D4A94B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711BAD-F500-4919-836E-9DDE013DF3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db5b75c314b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f628239c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deb70f5dc4904">
            <a:alphaModFix amt="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7733" y="1055241"/>
            <a:ext cx="3746491" cy="374649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103AF7-7CEF-914E-8D2F-8185760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9411"/>
            <a:ext cx="9144000" cy="3258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685515-FDBC-4C85-9403-DB57EB0C034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rgbClr val="A02337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2E9137-EB09-444F-A2DA-81C20EA3DB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782c72e32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de7bf7fc9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0d00bfa5b24dc5"/>
          <a:srcRect xmlns:a="http://schemas.openxmlformats.org/drawingml/2006/main" l="0" t="7659" r="20425" b="5578"/>
          <a:stretch xmlns:a="http://schemas.openxmlformats.org/drawingml/2006/main"/>
        </p:blipFill>
        <p:spPr>
          <a:xfrm xmlns:a="http://schemas.openxmlformats.org/drawingml/2006/main">
            <a:off x="6155806" y="1299411"/>
            <a:ext cx="2988194" cy="325815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103AF7-7CEF-914E-8D2F-8185760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9411"/>
            <a:ext cx="9144000" cy="32581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F0DE04-0B7A-454B-A7FE-4C719C1802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3E9819-57C9-40DD-A130-4BBA8F4B0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c96a5fa17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9f035abce4c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6bf102223541ce"/>
          <a:srcRect xmlns:a="http://schemas.openxmlformats.org/drawingml/2006/main" l="0" t="7659" r="20425" b="5578"/>
          <a:stretch xmlns:a="http://schemas.openxmlformats.org/drawingml/2006/main"/>
        </p:blipFill>
        <p:spPr>
          <a:xfrm xmlns:a="http://schemas.openxmlformats.org/drawingml/2006/main">
            <a:off x="6155806" y="1299411"/>
            <a:ext cx="2988194" cy="325815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21232C-1A26-2A48-8A83-57EEE17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3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30119F57-C15A-AB40-998A-2D9A9CB67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56031"/>
            <a:ext cx="8248650" cy="530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9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c33f4246542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63981"/>
            <a:ext cx="355681" cy="266761"/>
          </a:xfrm>
          <a:prstGeom xmlns:a="http://schemas.openxmlformats.org/drawingml/2006/main" prst="rect">
            <a:avLst/>
          </a:prstGeom>
        </p:spPr>
      </p:pic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740D51-98D6-CF45-8BFD-F0DF9442C3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800665"/>
            <a:ext cx="2057400" cy="1674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8F96A78-E747-452A-A472-1528F572ED5B}" type="datetimeFigureOut">
              <a:t>9/29/26</a:t>
            </a:fld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CAF668-E8EB-544C-B031-9C901C4345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2600" y="4800665"/>
            <a:ext cx="2057400" cy="1674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26316D-4BD0-544E-9788-FEF05C2459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530173"/>
            <a:ext cx="8623300" cy="421814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71450" indent="-171450">
              <a:buClr>
                <a:srgbClr val="002060"/>
              </a:buClr>
              <a:buFont typeface="Arial"/>
              <a:buChar char="•"/>
              <a:defRPr sz="1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1FF9B9-CF5D-4733-9535-15C6E909EA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86B75A-687E-405C-8A0B-8D00578BA2C3}" type="datetimeFigureOut">
              <a:t>9/29/26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107426-3CBA-43A6-845E-3F26129760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15E237C-880B-4405-9242-643CDF27B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AB73BC-B049-4115-A692-8D63A059BFB8}" type="slidenum">
              <a:t>‹#›</a:t>
            </a:fld>
            <a:endParaRPr/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f9e77ae37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" y="1"/>
            <a:ext cx="6886575" cy="321914"/>
          </a:xfrm>
          <a:prstGeom xmlns:a="http://schemas.openxmlformats.org/drawingml/2006/main" prst="rect">
            <a:avLst/>
          </a:prstGeom>
        </p:spPr>
      </p:pic>
      <p:pic>
        <p:nvPicPr>
          <p:cNvPr id="1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6e1d50c54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257" y="83026"/>
            <a:ext cx="1675211" cy="241118"/>
          </a:xfrm>
          <a:prstGeom xmlns:a="http://schemas.openxmlformats.org/drawingml/2006/main" prst="rect">
            <a:avLst/>
          </a:prstGeom>
        </p:spPr>
      </p:pic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9ACE8D-250C-45D3-AD2C-4D272792B1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96849" y="1019175"/>
            <a:ext cx="8742364" cy="3625215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1500"/>
            </a:lvl1pPr>
            <a:lvl2pPr>
              <a:buNone/>
              <a:defRPr sz="1350"/>
            </a:lvl2pPr>
            <a:lvl3pPr>
              <a:buNone/>
              <a:defRPr sz="120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4428E9-9DCE-45DF-8F30-E3692208BA9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196849" y="397968"/>
            <a:ext cx="8742364" cy="5429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>
              <a:buNone/>
              <a:defRPr sz="1350"/>
            </a:lvl2pPr>
            <a:lvl3pPr>
              <a:buNone/>
              <a:defRPr sz="120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c1d7ed4c541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4" y="4791215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ecda73def4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62927"/>
            <a:ext cx="9144000" cy="262533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4C740F-D79E-48C1-B649-6AA52AB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0142"/>
            <a:ext cx="9143997" cy="16509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共存、协作、共进 ，</a:t>
            </a: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打造智慧人机共融系统</a:t>
            </a:r>
            <a:endParaRPr sz="2200" b="1" i="0" kern="120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1">
                <a:solidFill>
                  <a:schemeClr val="bg1"/>
                </a:solidFill>
              </a:rPr>
              <a:t>To Co-exist, Collaborate and Co-evolve</a:t>
            </a:r>
            <a:r>
              <a:rPr sz="2400" b="1" i="1">
                <a:solidFill>
                  <a:schemeClr val="bg1"/>
                </a:solidFill>
              </a:rPr>
              <a:t> </a:t>
            </a:r>
            <a:r>
              <a:rPr sz="2400" b="1" i="1">
                <a:solidFill>
                  <a:schemeClr val="bg1"/>
                </a:solidFill>
              </a:rPr>
              <a:t>by</a:t>
            </a:r>
            <a:endParaRPr sz="2400" b="1" i="1">
              <a:solidFill>
                <a:schemeClr val="bg1"/>
              </a:solidFill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400" b="1" i="1">
                <a:solidFill>
                  <a:schemeClr val="bg1"/>
                </a:solidFill>
              </a:rPr>
              <a:t>Constructing</a:t>
            </a:r>
            <a:r>
              <a:rPr sz="2400" b="1" i="1">
                <a:solidFill>
                  <a:schemeClr val="bg1"/>
                </a:solidFill>
              </a:rPr>
              <a:t> A Human-Machine Symbiotic Systems</a:t>
            </a:r>
          </a:p>
        </p:txBody>
      </p:sp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a9f11ca1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0916" y="972397"/>
            <a:ext cx="1597143" cy="410322"/>
          </a:xfrm>
          <a:prstGeom xmlns:a="http://schemas.openxmlformats.org/drawingml/2006/main" prst="rect">
            <a:avLst/>
          </a:prstGeom>
        </p:spPr>
      </p:pic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41da75bf044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5231" y="1005136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a9aad5d46a4c4f" /><Relationship Type="http://schemas.openxmlformats.org/officeDocument/2006/relationships/slideLayout" Target="/ppt/slideLayouts/slideLayout1.xml" Id="R1d56e2a1249d48ab" /><Relationship Type="http://schemas.openxmlformats.org/officeDocument/2006/relationships/slideLayout" Target="/ppt/slideLayouts/slideLayout2.xml" Id="R5a797f45dff24836" /><Relationship Type="http://schemas.openxmlformats.org/officeDocument/2006/relationships/slideLayout" Target="/ppt/slideLayouts/slideLayout3.xml" Id="R4d9f9326b7f74f34" /><Relationship Type="http://schemas.openxmlformats.org/officeDocument/2006/relationships/slideLayout" Target="/ppt/slideLayouts/slideLayout4.xml" Id="R90f0f43ed91a4e04" /><Relationship Type="http://schemas.openxmlformats.org/officeDocument/2006/relationships/slideLayout" Target="/ppt/slideLayouts/slideLayout5.xml" Id="R26a87b0b527d4dc8" /><Relationship Type="http://schemas.openxmlformats.org/officeDocument/2006/relationships/slideLayout" Target="/ppt/slideLayouts/slideLayout6.xml" Id="R88ad58e096f64416" /><Relationship Type="http://schemas.openxmlformats.org/officeDocument/2006/relationships/slideLayout" Target="/ppt/slideLayouts/slideLayout7.xml" Id="R7aefaf867f6c4e42" /><Relationship Type="http://schemas.openxmlformats.org/officeDocument/2006/relationships/slideLayout" Target="/ppt/slideLayouts/slideLayout8.xml" Id="R7cecff2c037f4406" /><Relationship Type="http://schemas.openxmlformats.org/officeDocument/2006/relationships/slideLayout" Target="/ppt/slideLayouts/slideLayout9.xml" Id="R1b11b1491cd64b90" /><Relationship Type="http://schemas.openxmlformats.org/officeDocument/2006/relationships/slideLayout" Target="/ppt/slideLayouts/slideLayout10.xml" Id="Re7db59b513404a3e" /><Relationship Type="http://schemas.openxmlformats.org/officeDocument/2006/relationships/slideLayout" Target="/ppt/slideLayouts/slideLayout11.xml" Id="R73176f0d32444681" /><Relationship Type="http://schemas.openxmlformats.org/officeDocument/2006/relationships/slideLayout" Target="/ppt/slideLayouts/slideLayout12.xml" Id="Rd23ced4d92c84490" /><Relationship Type="http://schemas.openxmlformats.org/officeDocument/2006/relationships/slideLayout" Target="/ppt/slideLayouts/slideLayout13.xml" Id="Rad0cc8dd8ad54db0" /><Relationship Type="http://schemas.openxmlformats.org/officeDocument/2006/relationships/slideLayout" Target="/ppt/slideLayouts/slideLayout14.xml" Id="Rc941de9763714864" /><Relationship Type="http://schemas.openxmlformats.org/officeDocument/2006/relationships/slideLayout" Target="/ppt/slideLayouts/slideLayout15.xml" Id="R0edb263d9eb34a99" /><Relationship Type="http://schemas.openxmlformats.org/officeDocument/2006/relationships/slideLayout" Target="/ppt/slideLayouts/slideLayout16.xml" Id="R8d08e7ae15e441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B09AC91-2CC5-4074-82C4-8DD581446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654277"/>
            <a:ext cx="8248650" cy="141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1D4D89-2E02-476F-BCEF-0AD076AA8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6700" y="2071688"/>
            <a:ext cx="8248650" cy="2561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A50706-00F6-4EDF-AA29-FE478D2D33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66700" y="4767265"/>
            <a:ext cx="2057400" cy="223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4D751E-EFE8-4FD6-9F4F-E09721811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5"/>
            <a:ext cx="2057400" cy="223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6e2a1249d48ab"/>
    <p:sldLayoutId xmlns:r="http://schemas.openxmlformats.org/officeDocument/2006/relationships" id="2147483650" r:id="R5a797f45dff24836"/>
    <p:sldLayoutId xmlns:r="http://schemas.openxmlformats.org/officeDocument/2006/relationships" id="2147483651" r:id="R4d9f9326b7f74f34"/>
    <p:sldLayoutId xmlns:r="http://schemas.openxmlformats.org/officeDocument/2006/relationships" id="2147483652" r:id="R90f0f43ed91a4e04"/>
    <p:sldLayoutId xmlns:r="http://schemas.openxmlformats.org/officeDocument/2006/relationships" id="2147483653" r:id="R26a87b0b527d4dc8"/>
    <p:sldLayoutId xmlns:r="http://schemas.openxmlformats.org/officeDocument/2006/relationships" id="2147483654" r:id="R88ad58e096f64416"/>
    <p:sldLayoutId xmlns:r="http://schemas.openxmlformats.org/officeDocument/2006/relationships" id="2147483655" r:id="R7aefaf867f6c4e42"/>
    <p:sldLayoutId xmlns:r="http://schemas.openxmlformats.org/officeDocument/2006/relationships" id="2147483656" r:id="R7cecff2c037f4406"/>
    <p:sldLayoutId xmlns:r="http://schemas.openxmlformats.org/officeDocument/2006/relationships" id="2147483657" r:id="R1b11b1491cd64b90"/>
    <p:sldLayoutId xmlns:r="http://schemas.openxmlformats.org/officeDocument/2006/relationships" id="2147483658" r:id="Re7db59b513404a3e"/>
    <p:sldLayoutId xmlns:r="http://schemas.openxmlformats.org/officeDocument/2006/relationships" id="2147483659" r:id="R73176f0d32444681"/>
    <p:sldLayoutId xmlns:r="http://schemas.openxmlformats.org/officeDocument/2006/relationships" id="2147483660" r:id="Rd23ced4d92c84490"/>
    <p:sldLayoutId xmlns:r="http://schemas.openxmlformats.org/officeDocument/2006/relationships" id="2147483661" r:id="Rad0cc8dd8ad54db0"/>
    <p:sldLayoutId xmlns:r="http://schemas.openxmlformats.org/officeDocument/2006/relationships" id="2147483662" r:id="Rc941de9763714864"/>
    <p:sldLayoutId xmlns:r="http://schemas.openxmlformats.org/officeDocument/2006/relationships" id="2147483663" r:id="R0edb263d9eb34a99"/>
    <p:sldLayoutId xmlns:r="http://schemas.openxmlformats.org/officeDocument/2006/relationships" id="2147483664" r:id="R8d08e7ae15e441f4"/>
  </p:sldLayoutIdLst>
  <p:hf hdr="0" ftr="0" dt="0"/>
  <p:txStyles>
    <p:titleStyle>
      <a:lvl1pPr xmlns:a="http://schemas.openxmlformats.org/drawingml/2006/main" algn="l" defTabSz="914378">
        <a:lnSpc>
          <a:spcPct val="90000"/>
        </a:lnSpc>
        <a:spcBef>
          <a:spcPct val="0"/>
        </a:spcBef>
        <a:buNone/>
        <a:defRPr sz="4400" b="0" kern="1200">
          <a:solidFill>
            <a:srgbClr val="A5002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594" indent="-228594" algn="l" defTabSz="914378">
        <a:lnSpc>
          <a:spcPct val="9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Font typeface="Arial"/>
        <a:buChar char="&gt;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783" indent="-228594" algn="l" defTabSz="914378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2972" indent="-228594" algn="l" defTabSz="914378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160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348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537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ff79cbc63403e" /><Relationship Type="http://schemas.openxmlformats.org/officeDocument/2006/relationships/image" Target="/ppt/media/image3.jpeg" Id="Rb2f6bfcfbddd48c3" /><Relationship Type="http://schemas.openxmlformats.org/officeDocument/2006/relationships/notesSlide" Target="/ppt/notesSlides/notesSlide1.xml" Id="R8cf7b7b866e7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bebccda4384505" /><Relationship Type="http://schemas.openxmlformats.org/officeDocument/2006/relationships/notesSlide" Target="/ppt/notesSlides/notesSlide2.xml" Id="Rea15a67bb96e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b89673bedb48bd" /><Relationship Type="http://schemas.openxmlformats.org/officeDocument/2006/relationships/notesSlide" Target="/ppt/notesSlides/notesSlide3.xml" Id="R5027019b9ebd45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d475443744f62" /><Relationship Type="http://schemas.openxmlformats.org/officeDocument/2006/relationships/notesSlide" Target="/ppt/notesSlides/notesSlide4.xml" Id="R4ec2d83f80bb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84e724a50e4fcd" /><Relationship Type="http://schemas.openxmlformats.org/officeDocument/2006/relationships/notesSlide" Target="/ppt/notesSlides/notesSlide5.xml" Id="Ra742ad07a4e3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4b8e7f2ef94ac5" /><Relationship Type="http://schemas.openxmlformats.org/officeDocument/2006/relationships/notesSlide" Target="/ppt/notesSlides/notesSlide6.xml" Id="R068955739a75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686da1a4e443e9" /><Relationship Type="http://schemas.openxmlformats.org/officeDocument/2006/relationships/image" Target="/ppt/media/image8.png" Id="R4a2f713b7f464918" /><Relationship Type="http://schemas.openxmlformats.org/officeDocument/2006/relationships/notesSlide" Target="/ppt/notesSlides/notesSlide7.xml" Id="Rc6ba6979ebc644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4723937b7842b4" /><Relationship Type="http://schemas.openxmlformats.org/officeDocument/2006/relationships/notesSlide" Target="/ppt/notesSlides/notesSlide8.xml" Id="R198b8406363840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e23a7110af447b" /><Relationship Type="http://schemas.openxmlformats.org/officeDocument/2006/relationships/notesSlide" Target="/ppt/notesSlides/notesSlide9.xml" Id="R802e831483494b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77e21eae0245d8" /><Relationship Type="http://schemas.openxmlformats.org/officeDocument/2006/relationships/notesSlide" Target="/ppt/notesSlides/notesSlide10.xml" Id="R9fb39bb38e7f40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7f0379973f4c41" /><Relationship Type="http://schemas.openxmlformats.org/officeDocument/2006/relationships/notesSlide" Target="/ppt/notesSlides/notesSlide11.xml" Id="R6e9fae6968da49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da35f3f47e54af9" /><Relationship Type="http://schemas.openxmlformats.org/officeDocument/2006/relationships/notesSlide" Target="/ppt/notesSlides/notesSlide12.xml" Id="Re32ce2292a844f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D1C811-5A23-6EC7-088E-21294FCD3C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CBB60E7-73C2-A7E1-97C0-E7CA47C849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6bfcfbddd48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95D84F-F74F-42C2-9BB0-003C9463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62" y="1468285"/>
            <a:ext cx="4990006" cy="1177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7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BFA7D6-FEAD-992F-8915-DE55CDE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89236"/>
            <a:ext cx="4348343" cy="1458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r" defTabSz="914378">
              <a:lnSpc>
                <a:spcPct val="90000"/>
              </a:lnSpc>
              <a:spcBef>
                <a:spcPts val="10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None/>
              <a:defRPr sz="1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189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378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566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754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5943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132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320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509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从 </a:t>
            </a: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AR-HUD </a:t>
            </a: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原型到可扩展的实时导航架构</a:t>
            </a: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00" b="1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2854E5D-BD16-DF9A-FB60-D1B7ACD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62" y="3822198"/>
            <a:ext cx="26101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乔家桢</a:t>
            </a:r>
            <a:br/>
            <a:r>
              <a:rPr>
                <a:solidFill>
                  <a:srgbClr val="C00000"/>
                </a:solidFill>
              </a:rPr>
              <a:t>2026.9.30</a:t>
            </a:r>
            <a:endParaRPr>
              <a:solidFill>
                <a:srgbClr val="C00000"/>
              </a:solidFill>
            </a:endParaRP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9305539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项目背景 – 从 AR-HUD 原型走向实车架构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E3CB9-C051-43C7-9664-5DEB55B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71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64239-297D-45FB-92F5-6C0A5EC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71475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6DDD6-3503-4A2D-89A3-98E9F56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原型阶段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3857A-DB5A-4CBD-A225-DF9002D3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Unity / AR-HUD 适合快速验证 HUD 呈现、路线叠加与交互。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但地图渲染、定位处理和业务状态逐渐耦合，难以承接持续定位与实时重算。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856EA-4B7B-42B6-ABF1-B649AA8C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371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14E09-B303-4B95-B942-B0C4525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371475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3FB77-7F98-4F8C-A284-8192A4E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实车部署目标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B09D9-8634-4C69-B5D3-2F720A36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将导航能力从显示工程中拆出。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路由、地图、定位匹配分别承担职责；HUD、Web 和后续车端共用同一导航状态。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9887E-2C51-4C52-BC18-8555C47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7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设计结论：以本地、可复现的导航内核承接实时性要求，AR-HUD 作为可替换的显示终端。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MVP 范围 – 先验证离线导航闭环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42FBB-EB07-4FA9-96AE-80D02556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CD934-6836-4148-AEC5-C427EE89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99F3B-4141-49A8-B923-750E0AC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当前已实现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0B4F1-DC28-4BD3-A2BA-22A2368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离线路线规划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离线地图渲染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模拟轨迹回放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道路吸附与偏航重算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01846-0FF2-4045-826D-0A5F2DA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21269-92D8-4D57-9FB3-1378F82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30426-0DAB-4F90-AE30-EC6DD86F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工程原则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62029-58CE-4CDB-B861-237E40C2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本地优先、可复现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WGS-84 统一坐标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/ MapLibre / FastAPI 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9F711-FB56-49D8-8308-802040B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18240-1B60-45FD-BAFB-F9C6E571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B2D25-A955-4ED5-9D47-76EBCF0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后续再接入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BBC39-FF61-40F2-A0DC-13161AB4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真实 GPS 与车辆 CAN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实时交通、云地图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视觉识别、语音与推荐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0A426-8FB5-4DF6-923D-5B1FBF18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MVP 不使用真实用户轨迹；所有演示输入均为可重复的合成轨迹。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总体架构 – 数据、路由、协调与显示分层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8EA14-4C93-44E7-A966-33145FDF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76E10-60B4-4AEC-92BD-BD03A416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493F0-A9B2-447B-AB3B-5AB258A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离线数据构建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094D3-B14C-42BD-B2FF-87C02C44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OSM → OSRM / GeoJSON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18A0B-AF95-4177-A52D-51D9E24B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5B50F-C51C-4838-B8C5-709D846B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C3190-57DF-4831-82E2-3D268F0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路由引擎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9D857-F9C8-4C3F-9F43-BE94490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路线、最近道路、匹配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50E81-5DA1-4A95-8CC1-8066E85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AB2F1-4CB6-40BE-8ABF-926BA5DA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B7004-64C3-4DD8-9A2B-B3230D38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FastAPI 协调层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F6580-BB95-452C-BA05-6123A47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会话、偏航、状态推送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C6B38-7D1E-4D78-9E15-CBB3A4D6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8722D-049B-4FFC-A17F-16B0833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F2032-D1EF-45E7-8541-5633B7E1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66825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MapLibre 显示层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36938-46C5-4AA6-B92B-1361060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33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底图、路线、车标、提示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13ADD5-782B-4F82-95A4-019111F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E94BA2-50D9-4D93-85BD-DF0FEA6E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93749-67AF-44B6-B1C0-167D668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A16C7-26B5-48BE-9BAE-B3CD695C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D6824A-F5F7-459A-9299-40E9BE1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5FBE9F-8C54-40DA-90A7-F8B3A29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860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定位来源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68C4F-4DCF-4A22-BEB1-1AA0EBE2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52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当前：JSON 回放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后续：iOS GPS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D8BBEE-77F8-4C72-A0CA-ECBAEAF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667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D87D1-5FFE-4F27-BC03-2B3C51A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8D2A47-28F8-47FB-AE22-A9C4040D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8607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导航状态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AA750B-0E19-4D49-BC6A-DA071387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527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匹配位置、进度、下一动作、偏航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ECFB59-3C76-4132-8B2B-6E4B935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D95ACB-869A-4EA8-BE66-B23DFAD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D54A0E-7B00-4C47-99F5-CB3E8BE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86075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显示终端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F8480C-10E0-43B9-B0BF-F325096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527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当前：本地 Web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后续：AR-HUD / 车端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24B53C-1825-4727-B89F-D42B043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D31F64-BBB8-475D-87C7-F7A6EEF5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623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9DB4F-1AB2-47B4-BE4A-6D85A66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OSRM 负责路网查询；FastAPI 把定位处理为导航状态；MapLibre 只负责显示。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开源基座 – 复用成熟能力，保留业务边界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F1469-4F79-41F3-8772-B86B68E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692DE-CEF2-421D-BDC2-7722AD16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7996D-4A07-4206-BD47-59198182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OSRM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CB5AD-8CC9-4EDB-9B34-8F6F8BF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192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高性能开源路由引擎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CA20E-8D9C-4BCB-AB8C-2BAADD6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209675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汽车 profile、路线规划、最近道路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2864D-5912-44C7-B3F1-CB37CEE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B43D56"/>
                </a:solidFill>
                <a:latin typeface="宋体"/>
                <a:ea typeface="宋体"/>
                <a:cs typeface="宋体"/>
              </a:rPr>
              <a:t>Project-OSRM/osrm-backend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50819-4444-4F18-92FE-0587BD1D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0523F-42CA-40AE-B4C2-0427B3F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852A1-9194-4B6D-89ED-5E5BA905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MapLibre GL 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A71E8-D8DE-469C-88BE-977C12B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193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浏览器端开源地图渲染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C69A6-A9B9-417C-979D-3F122D33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离线 GeoJSON 图层、路线叠加、相机跟随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ABA9D-A709-4C2B-8ADC-02A5E75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43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F8B72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2F8B72"/>
                </a:solidFill>
                <a:latin typeface="宋体"/>
                <a:ea typeface="宋体"/>
                <a:cs typeface="宋体"/>
              </a:rPr>
              <a:t>maplibre/maplibre-gl-js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4CEBC-4CEF-4546-9649-DBDEDA3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F2026-9C75-409C-8883-58CFEF1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BD9E7-1A79-41DC-A57C-2255C25C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FastAPI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042D3F-388C-43B5-A188-D7080058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194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Python 服务框架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2F86A-7315-48B5-BBB7-1C4067E7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类型化 API、导航会话、状态推送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3D046-180D-475B-BCCF-92A7607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98A2E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D98A2E"/>
                </a:solidFill>
                <a:latin typeface="宋体"/>
                <a:ea typeface="宋体"/>
                <a:cs typeface="宋体"/>
              </a:rPr>
              <a:t>fastapi/fastapi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OSM 数据处理 – 一份原始地图，两条离线产线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77D8C-7A4A-43B4-BB93-D56A57F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272B0-E1C2-4740-A77C-53454AA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1C7C7-3B1D-4779-9298-3F1A02F8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97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map.osm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5D6D5-0140-4E25-83A5-3094480F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764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原始 OSM XML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Git 忽略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34FC4-C2FA-4BB2-8AFB-0EB41D8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285875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CF167-8531-4170-8D20-0C695E3E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F515A-E3EC-4B0B-B51D-9C47013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097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MLD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C9AD8-DADD-4FF4-844C-E6665B1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76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extract → partition → customize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汽车路网查询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5EA4E-C60D-46A1-82CA-FA24A6C8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3316D-4485-4B94-9276-69E242D5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46204-6D95-4F67-AA80-2B8719E2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40970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8 类 GeoJSON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91A4F-7304-4740-9470-A3B27F1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6764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道路、建筑、水系、绿地、用地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道路名、地点名、POI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9D5DD-853E-45EC-989D-2A7D17E7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85875"/>
            <a:ext cx="1047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24740-A9BC-4B69-B7D0-23C2AB7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35A48-060E-40D7-A27C-BE01F85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0970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MapLibre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6F8A0-E92B-49ED-8838-2497EFC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3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本地静态加载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不依赖在线瓦片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12C87-CE32-427D-AB85-14FD72D0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9C4E0-A03D-4985-A230-DFA9D026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52A37-67B5-4A8F-BCA6-BB86F7E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EE932-DCE0-4DC6-AD01-1A954A9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814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6A2E20-91A3-4FDB-B66C-B5DA493E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数据治理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34589E-C656-4963-A491-D91FB4C7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输入 SHA-256、地图边界、构建时间、工具版本与完整命令均写入元数据。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90532-4D0F-4EBC-B905-C3FACFF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当前输入为北京局部区域；原始 OSM、OSRM 预处理文件与后续 MBTiles 均不提交 Git。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离线地图渲染 – 主题 GeoJSON 与导航叠加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f713b7f464918"/>
          <a:srcRect xmlns:a="http://schemas.openxmlformats.org/drawingml/2006/main" l="4363" t="0" r="43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000125"/>
            <a:ext cx="409575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CDE99-7987-4A53-8516-AD425475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231D3-222B-4AD6-B922-4C9A68E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89950-553C-4B6A-9086-AD4834F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715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表达层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95A3B-8706-4020-96D4-82BA10D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430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道路、建筑、水系、绿地、用地与标签分层渲染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376DD-0C92-49F6-A085-F38C604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495AF-121F-48F7-AD7F-3F69391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01B4F-1EA9-41D6-BC40-1BA614DB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导航层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8228C-C069-480C-B61F-DCD3C121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主路线高亮、已通过路线灰化、车标与转向提示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3B4E2-B75C-4CDE-BC39-E553D2CB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E0637-FF51-4C14-9934-E17B201C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3660B-2D69-4F7D-8B78-2F6EC64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24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性能路径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748E0-1D23-4141-AB94-8758BE5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当前使用主题 GeoJSON；扩展地图范围时升级为 MBTiles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92CE1-1A7F-4E13-9AC1-4BBADA0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MapLibre 不直接解析 OSM XML。项目先将 OSM 转成主题 GeoJSON，再由 MapLibre 以图层规则渲染。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MVP 当前成果 – 离线导航闭环可演示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46E9B-345A-4952-B74E-AB0FC2E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B0EF3-56F4-4227-972E-123FE22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410EA-FFA5-467A-B1E0-31E263FA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选择起终点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F40CF-E65D-4622-8DF2-B020DCE2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地图点击或预置端点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CF0CE-41A4-4FAF-A5D3-6FB499C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D314A-887A-4111-B0CF-8C6DF238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DFF66-B1B6-4557-8745-DC452633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1DA93-22CC-4903-B757-5764EA9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路线规划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9DB07-4FF6-45F2-8FBF-94C7CA4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距离、时长、逐步转向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0F660-934D-4667-BEB3-C4AFAE61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8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56F77-AA78-4B09-BDE6-F4F98188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34F58-739A-45A1-BE7E-1928EC75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B28E5-08FB-4BEA-A6F8-F0B23B6E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模拟回放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2275A-EF09-4B05-90E3-29AD44DC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暂停、继续、重播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BA424-3B81-484C-A255-C9A814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B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577470-BDED-4AE9-B4FA-1CDCD1C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7DE99-F75F-4A14-89EE-BEE67E1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82EBE-D739-472A-BCD2-7B917CD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道路匹配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EDC00-C166-4DA5-8F59-8429C2A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位置、进度、下一动作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781553-B90A-4499-B41D-3F74115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7E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85D18-8C1C-424D-BB46-882C879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94A39C-7513-4297-8442-577D2095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4628E6-E052-4144-92F4-74F8AC37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到达 / 重算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4EFDD9-02AC-4FBA-8772-2256B30F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替换路线并继续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807E81-8D1E-4C48-BBA1-B73EA5BA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8096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13E400-939D-4FF7-8B73-590BB417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当前验证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06E958-6362-4D9A-9374-E703B33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正常路线、无可达路线、路网外定位点与偏航重算。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正常轨迹到达 arrived；偏航轨迹恰好触发一次路线替换。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146FCC-49F1-4051-A86F-65DA45D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运行方式：bash scripts/demo.sh 启动本地服务；bash scripts/smoke_test.sh 验证闭环。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实车路径一 – 通过 iOS 接入 GPS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21157D47-CB36-4B23-9887-277784B2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454E4-E6A0-432C-8043-E1D15492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B13CD-CBB1-448D-A01B-3D2E3F5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8AFEC-E34C-4C3D-8E49-D1EE7185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iPhone / 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CECF0-2071-4947-A09C-9B39E1C2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Core Location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位置、航向、速度、精度、时间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29AEF-D452-4071-BDA6-8CCA7A0B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3027D-89E6-467E-B0DD-49CBB57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E179A-873C-471F-AF42-6FF050B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314450"/>
            <a:ext cx="2019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传输适配层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BA9FC-AA52-40DD-8A88-8701D15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5811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局域网 WebSocket 优先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序号、鉴权、心跳、重连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A6610-DF78-49DC-970B-452451C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ED7D6-7CAD-4A74-83DA-0A18017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F8648-10B8-4806-9D1C-D381D34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144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导航协调层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231BF-FD62-4E50-980A-8BB62FF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字段校验、时序处理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道路吸附、偏航判断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71DD9-C83A-4C74-BB93-E5DB575B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9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D8843-386A-464D-855B-D525D30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9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516A8-B7CC-4D58-9047-380F6A1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1986F-F0F7-4B81-9712-44E233D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9DA4C-297F-4361-B772-1794099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定义定位协议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691F8-B575-4A18-802A-1075C329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lat、lon、heading、speed、accuracy、timestamp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54F8BE-AD74-4D2C-8F79-9972FA5F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97AC8C-2134-41CF-80AF-953217C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0187D7-A10E-4C02-A09C-02098A58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端到端回放对照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F2B18F-FD44-4BA2-BB6C-F8F9D1C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同一轨迹输入应产生同一导航状态序列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FAF7A-2A93-4F61-A74B-D200ED97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8B1CF-6E07-47BF-B730-ECB975A5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02A4C-3681-42C8-A19A-B60424C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道路匹配上线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9A97E3-E88D-4C39-8755-4BDA247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只显示匹配位置，原始点保留给诊断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61215E-2F9B-445C-9A71-2A1A990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4D6EF6-EBEA-4D44-A3E4-5ED3851A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830902-D020-4185-9ED6-B7D0B3B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车端异常处理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DF1B8C-DE52-4872-914A-CED418CA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3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弱网、漂移、断连、低精度与恢复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83BAEA-B65B-4560-9B26-CA38591B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iOS 只替换定位来源适配器，不直接驱动地图，也不将原始 GPS 写回 OSM。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6CE76DDD-BB9E-3913-D786-6C8A31B3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实车路径二 – 视觉模型作为确认与感知能力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B9B80E1B-02AA-3C5C-BF03-59A764B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C3CB5FD9-63D7-4C22-9426-4B78E11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2921C80-4027-A4A7-3069-DAC7D33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DE4EA-A34F-4D4C-B9F2-9D8533A7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857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7355A-C07D-4DE8-B315-DF6283F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FBF45-2661-4465-ADE0-D4712938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590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相机输入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05FC8-7360-4AEE-9E2A-266628B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车载或手机相机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帧时间戳与设备标识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6B5AC-DFF2-430A-8DDC-328DFC2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190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5CEE0-C181-43DF-94D7-954DF8C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DDEFC-E711-4B43-BC29-8CC088D4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62075"/>
            <a:ext cx="163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视觉推理服务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F9D38-2E6F-4A2E-B681-885AAD53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287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检测 / 识别 / 置信度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可本地部署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39A3E-662F-425D-B030-2C3CEC1B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38250"/>
            <a:ext cx="190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B5B5C-4C83-46CC-91C5-729C1EB3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83F2B-0A11-41AA-83F6-1366CC1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62075"/>
            <a:ext cx="163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事件适配层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FEA2B-C740-4F7F-BF54-D2186BC7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287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时空对齐、去抖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限定结构化事件模型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F9764-C851-453A-A624-E28FC06C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128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91FEB-B09C-4915-84C3-17EDF4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7DD3B-71E0-476F-8771-1D9E263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62075"/>
            <a:ext cx="1019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导航体验层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D158B-43B3-4850-8D15-54A5F0A5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28775"/>
            <a:ext cx="1019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1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到达确认、提示增强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不直接改写路由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AEE925-BB0E-4F90-A646-17D7BC0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935E0-2063-4E60-A760-3B934795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69E5B-F88D-4FC2-B12F-85E0021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AD146-C69F-4F87-9756-CB9B053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8096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258B2-B7A6-47B0-8D2A-10978F7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优先落地场景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FB37B-F773-4BE2-909B-36332192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908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接近终点时识别商铺招牌或入口，将结果作为“到达确认”的辅助信号。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视觉服务只输出事件和置信度，由导航会话决定是否展示或触发动作。</a:t>
            </a:r>
          </a:p>
        </p:txBody>
      </p:sp>
    </p:spTree>
    <p:extLst>
      <p:ext uri="{BB962C8B-B14F-4D97-AF65-F5344CB8AC3E}">
        <p14:creationId xmlns:p14="http://schemas.microsoft.com/office/powerpoint/2010/main" val="33073115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DFE7B40E-A263-08FC-30FE-4A31A559A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下一阶段计划 – 从可演示闭环走向可路测闭环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0CE99AC6-279E-58C0-973B-6DFE46C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6A221BA-CC6B-4475-81BD-5361ED5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33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E4F7722-C0D7-85FF-B3C2-0515CB6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9ADA83D-DF77-AA76-6DA0-7A70CD7A4D20}" type="slidenum">
              <a:rPr sz="1000"/>
              <a:t/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66986-7192-4FEF-AFC7-C9BCBC47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4F5BE-F8AE-45C6-A976-B12B5E7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E0DAE-340E-41A8-AFB8-781ED459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近期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8DD3B-86C9-4367-9B76-7174C44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525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iOS 定位协议与回放工具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2574D-207D-44FD-AC50-D67EFFC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33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将手机定位数据导入现有模拟器，验证时间戳、精度与断连行为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870E4-C42A-4E70-AFE2-1359C1F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68F65-BE76-415A-9749-112B10BE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883C1-499E-4AE0-A823-2BA8222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B72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2F8B72"/>
                </a:solidFill>
                <a:latin typeface="宋体"/>
                <a:ea typeface="宋体"/>
                <a:cs typeface="宋体"/>
              </a:rPr>
              <a:t>中期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82310-7676-4C72-90AB-C72E865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实车定位适配与路测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72F43-A7FF-4648-88F5-CE03511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验证道路匹配、偏航阈值与导航状态推送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B6BD4-9637-4D15-A4C8-574A420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8E786-BCA4-486B-B34B-68388E3F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E5777-01E0-4BCD-A9E4-BE196CC0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8A2E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D98A2E"/>
                </a:solidFill>
                <a:latin typeface="宋体"/>
                <a:ea typeface="宋体"/>
                <a:cs typeface="宋体"/>
              </a:rPr>
              <a:t>后续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1867B-5C74-4F34-B554-A9D18AE1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193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本地视觉事件服务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3A525-5C8C-41A6-B16A-D43D53C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先做终点确认，再扩展到道路感知提示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B96B1-2CEE-4AAA-8E9C-2D09E010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9CDB5-43C3-4071-8923-D8C0CF9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547CB-A55E-46CD-A01F-C93D220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7EAD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427EAD"/>
                </a:solidFill>
                <a:latin typeface="宋体"/>
                <a:ea typeface="宋体"/>
                <a:cs typeface="宋体"/>
              </a:rPr>
              <a:t>规模化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8AF2D-0EA4-4DCF-866A-D65CA393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MBTiles 与车端显示集成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BBC544-3FAC-414E-92D3-4F1E0B4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扩大离线地图范围，接入 HUD / 车机显示终端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8DC47-D0DD-455B-A1DE-057878C9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持续约束：离线优先、WGS-84 一致、适配层隔离外部服务、真实数据最小化且合规使用。</a:t>
            </a:r>
          </a:p>
        </p:txBody>
      </p:sp>
    </p:spTree>
    <p:extLst>
      <p:ext uri="{BB962C8B-B14F-4D97-AF65-F5344CB8AC3E}">
        <p14:creationId xmlns:p14="http://schemas.microsoft.com/office/powerpoint/2010/main" val="6671592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0592-199F-4BB9-B661-5181646F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100" b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408144"/>
      </p:ext>
    </p:extLst>
  </p:cSld>
</p:sld>
</file>

<file path=ppt/theme/theme1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2026-09-29T13:49:15.4810000Z</dcterms:created>
  <dcterms:modified xsi:type="dcterms:W3CDTF">2026-09-29T13:49:15.4810000Z</dcterms:modified>
</coreProperties>
</file>