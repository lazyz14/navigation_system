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4de02d9bb4e22" /><Relationship Type="http://schemas.openxmlformats.org/officeDocument/2006/relationships/extended-properties" Target="/docProps/app.xml" Id="R3504bb2fad154908" /><Relationship Type="http://schemas.openxmlformats.org/officeDocument/2006/relationships/officeDocument" Target="/ppt/presentation.xml" Id="R79490b5d6edd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c94298b3d04188"/>
  </p:sldMasterIdLst>
  <p:notesMasterIdLst>
    <p:notesMasterId xmlns:r="http://schemas.openxmlformats.org/officeDocument/2006/relationships" r:id="Rd0921ba3e5fe4461"/>
  </p:notesMasterIdLst>
  <p:sldIdLst>
    <p:sldId xmlns:r="http://schemas.openxmlformats.org/officeDocument/2006/relationships" id="256" r:id="Rd900a8217da8428d"/>
    <p:sldId xmlns:r="http://schemas.openxmlformats.org/officeDocument/2006/relationships" id="257" r:id="R286b63ecae204fd8"/>
    <p:sldId xmlns:r="http://schemas.openxmlformats.org/officeDocument/2006/relationships" id="258" r:id="Ra39c5711ae1b45ee"/>
    <p:sldId xmlns:r="http://schemas.openxmlformats.org/officeDocument/2006/relationships" id="259" r:id="R86ef66ca407b408e"/>
    <p:sldId xmlns:r="http://schemas.openxmlformats.org/officeDocument/2006/relationships" id="260" r:id="R0a46ab35f5af46f8"/>
    <p:sldId xmlns:r="http://schemas.openxmlformats.org/officeDocument/2006/relationships" id="261" r:id="R9a084635d41241ba"/>
    <p:sldId xmlns:r="http://schemas.openxmlformats.org/officeDocument/2006/relationships" id="262" r:id="Re3adef32d73c451a"/>
    <p:sldId xmlns:r="http://schemas.openxmlformats.org/officeDocument/2006/relationships" id="263" r:id="Rfb4f1f4eeace43be"/>
    <p:sldId xmlns:r="http://schemas.openxmlformats.org/officeDocument/2006/relationships" id="264" r:id="R9a8a9158df1f4a11"/>
    <p:sldId xmlns:r="http://schemas.openxmlformats.org/officeDocument/2006/relationships" id="265" r:id="R0df35c77f7964e2c"/>
    <p:sldId xmlns:r="http://schemas.openxmlformats.org/officeDocument/2006/relationships" id="266" r:id="R638c47d97c1145f1"/>
    <p:sldId xmlns:r="http://schemas.openxmlformats.org/officeDocument/2006/relationships" id="267" r:id="R3f681959fe5547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27828615a74e6e" /><Relationship Type="http://schemas.openxmlformats.org/officeDocument/2006/relationships/slideMaster" Target="/ppt/slideMasters/slideMaster1.xml" Id="R7ac94298b3d04188" /><Relationship Type="http://schemas.openxmlformats.org/officeDocument/2006/relationships/notesMaster" Target="/ppt/notesMasters/notesMaster1.xml" Id="Rd0921ba3e5fe4461" /><Relationship Type="http://schemas.openxmlformats.org/officeDocument/2006/relationships/presProps" Target="/ppt/presProps.xml" Id="R3d7fc7182a0a4901" /><Relationship Type="http://schemas.openxmlformats.org/officeDocument/2006/relationships/viewProps" Target="/ppt/viewProps.xml" Id="Reed878725d874e7c" /><Relationship Type="http://schemas.openxmlformats.org/officeDocument/2006/relationships/tableStyles" Target="/ppt/tableStyles.xml" Id="R361c526a4fcf4628" /><Relationship Type="http://schemas.openxmlformats.org/officeDocument/2006/relationships/slide" Target="/ppt/slides/slide1.xml" Id="Rd900a8217da8428d" /><Relationship Type="http://schemas.openxmlformats.org/officeDocument/2006/relationships/slide" Target="/ppt/slides/slide2.xml" Id="R286b63ecae204fd8" /><Relationship Type="http://schemas.openxmlformats.org/officeDocument/2006/relationships/slide" Target="/ppt/slides/slide3.xml" Id="Ra39c5711ae1b45ee" /><Relationship Type="http://schemas.openxmlformats.org/officeDocument/2006/relationships/slide" Target="/ppt/slides/slide4.xml" Id="R86ef66ca407b408e" /><Relationship Type="http://schemas.openxmlformats.org/officeDocument/2006/relationships/slide" Target="/ppt/slides/slide5.xml" Id="R0a46ab35f5af46f8" /><Relationship Type="http://schemas.openxmlformats.org/officeDocument/2006/relationships/slide" Target="/ppt/slides/slide6.xml" Id="R9a084635d41241ba" /><Relationship Type="http://schemas.openxmlformats.org/officeDocument/2006/relationships/slide" Target="/ppt/slides/slide7.xml" Id="Re3adef32d73c451a" /><Relationship Type="http://schemas.openxmlformats.org/officeDocument/2006/relationships/slide" Target="/ppt/slides/slide8.xml" Id="Rfb4f1f4eeace43be" /><Relationship Type="http://schemas.openxmlformats.org/officeDocument/2006/relationships/slide" Target="/ppt/slides/slide9.xml" Id="R9a8a9158df1f4a11" /><Relationship Type="http://schemas.openxmlformats.org/officeDocument/2006/relationships/slide" Target="/ppt/slides/slide10.xml" Id="R0df35c77f7964e2c" /><Relationship Type="http://schemas.openxmlformats.org/officeDocument/2006/relationships/slide" Target="/ppt/slides/slide11.xml" Id="R638c47d97c1145f1" /><Relationship Type="http://schemas.openxmlformats.org/officeDocument/2006/relationships/slide" Target="/ppt/slides/slide12.xml" Id="R3f681959fe55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5a1827629e4f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370f5b11a4593" /><Relationship Type="http://schemas.openxmlformats.org/officeDocument/2006/relationships/notesMaster" Target="/ppt/notesMasters/notesMaster1.xml" Id="R86bdd441f09a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3c8d51750a4f4a" /><Relationship Type="http://schemas.openxmlformats.org/officeDocument/2006/relationships/notesMaster" Target="/ppt/notesMasters/notesMaster1.xml" Id="R632f37e04ccf47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2f14a4954a430e" /><Relationship Type="http://schemas.openxmlformats.org/officeDocument/2006/relationships/notesMaster" Target="/ppt/notesMasters/notesMaster1.xml" Id="R27c4c112e39b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e98d204224b1e" /><Relationship Type="http://schemas.openxmlformats.org/officeDocument/2006/relationships/notesMaster" Target="/ppt/notesMasters/notesMaster1.xml" Id="Rdfd4a5102bb140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b335e7de084c45" /><Relationship Type="http://schemas.openxmlformats.org/officeDocument/2006/relationships/notesMaster" Target="/ppt/notesMasters/notesMaster1.xml" Id="R181cf27db8364a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e2923bfb2444b4" /><Relationship Type="http://schemas.openxmlformats.org/officeDocument/2006/relationships/notesMaster" Target="/ppt/notesMasters/notesMaster1.xml" Id="R93a5dfd209024e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53574467554eec" /><Relationship Type="http://schemas.openxmlformats.org/officeDocument/2006/relationships/notesMaster" Target="/ppt/notesMasters/notesMaster1.xml" Id="Ra05bcca4d8994f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2e40f4bce24bbb" /><Relationship Type="http://schemas.openxmlformats.org/officeDocument/2006/relationships/notesMaster" Target="/ppt/notesMasters/notesMaster1.xml" Id="Rc93df4b91fff4c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bc904c9ca4da5" /><Relationship Type="http://schemas.openxmlformats.org/officeDocument/2006/relationships/notesMaster" Target="/ppt/notesMasters/notesMaster1.xml" Id="Re613c71f75bf4c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72174ca9ac4338" /><Relationship Type="http://schemas.openxmlformats.org/officeDocument/2006/relationships/notesMaster" Target="/ppt/notesMasters/notesMaster1.xml" Id="Rb8ffe8a37e484c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cf0956040146c2" /><Relationship Type="http://schemas.openxmlformats.org/officeDocument/2006/relationships/notesMaster" Target="/ppt/notesMasters/notesMaster1.xml" Id="R2816399dbede4e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cb0b4cce2b4942" /><Relationship Type="http://schemas.openxmlformats.org/officeDocument/2006/relationships/notesMaster" Target="/ppt/notesMasters/notesMaster1.xml" Id="Rdf7aecf2f03542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汇报聚焦当前 MVP 已完成的离线导航闭环，以及走向实车部署时的架构路径。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当前项目没有否定 AR-HUD 的价值，而是把它定位为显示层。导航内核可独立演进，并向其他车端或 Web 显示端复用。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不将尚未实现的 GPS、视觉和云端能力混入当前成果。测试轨迹全部为合成数据。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 ARCHITECTURE.md：OSRM 负责路网与路线，FastAPI 负责会话和导航协调，MapLibre 负责渲染。浏览器不直接调用 OSRM。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开源参考：</a:t>
            </a:r>
          </a:p>
          <a:p xmlns:a="http://schemas.openxmlformats.org/drawingml/2006/main">
            <a:r>
              <a:t>OSRM https://github.com/Project-OSRM/osrm-backend</a:t>
            </a:r>
          </a:p>
          <a:p xmlns:a="http://schemas.openxmlformats.org/drawingml/2006/main">
            <a:r>
              <a:t>MapLibre GL JS https://github.com/maplibre/maplibre-gl-js</a:t>
            </a:r>
          </a:p>
          <a:p xmlns:a="http://schemas.openxmlformats.org/drawingml/2006/main">
            <a:r>
              <a:t>FastAPI https://github.com/fastapi/fastapi</a:t>
            </a:r>
          </a:p>
          <a:p xmlns:a="http://schemas.openxmlformats.org/drawingml/2006/main">
            <a:r>
              <a:t>仓库 package.json 与 pyproject.toml 分别声明 maplibre-gl、FastAPI 等依赖。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资料来源：docs/data-build.md；data/metadata/map.osm-build.json；data/metadata/map.osm-maplibre-thematic-geojson-build.json。OSRM 使用 MLD 构建流程。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资料来源：ARCHITECTURE.md 第 4 节与 docs/data-build.md。当前为同一 OSM 构建的 8 类 GeoJSON，后续可替换为 MBTiles 而无需改变前端路由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资料来源：README.md、docs/demo-runbook.md、DEVELOPMENT.md。此页描述项目定义的验证标准和演示闭环，不把其表述为生产实车验证。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这是后续设计建议，尚未在 MVP 实现。数据契约沿用项目 DATA_POLICY.md 中的 WGS-84 模型。传输方案建议局域网 WebSocket 优先，后续可评估 USB / BLE 等链路。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这是后续设计建议，当前 MVP 不包含 OCR、检测模型或真实视频。项目 ARCHITECTURE.md 已定义 OCR 只在接近终点时验证商铺招牌的边界。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本页为规划，不代表现已具备的能力。计划沿用现有架构边界，避免 iOS、视觉模型或车端 UI 直接耦合 OSRM / MapLibre 内核。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感谢。可根据听众继续展开数据构建、偏航匹配算法、iOS 传输协议或视觉服务边界。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668d477cf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0cba2b8cd4041" /><Relationship Type="http://schemas.openxmlformats.org/officeDocument/2006/relationships/slideLayout" Target="/ppt/slideLayouts/slideLayout1.xml" Id="R835b91f340b94c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b91f340b94c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7565bbbbf4ec8" /><Relationship Type="http://schemas.openxmlformats.org/officeDocument/2006/relationships/notesSlide" Target="/ppt/notesSlides/notesSlide1.xml" Id="R3285295b628c40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5bc7e96c347d1" /><Relationship Type="http://schemas.openxmlformats.org/officeDocument/2006/relationships/notesSlide" Target="/ppt/notesSlides/notesSlide2.xml" Id="R6148fb80826c4d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8ccc087784d3c" /><Relationship Type="http://schemas.openxmlformats.org/officeDocument/2006/relationships/notesSlide" Target="/ppt/notesSlides/notesSlide3.xml" Id="R27964d628efd4c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a2936a10d4b38" /><Relationship Type="http://schemas.openxmlformats.org/officeDocument/2006/relationships/notesSlide" Target="/ppt/notesSlides/notesSlide4.xml" Id="R75b287fd444741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b5bb36106405d" /><Relationship Type="http://schemas.openxmlformats.org/officeDocument/2006/relationships/notesSlide" Target="/ppt/notesSlides/notesSlide5.xml" Id="R23d4dc0fa5df40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9f53878ec49ac" /><Relationship Type="http://schemas.openxmlformats.org/officeDocument/2006/relationships/notesSlide" Target="/ppt/notesSlides/notesSlide6.xml" Id="Rce6f47a486114b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f3440c2cd4e5e" /><Relationship Type="http://schemas.openxmlformats.org/officeDocument/2006/relationships/image" Target="/ppt/media/image.png" Id="Re0c6e7da14f7467a" /><Relationship Type="http://schemas.openxmlformats.org/officeDocument/2006/relationships/notesSlide" Target="/ppt/notesSlides/notesSlide7.xml" Id="R0801810a004c43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5411f5d3f40e0" /><Relationship Type="http://schemas.openxmlformats.org/officeDocument/2006/relationships/notesSlide" Target="/ppt/notesSlides/notesSlide8.xml" Id="R24df0d3094ec40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da8019e8d49ee" /><Relationship Type="http://schemas.openxmlformats.org/officeDocument/2006/relationships/notesSlide" Target="/ppt/notesSlides/notesSlide9.xml" Id="Re7df931bf3934e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1e59a34d24200" /><Relationship Type="http://schemas.openxmlformats.org/officeDocument/2006/relationships/notesSlide" Target="/ppt/notesSlides/notesSlide10.xml" Id="R5fbe031fbb254b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88580838f4861" /><Relationship Type="http://schemas.openxmlformats.org/officeDocument/2006/relationships/notesSlide" Target="/ppt/notesSlides/notesSlide11.xml" Id="Radbf3ab4d9cd42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49c45ed9b4171" /><Relationship Type="http://schemas.openxmlformats.org/officeDocument/2006/relationships/notesSlide" Target="/ppt/notesSlides/notesSlide12.xml" Id="R3399a58b48234b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B555EC5-4541-4B64-9C4F-2F9C0584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F012FA39-08FD-414B-8243-1FE918A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573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69E43751-9ECF-44C9-B225-07E7578B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9D1499FB-BB03-4DE7-B257-4E055FB4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FD7A93F-B214-4A1E-8D83-63E7950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4FE7145B-F3E3-4B3D-9127-D7A2AD8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35A"/>
          </a:solidFill>
          <a:ln xmlns:a="http://schemas.openxmlformats.org/drawingml/2006/main" w="0">
            <a:noFill/>
          </a:ln>
        </p:spPr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1D913718-21D2-44A1-8EE0-C2B59D6F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57550"/>
            <a:ext cx="3238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436F"/>
          </a:solidFill>
          <a:ln xmlns:a="http://schemas.openxmlformats.org/drawingml/2006/main" w="0">
            <a:noFill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B1964BF-7F41-4DC5-ACA0-B163AFC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FEBFF-F0D7-4AC9-8B25-BF30285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CDBA66A-0576-4368-959F-283FF91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从 AR-HUD 原型到可扩展的实时导航架构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BA0A3C-7F89-44AF-940C-8A8A908D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MVP 阶段成果与下一步演进方案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5ABC57-7386-434A-A9CD-3D0762E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74485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DCE77C4-E206-40B2-9C24-940FB0E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F27A874-C159-4C6D-8D81-B77823E2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为什么从 Unity 原型走向独立导航架构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46DA436-604B-44FB-8636-EF5FE197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AR-HUD 的表现层前提仍成立，但实车部署需要把实时导航能力从渲染工程中解耦。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601A8D74-CC5D-4382-91C7-1F768A5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0101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3F8E341-F081-4C2A-BA56-B346A4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54483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ABB9EFD-E66D-4175-B897-E8508EB7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原型阶段：Unity</a:t>
            </a: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/ AR-HUD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A70C55C-A325-4BCE-99D1-6B007B8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适合快速验证 HUD 呈现、路线叠加与交互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业务逻辑、地图渲染、定位处理容易耦合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面向持续定位与实时重算时，调试与替换成本上升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333A14D-E1AA-4DAD-94AA-FE1C813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实车部署：导航内核独立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8B7EA4-9E50-4A5B-92E1-44E25D6E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路由、地图、定位匹配分别承担明确职责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HUD、Web 与后续车端显示共享同一导航状态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iOS GPS 与视觉识别通过适配层接入，不侵入路由引擎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82A5B18D-DDDD-438C-AA03-5B94B4BC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设计结论：用本地可复现的导航服务承接实时性要求，AR-HUD 作为可替换的显示终端。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389C8C-773D-4DC9-8FEE-40D4DF79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02</a:t>
            </a:r>
          </a:p>
        </p:txBody>
      </p:sp>
    </p:spTree>
    <p:extLst>
      <p:ext uri="{BB962C8B-B14F-4D97-AF65-F5344CB8AC3E}">
        <p14:creationId xmlns:p14="http://schemas.microsoft.com/office/powerpoint/2010/main" val="326127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7073294-9BFF-4189-9455-D2AE959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8368208-F681-4D5C-A83C-46888899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目标与边界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EC63880-A96F-4430-90FB-87B0AC60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先验证一条完整、离线、可重复的汽车导航闭环。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2B70F86-9703-4924-8A8F-68A6DBB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67CA9A3D-7532-4947-9099-FF529E4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67F4FD-03A9-4A94-BB82-D7805B62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本阶段已纳入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4A0E963-2788-4D69-B70A-7A60FA6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离线路线规划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离线地图渲染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模拟轨迹回放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道路吸附与偏航重算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5024DBDD-1860-449E-ADA2-3A523FE3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AF38421-4483-4340-B568-50EF77E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674E489-5990-4CD0-951A-2007143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架构原则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3BE54D8-F105-4846-A0D2-DB74130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本地优先、可复现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WGS-84 统一坐标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/ MapLibre / FastAPI 分层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前端不直接依赖 OSRM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DD4DAD5-D890-43F3-95A3-13DDF1D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3143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703B8E81-F227-403F-8245-63EF061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2C5FD85-635D-453C-85D6-52BACC7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明确暂不纳入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216B53C-0B79-45CC-8DE7-304132C3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533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 GPS 与车辆 CAN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云地图、实时交通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语音、LLM、OCR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真实用户或车辆轨迹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3352B02-00AA-4B21-9A04-CAD08CE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这套边界让 MVP 的结果可验证，也为后续硬件与算法接入预留明确接口。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6D3533-B24B-4D5A-80FB-C737085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03</a:t>
            </a:r>
          </a:p>
        </p:txBody>
      </p:sp>
    </p:spTree>
    <p:extLst>
      <p:ext uri="{BB962C8B-B14F-4D97-AF65-F5344CB8AC3E}">
        <p14:creationId xmlns:p14="http://schemas.microsoft.com/office/powerpoint/2010/main" val="604088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D91B836-F984-4112-ABA2-BC430167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8AF678-05D3-47F4-907D-BD075DD9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总体架构：四层分工，导航状态统一输出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E2D2E97-B6C2-4547-B199-C6C47A1A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浏览器、未来 HUD 与车端显示都只消费协调服务发布的导航状态。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E408C3A1-44A8-4C76-8BCB-CB3BAB1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FC4F4F0A-81F4-4E55-83FE-5B746CAE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7F4AB29-67F6-4BFE-8FC3-CB502D5C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离线数据构建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CF608B-9EB9-47FC-A9AA-A4C428A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7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OSM → OSRM / GeoJSON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3C11C9B-CCD3-4526-A03B-B3458D3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ADF4D6A-9C7A-4575-93DD-38AF2B5F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DC0A986-46A8-4B3D-840F-0785470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路由引擎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700B3E7-BED5-44EB-80B1-5249AE2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76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路线、最近道路、匹配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1F2CBC2-6009-4360-9D1D-2D4A4FD4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B96D0175-273B-4A1A-B3FB-2751456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D21C28F-4BE4-4B53-BE99-676718F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FastAPI 协调层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0A47D84-7491-446E-A769-C1C5C4F4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会话、偏航、状态推送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CFAA6915-85DC-430F-A0B4-0B8AE167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20CBB23-2AC3-4224-8D0A-01F4655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E46C92B-7989-439B-8FC7-91B6703E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383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 显示层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460A1F-637D-4147-9970-337D8715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76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底图、路线、车标、提示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38B2F439-D238-431A-944E-8D9FA901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0EA579E6-91E1-43B4-8DE6-8469A40E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CEE0EB05-3DC4-4BFD-8D5E-963775D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860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FBC6B17F-35D7-4CA3-A42B-2F2671B8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1CFA243C-504F-4F17-831F-1DFDACD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6707BB2-02DB-4485-AEC8-4DA7021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轨迹来源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612F3A2-D6AF-4F27-921C-13145758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62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当前：JSON 回放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后续：iOS GPS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3C3DB17-1055-4746-805B-6EC26BB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91BFED2A-FCA4-45B2-908C-A299F322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F4B3E8C-0767-4F87-B95F-9FFCC56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4337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导航状态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BCC2144-7DAD-4D2E-A2C7-998ACAB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624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匹配位置、进度、下一动作、偏航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E01C30FC-C976-4AF9-9BD0-4CEC4D89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7A1EC2FD-44BB-4D92-A3BF-AABDAD3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63BCCB6-AF38-423A-B8EC-4CD07408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4337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显示终端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9683D2B-B058-4757-A8BB-B0FF041B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62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当前：本地 Web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后续：AR-HUD / 车端</a:t>
            </a:r>
          </a:p>
        </p:txBody>
      </p:sp>
      <p:sp>
        <p:nvSpPr>
          <p:cNvPr id="35" name="直线连接符 34">
            <a:extLst xmlns:a="http://schemas.openxmlformats.org/drawingml/2006/main">
              <a:ext uri="{FF2B5EF4-FFF2-40B4-BE49-F238E27FC236}">
                <a16:creationId xmlns:a16="http://schemas.microsoft.com/office/drawing/2014/main" id="{DD9CC2FE-9BFF-4786-8EEF-82AEB57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910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36" name="直线连接符 35">
            <a:extLst xmlns:a="http://schemas.openxmlformats.org/drawingml/2006/main">
              <a:ext uri="{FF2B5EF4-FFF2-40B4-BE49-F238E27FC236}">
                <a16:creationId xmlns:a16="http://schemas.microsoft.com/office/drawing/2014/main" id="{DA7FD7A4-1D99-4329-BDE0-ED9948C7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217608B9-7063-4BD2-BCB5-3BF15BB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关键边界：OSRM 只负责路由与路网查询；MapLibre 只负责显示；FastAPI 负责把位置变成可消费的导航状态。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CB291BA6-411E-435F-882E-0030BF9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04</a:t>
            </a:r>
          </a:p>
        </p:txBody>
      </p:sp>
    </p:spTree>
    <p:extLst>
      <p:ext uri="{BB962C8B-B14F-4D97-AF65-F5344CB8AC3E}">
        <p14:creationId xmlns:p14="http://schemas.microsoft.com/office/powerpoint/2010/main" val="11738982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B356FAF-C5C0-474B-ABC2-4315110E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EA3309A-00C7-4AED-9B60-7AEC6244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开源基座：复用成熟能力，保留业务边界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925C007-C397-4E63-AA0E-1A52D23E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不是从零实现路由、地图渲染或 API 框架，而是在适配层实现导航业务规则。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1088571-85CA-4E53-90BB-339DF75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A201740-48DF-4E4B-AB1C-676A752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ED8454-1120-450D-BC6A-ADF6DD27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OSRM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B07135-6973-452A-BA07-084492A5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240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高性能开源路由引擎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5F68C27-B275-4CAD-A265-2BB9396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 profile、Route / Nearest / Match 能力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1A5069E-DD1C-4BDA-A2FD-F263CF58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Project-OSRM/osrm-backend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CD473B83-A51E-461B-B20E-8348A85B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EFCB451-24C0-483E-B5A0-E0A9FA1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36EF9FE-D409-4375-A646-A2118C6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04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MapLibre GL JS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71E6452-DD7C-477D-AD90-84443256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62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浏览器端开源地图渲染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078ECD-58E7-4B94-998B-B1A64645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离线 GeoJSON 图层、路线叠加、相机跟随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7D922FB-1273-4399-A1D8-A39A5B72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4330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maplibre/maplibre-gl-js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E0A56619-62B0-40C0-802D-3EBB7C0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703060D-719A-4185-A654-FE1A196B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8572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A7B477-8F6A-4316-B7DB-C0FA42D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33D97B-A3DC-413C-8D04-6570D0F0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00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Python 服务框架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2415C71-7580-4248-BF4B-BEF583AB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类型化 API、导航会话、WebSocket 状态推送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591B3FE-8A79-48A4-9455-4EB6F27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815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 lnSpcReduction="2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fastapi/fastapi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96A925E-2511-492F-8B96-B0C088A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05</a:t>
            </a:r>
          </a:p>
        </p:txBody>
      </p:sp>
    </p:spTree>
    <p:extLst>
      <p:ext uri="{BB962C8B-B14F-4D97-AF65-F5344CB8AC3E}">
        <p14:creationId xmlns:p14="http://schemas.microsoft.com/office/powerpoint/2010/main" val="1108628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586356C-5B15-43D1-BACF-A92E57D2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ED88695-F97C-4F3A-91AE-8B7DE60D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OSM 数据处理：一份原始地图，两条可追溯的离线产线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D9D7AF5-71D1-409D-8810-41D80455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实验区域为北京局部路网。输入、边界、校验值、构建时间与命令均记录在元数据中。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3F720B22-5E92-4BCF-9173-7160BC0F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409950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D982E9D-F199-472D-8F85-797C199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17C2DDEC-AD03-45D2-896D-49F6435A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ABE927D-EA24-4C55-B997-1568686A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map.osm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C152B9C-1DF7-41BB-B52B-CB80FEB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原始 OSM XML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Git 忽略</a:t>
            </a:r>
          </a:p>
        </p:txBody>
      </p:sp>
      <p:sp>
        <p:nvSpPr>
          <p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C9CD2C6C-3D3A-4B80-8AA1-513771F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D193B20-F203-41F3-8303-668BF3C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9DEA656-347B-4CF4-8E56-F0FE0401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B8AA470-1A58-4DF1-9CD9-D934CD2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14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MLD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A0701E7-DCF9-4324-AFB6-A13E5D87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extract → partition → customize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汽车路网查询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E98B6450-B0ED-4967-AF82-205E26E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62275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97E1F2B7-C083-430F-BB50-96E0D36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FDEDE8E5-8916-436D-B534-3AA2368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944B8F1-0D48-4F69-9767-9D21C684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8 类 GeoJSON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35AA212-F36B-4439-A895-42EC5BEB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6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 / 建筑 / 水系 / 绿地 / 用地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道路名 / 地点名 / POI</a:t>
            </a:r>
          </a:p>
        </p:txBody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B869BFC0-42CF-4112-9534-26894BD8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6227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085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BDCE5D94-A276-4166-BC30-85BD368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7C957616-CCA5-4400-B827-1FFB326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888F4F4-0B77-4876-B125-17EF247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14625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7EEB7C5-6C18-49C1-A7A2-94449545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52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本地静态加载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不依赖在线瓦片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1D37AC3-82CD-44CE-91E5-1E4FD7D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数据治理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E864FFD-98EF-4FAC-ADF1-A33D8792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 SHA-256 · 地图边界 · 构建 UTC 时间 · 工具版本 · 完整命令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FED05EC-E255-4266-9D88-217A47CA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当前实验范围：39.86864–39.90006 N，116.36676–116.41706 E。原始 OSM、OSRM 文件、MBTiles 均不提交 Git。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D8EBE72-854C-4D38-A9FA-5E9B853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06</a:t>
            </a:r>
          </a:p>
        </p:txBody>
      </p:sp>
    </p:spTree>
    <p:extLst>
      <p:ext uri="{BB962C8B-B14F-4D97-AF65-F5344CB8AC3E}">
        <p14:creationId xmlns:p14="http://schemas.microsoft.com/office/powerpoint/2010/main" val="290930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FFC2C31-9E6A-4B09-A045-E644D1C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7A4EB16-65E8-4658-8CFD-67144E3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离线可视化：以主题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GeoJSON 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降低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MVP </a:t>
            </a: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复杂度</a:t>
            </a:r>
            <a:endParaRPr sz="2400" b="1">
              <a:solidFill>
                <a:srgbClr val="071B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7EC8DC-8265-4CA3-AA62-298D217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先交付可读、可离线的底图与导航叠加；地图规模扩大后无缝替换为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333CA81-264D-49FD-A9CB-17C3C34A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8FB8DF3-EB81-4DA1-95F0-0259AE3B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4A8378B-F8E8-42FA-9B73-0A884AF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表达层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CF4067F-A11C-4924-9E73-2F4C79C5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道路、建筑、水系、绿地、用地与标签分层渲染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BFCEEC5-8F66-4048-A2AE-57005458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862F802-C1B4-453A-8465-26288C5A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0AA786C-DCA4-436F-B99D-A3A52287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9565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导航层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B1F391E-B9F4-4C4B-B41B-8ABBB7F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主路线高亮、已通过路线灰化、箭头、旋转车标、下一转向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E6ECC14-3273-4274-B434-F4C345B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4953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00C2F270-C266-43B7-8B10-77C8771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433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48FE4FF-5396-4969-B714-8DACCB3B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性能路径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CED8FBC-258B-4AE4-87B4-9EDD4DFE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当前主题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GeoJSON；更大范围与高缩放级别转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endParaRPr sz="105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74BED47-A5DD-424D-AEFF-4B04C1B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优化原则：不为当前约 10 MB 的实验地图提前引入 PBF / MBTiles 转换链复杂度。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9421DA0-71B3-46F7-A4E5-15527D75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07</a:t>
            </a:r>
          </a:p>
        </p:txBody>
      </p:sp>
      <p:pic>
        <p:nvPicPr>
          <p:cNvPr id="48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6e7da14f746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41" y="2076929"/>
            <a:ext cx="5435009" cy="29136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50286D6-9D07-421C-A460-6702BB33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6478AD0-DB7F-4CE7-92D1-86B6AACA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当前成果：离线导航闭环已经可演示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B44D48-CC12-40B6-800E-E655C491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从选点到到达、从偏航到重新规划，均可在本地 Docker 环境复现。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191032A-DF4D-4FD9-A1DA-7375F11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7F79FDF-8695-43BC-B52E-686452F2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C16D73A-1654-40CF-A87B-6D645678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选择起终点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3017DB5-0818-4541-BDAB-4F610F1F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5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地图点击或预置端点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FCEE5877-715D-442D-8902-E8D1E5A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3A808915-AE69-4F56-B0EA-8C6AF43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9B53C922-F3B9-4AF1-866C-9C9D962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7C0D4EB-1226-43B9-98DD-C60D749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路线规划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050CFCF-36CA-45A1-941F-9269E224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7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距离、时长、逐步转向</a:t>
            </a:r>
          </a:p>
        </p:txBody>
      </p:sp>
      <p:sp>
        <p:nvSpPr>
          <p:cNvPr id="13" name="直线连接符 12">
            <a:extLst xmlns:a="http://schemas.openxmlformats.org/drawingml/2006/main">
              <a:ext uri="{FF2B5EF4-FFF2-40B4-BE49-F238E27FC236}">
                <a16:creationId xmlns:a16="http://schemas.microsoft.com/office/drawing/2014/main" id="{D00D073B-7754-45C5-8575-90AEBF51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93C23BD-8A4A-4A11-8306-959E683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C936BF5-682A-49D7-AECC-7D06C82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0830F4C-E545-4C83-939B-EE77997A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开始模拟回放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BD54CD6-5601-483A-AE8E-A96C20CF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暂停、继续、重播</a:t>
            </a:r>
          </a:p>
        </p:txBody>
      </p:sp>
      <p:sp>
        <p:nvSpPr>
          <p:cNvPr id="18" name="直线连接符 17">
            <a:extLst xmlns:a="http://schemas.openxmlformats.org/drawingml/2006/main">
              <a:ext uri="{FF2B5EF4-FFF2-40B4-BE49-F238E27FC236}">
                <a16:creationId xmlns:a16="http://schemas.microsoft.com/office/drawing/2014/main" id="{0B5AA879-B1AC-49C1-BC9F-DC3EF1B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E3CCA53-D154-4F58-80E2-7940338F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8F5DCDE-906B-48C9-A39C-3297E1D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7B6F649-7951-4246-A968-FE90A4B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774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与导航状态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FEABE21-84C7-4EC6-98F1-DD9B091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</a:t>
            </a:r>
          </a:p>
        </p:txBody>
      </p:sp>
      <p:sp>
        <p:nvSpPr>
          <p:cNvPr id="23" name="直线连接符 22">
            <a:extLst xmlns:a="http://schemas.openxmlformats.org/drawingml/2006/main">
              <a:ext uri="{FF2B5EF4-FFF2-40B4-BE49-F238E27FC236}">
                <a16:creationId xmlns:a16="http://schemas.microsoft.com/office/drawing/2014/main" id="{F067DFEE-0F2F-485A-864B-A6C9922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352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09938594-A201-4480-B7C0-28F20A12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76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752628A5-CF2D-474D-A276-C24A16B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DAAD16F-5FA5-4B7B-98A7-8B1D6CE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24125"/>
            <a:ext cx="1438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到达 / 偏航重算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3782A7E-8360-4599-8C2B-CABA573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替换路线并继续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53491B37-E264-4398-896E-460D1FF8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D633177-5F96-49CE-A914-7DAE87C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当前验证点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15326F6-CF62-4675-A26B-B35CF2C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正常路线  ·  无可达路线  ·  路网外定位点  ·  偏航重算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正常轨迹到达 arrived；偏航轨迹要求恰好触发一次路线替换。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7BFE03C-04B2-421F-AF77-2383E9A9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运行方式：bash scripts/demo.sh 启动本地三容器；bash scripts/smoke_test.sh 验证闭环。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E96A16C-50BF-4533-A3C3-7603ABF8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185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08</a:t>
            </a:r>
          </a:p>
        </p:txBody>
      </p:sp>
    </p:spTree>
    <p:extLst>
      <p:ext uri="{BB962C8B-B14F-4D97-AF65-F5344CB8AC3E}">
        <p14:creationId xmlns:p14="http://schemas.microsoft.com/office/powerpoint/2010/main" val="637621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A1AFC3AD-FDD6-44CF-A05B-4AA3F37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DF4980-EF9F-44B4-8E8E-93CBD24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实车路径一：通过 iOS 接入 GPS，保持导航内核不变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114D3E-AAEF-43D2-9AA3-B88BA603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建议把 iPhone 视为定位传感器与上行网关，先解决稳定传输、时间同步与断连恢复。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E7DB2A67-4FF8-49E6-A973-180BE61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D84DFDF-9741-4B66-BA84-AC4F01C5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7F42243-31C8-4CBF-8289-4B42475C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iPhone / iOS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623A69-9AA8-4E7B-8E1E-C4C7CCA4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5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Core Location：WGS-84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位置、航向、速度、精度、时间</a:t>
            </a:r>
            <a:endParaRPr sz="4000" b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ED99DC2-A3C8-4E05-AFFB-2D7495BA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142C06B-B131-4F0A-9806-F34D4416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DC80F61-5DC2-491B-9B0A-9C01DDFC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2412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传输适配层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BD71D41-ED42-45F8-8802-AD7928B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局域网 WebSocket 优先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序列号、鉴权、心跳、重连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5ABA194-A981-425A-9425-C52A9610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3477B834-72ED-4CA7-91C2-0B4A6539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33D67A-C3C4-498F-8B63-0FCD8AD4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24125"/>
            <a:ext cx="2533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导航协调层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B199C6F-D81B-4EBC-B243-0A664654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字段校验、时序处理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道路吸附、偏航判断</a:t>
            </a:r>
          </a:p>
        </p:txBody>
      </p:sp>
      <p:sp>
        <p:nvSpPr>
          <p:cNvPr id="16" name="直线连接符 15">
            <a:extLst xmlns:a="http://schemas.openxmlformats.org/drawingml/2006/main">
              <a:ext uri="{FF2B5EF4-FFF2-40B4-BE49-F238E27FC236}">
                <a16:creationId xmlns:a16="http://schemas.microsoft.com/office/drawing/2014/main" id="{35E82C3E-A823-4094-9A5D-4BB6760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BD4593E1-2B6F-4483-AC9F-EF7BB212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717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D9F1046C-10D0-4607-B800-D4CF0BF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9627C21-A81D-4E95-B2B0-4861FDB5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B2BC7DF-937F-4817-9E90-C66F6BC9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定义稳定定位协议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BE77544-7BE2-45B6-825E-11AD48E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lat / lon / heading / speed_mps / accuracy_m / timestamp</a:t>
            </a: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5B6E8488-8684-4E86-AC63-D18DDCD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FAC755A-46CF-43B9-8F77-79B0D36B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348799D-D486-4E5B-AF98-288AEA0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端到端回放对照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977734-7925-438D-9242-89F437C7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同一轨迹输入应产生同一状态序列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A0B45568-DB63-4852-99F9-2525C270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E2A83DD-75CC-4424-9C86-AC551FB0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4F31568-60D9-4223-8F2A-81CCE5A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道路匹配上线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8DEA874-094F-4211-B16A-F2092C7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前端只显示匹配后位置，保留原始点供诊断</a:t>
            </a: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BCB5B8F9-84C7-4F75-B79C-E2B1CE7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0897576-EF1C-4FD8-B5E2-4606D93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48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16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A34A59-6A01-4FDB-96F7-718AC2A6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19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车端异常处理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7D03612-448A-4616-BF96-A1E4ACB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625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弱网、漂移、断连、低精度与重新获得定位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B2F8B09-C066-4723-A789-C086727E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接口原则：iOS 仅替换“定位来源”适配器，不直接驱动地图，不将原始 GPS 写回 OSM。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895ADDC-B8CF-43C0-9156-719C75B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09</a:t>
            </a:r>
          </a:p>
        </p:txBody>
      </p:sp>
    </p:spTree>
    <p:extLst>
      <p:ext uri="{BB962C8B-B14F-4D97-AF65-F5344CB8AC3E}">
        <p14:creationId xmlns:p14="http://schemas.microsoft.com/office/powerpoint/2010/main" val="1941221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A54B18C-72DE-4004-B0E9-C3ECD605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5E01D2B-0D43-4233-ACFD-1FBFF79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实车路径二：视觉模型作为“确认与感知”能力接入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60D002-B9AE-4449-84AE-1BE8F261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视觉不替代地图路由；它为接近目的地、道路事件或 HUD 提示提供附加证据。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1FA37C4E-AD44-433B-8CC6-91F87B8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91911CC6-6F72-4F23-9D3D-B51B212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D285A8-C76B-4606-B52B-BFE1033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相机输入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2D2CECC-0D39-44FC-8446-A5C622A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车载或手机相机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帧时间戳与设备标识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C85F29C-C9C0-4B70-9514-3D99893A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A89583B-20DD-4577-8306-9A136E0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BC7189E-61D0-48B7-B4CD-C9C4969F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视觉推理服务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E40F8BA-C34D-414D-9F1C-EDA37C62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检测 / 识别 / 置信度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可本地部署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643CB928-899A-407F-9D2B-901B41A8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56818889-3E2C-40D8-8B07-39DADB20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CAF43B-1525-4F2A-958C-DA90C10B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事件适配层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973506-C3E2-4A28-8ECA-FD98A657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52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17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时空对齐、去抖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限定输出事件模型</a:t>
            </a: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FE910C3-89C7-4A56-AB35-FA42B49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485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9F5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891BF12-E576-4F75-8320-93ECED6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57150" cy="781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27D5539-E590-4CD4-B81C-4B63D4F5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336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49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导航体验层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A8F5AB0-7C27-42A7-B39E-6626B587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8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到达确认、提示增强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不直接改写路由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63F02C01-EE90-4ADD-891B-E837F05D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812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75"/>
            </a:solidFill>
            <a:prstDash val="solid"/>
          </a:ln>
        </p:spPr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5E605B5C-6DC7-4A52-BE8D-658F04FB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81275"/>
            <a:ext cx="118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D72B6C48-ABD6-42BF-8F1E-92FE8670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812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F9A8827-838F-4FEE-A6C3-18D560F1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B6125D1-D51F-47E5-B585-2358AD1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优先落地场景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F3174F6-7D0F-474C-934E-70D460BF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接近终点时识别商铺招牌 / 入口，作为“到达确认”的辅助信号。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A6BB007-4E9B-4D36-8FED-20E51D8A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148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约束：只输出结构化感知事件与置信度；导航会话决定是否展示或触发业务动作；保留人工验证与失败降级。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02A2F9E-A3ED-47F7-B5C6-279B1E5B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10</a:t>
            </a:r>
          </a:p>
        </p:txBody>
      </p:sp>
    </p:spTree>
    <p:extLst>
      <p:ext uri="{BB962C8B-B14F-4D97-AF65-F5344CB8AC3E}">
        <p14:creationId xmlns:p14="http://schemas.microsoft.com/office/powerpoint/2010/main" val="1307274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BB0F40F-257C-4B24-817A-E9241A2A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12D79C-B2DB-477D-B627-BAB3A4F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下一阶段计划：从可演示闭环走向可路测闭环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B982EF-1CED-4146-90AD-ECE3C08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每一步都以可重复输入、可观测状态和明确验收为前提。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22C5B3BE-4B37-446B-A197-A754668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E3981690-DA3D-4CFE-B528-DEB500C9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162215-4FA1-4CC0-829D-02EFC296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428DEF-A8CD-4C56-B68B-E57FD0A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05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iOS 定位协议与回放工具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428107E-FFA7-4B47-96F2-3565148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955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把手机定位数据导入现有模拟器；验证时间戳、精度与断连行为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FAB8291D-CCDA-4A36-B12D-6420F991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9E5ACF0-8958-4040-891B-E131688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B4D85AB-4170-4B24-8B65-A96F855F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28FA8C-4072-43F1-9983-B5527B7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813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实车定位适配与路测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BC73DEF-4829-490C-BC59-D356A53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道路匹配、偏航阈值、状态推送的实车数据验证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8D70556-B595-4696-8DC3-E65110C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0E44C53F-139B-4E5F-8E80-50E219DA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5D75CA3-A49C-4FF3-8227-447A0ED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后续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C8A1321-5ABB-4AB1-B5E0-62882B70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57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本地视觉事件服务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F6426E6-9B84-43E0-9E73-495ACE1C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先做终点确认，再扩展到道路感知提示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B62CFC9A-8205-457A-AFAD-9E9A214D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10820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0D7DAE4-4B3B-47A4-9AA2-11C57B0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95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75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B1E226E-161F-4599-B0A8-66C8361A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C1ED5EB-5F7B-4B63-9A46-BE86BCFC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339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2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MBTiles 与车端显示集成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91DCC33-A72C-43CF-92C9-FF7AE46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244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扩大离线地图范围，接入 HUD / 车机显示终端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BE464DE-375A-44EA-A061-99AF9F9F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需要持续守住的约束：离线优先、WGS-84 一致、适配层隔离外部服务、真实数据最小化且合规使用。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10D7250-B7C9-4DE7-A135-A9B3727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0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11</a:t>
            </a:r>
          </a:p>
        </p:txBody>
      </p:sp>
    </p:spTree>
    <p:extLst>
      <p:ext uri="{BB962C8B-B14F-4D97-AF65-F5344CB8AC3E}">
        <p14:creationId xmlns:p14="http://schemas.microsoft.com/office/powerpoint/2010/main" val="1243520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6BA866C-5542-4FD2-97E0-4802D17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47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C5FF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130EF2-016B-4D38-9BD7-762021F5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MVP 已验证：离线路由、离线地图、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模拟定位与偏航重算。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2DBAFBF-2ECA-4B17-B8C1-DDA7D9B7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下一步的核心不是扩展功能清单，而是把真实传感器接入现有的、可观测且可替换的导航内核。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6E6F81F8-3B7A-447F-854F-363FC23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8096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272"/>
          </a:solidFill>
          <a:ln xmlns:a="http://schemas.openxmlformats.org/drawingml/2006/main" w="0">
            <a:noFill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86E82CC-A4A1-4C97-9E6E-DA180478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1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DB6BB2E-A9D4-495D-9EA2-DEE9747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架构、数据链路与实车演进</a:t>
            </a:r>
          </a:p>
        </p:txBody>
      </p:sp>
    </p:spTree>
    <p:extLst>
      <p:ext uri="{BB962C8B-B14F-4D97-AF65-F5344CB8AC3E}">
        <p14:creationId xmlns:p14="http://schemas.microsoft.com/office/powerpoint/2010/main" val="1579561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2026-09-28T15:42:51.3100000Z</dcterms:created>
  <dcterms:modified xsi:type="dcterms:W3CDTF">2026-09-28T15:42:51.3100000Z</dcterms:modified>
</coreProperties>
</file>