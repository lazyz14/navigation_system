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emf" ContentType="image/x-emf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ca69a7164a4dd9" /><Relationship Type="http://schemas.openxmlformats.org/officeDocument/2006/relationships/extended-properties" Target="/docProps/app.xml" Id="R64a7766893ea4a6c" /><Relationship Type="http://schemas.openxmlformats.org/officeDocument/2006/relationships/officeDocument" Target="/ppt/presentation.xml" Id="R58fd3b0d73674d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41e197c0604d41"/>
  </p:sldMasterIdLst>
  <p:notesMasterIdLst>
    <p:notesMasterId xmlns:r="http://schemas.openxmlformats.org/officeDocument/2006/relationships" r:id="R461c3ee0a97a4729"/>
  </p:notesMasterIdLst>
  <p:sldIdLst>
    <p:sldId xmlns:r="http://schemas.openxmlformats.org/officeDocument/2006/relationships" id="256" r:id="R649bf13aa3f74c4c"/>
    <p:sldId xmlns:r="http://schemas.openxmlformats.org/officeDocument/2006/relationships" id="257" r:id="R3473b37d68e34c66"/>
    <p:sldId xmlns:r="http://schemas.openxmlformats.org/officeDocument/2006/relationships" id="258" r:id="R49360c0c9113431b"/>
    <p:sldId xmlns:r="http://schemas.openxmlformats.org/officeDocument/2006/relationships" id="259" r:id="R92a0e471f06d49ba"/>
    <p:sldId xmlns:r="http://schemas.openxmlformats.org/officeDocument/2006/relationships" id="260" r:id="R8f819465a6474d4d"/>
    <p:sldId xmlns:r="http://schemas.openxmlformats.org/officeDocument/2006/relationships" id="261" r:id="Ra2d51299779a4150"/>
    <p:sldId xmlns:r="http://schemas.openxmlformats.org/officeDocument/2006/relationships" id="262" r:id="R26e0584db8364ba0"/>
    <p:sldId xmlns:r="http://schemas.openxmlformats.org/officeDocument/2006/relationships" id="263" r:id="R3cac2830ab9e4160"/>
    <p:sldId xmlns:r="http://schemas.openxmlformats.org/officeDocument/2006/relationships" id="264" r:id="Rf20e1094b77a48ef"/>
    <p:sldId xmlns:r="http://schemas.openxmlformats.org/officeDocument/2006/relationships" id="265" r:id="R5ddd00c756e34592"/>
    <p:sldId xmlns:r="http://schemas.openxmlformats.org/officeDocument/2006/relationships" id="266" r:id="R9c0ef1ea051f4526"/>
    <p:sldId xmlns:r="http://schemas.openxmlformats.org/officeDocument/2006/relationships" id="267" r:id="Reebf3a599d644a5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c2d90480644d54" /><Relationship Type="http://schemas.openxmlformats.org/officeDocument/2006/relationships/slideMaster" Target="/ppt/slideMasters/slideMaster1.xml" Id="Reb41e197c0604d41" /><Relationship Type="http://schemas.openxmlformats.org/officeDocument/2006/relationships/notesMaster" Target="/ppt/notesMasters/notesMaster1.xml" Id="R461c3ee0a97a4729" /><Relationship Type="http://schemas.openxmlformats.org/officeDocument/2006/relationships/presProps" Target="/ppt/presProps.xml" Id="Rb0b9fca1c2ba4449" /><Relationship Type="http://schemas.openxmlformats.org/officeDocument/2006/relationships/viewProps" Target="/ppt/viewProps.xml" Id="R8cbfe1768ab54584" /><Relationship Type="http://schemas.openxmlformats.org/officeDocument/2006/relationships/tableStyles" Target="/ppt/tableStyles.xml" Id="Reb79fd1aba25480d" /><Relationship Type="http://schemas.openxmlformats.org/officeDocument/2006/relationships/slide" Target="/ppt/slides/slide1.xml" Id="R649bf13aa3f74c4c" /><Relationship Type="http://schemas.openxmlformats.org/officeDocument/2006/relationships/slide" Target="/ppt/slides/slide2.xml" Id="R3473b37d68e34c66" /><Relationship Type="http://schemas.openxmlformats.org/officeDocument/2006/relationships/slide" Target="/ppt/slides/slide3.xml" Id="R49360c0c9113431b" /><Relationship Type="http://schemas.openxmlformats.org/officeDocument/2006/relationships/slide" Target="/ppt/slides/slide4.xml" Id="R92a0e471f06d49ba" /><Relationship Type="http://schemas.openxmlformats.org/officeDocument/2006/relationships/slide" Target="/ppt/slides/slide5.xml" Id="R8f819465a6474d4d" /><Relationship Type="http://schemas.openxmlformats.org/officeDocument/2006/relationships/slide" Target="/ppt/slides/slide6.xml" Id="Ra2d51299779a4150" /><Relationship Type="http://schemas.openxmlformats.org/officeDocument/2006/relationships/slide" Target="/ppt/slides/slide7.xml" Id="R26e0584db8364ba0" /><Relationship Type="http://schemas.openxmlformats.org/officeDocument/2006/relationships/slide" Target="/ppt/slides/slide8.xml" Id="R3cac2830ab9e4160" /><Relationship Type="http://schemas.openxmlformats.org/officeDocument/2006/relationships/slide" Target="/ppt/slides/slide9.xml" Id="Rf20e1094b77a48ef" /><Relationship Type="http://schemas.openxmlformats.org/officeDocument/2006/relationships/slide" Target="/ppt/slides/slide10.xml" Id="R5ddd00c756e34592" /><Relationship Type="http://schemas.openxmlformats.org/officeDocument/2006/relationships/slide" Target="/ppt/slides/slide11.xml" Id="R9c0ef1ea051f4526" /><Relationship Type="http://schemas.openxmlformats.org/officeDocument/2006/relationships/slide" Target="/ppt/slides/slide12.xml" Id="Reebf3a599d644a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547ed0b46b42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PolyU PowerPoin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a537ae16d543a7" /><Relationship Type="http://schemas.openxmlformats.org/officeDocument/2006/relationships/notesMaster" Target="/ppt/notesMasters/notesMaster1.xml" Id="R46fe02591a344a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18427be681401a" /><Relationship Type="http://schemas.openxmlformats.org/officeDocument/2006/relationships/notesMaster" Target="/ppt/notesMasters/notesMaster1.xml" Id="R69a7a130509b49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f1be27090140ad" /><Relationship Type="http://schemas.openxmlformats.org/officeDocument/2006/relationships/notesMaster" Target="/ppt/notesMasters/notesMaster1.xml" Id="R2c413071749843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8e6a0a10b54c27" /><Relationship Type="http://schemas.openxmlformats.org/officeDocument/2006/relationships/notesMaster" Target="/ppt/notesMasters/notesMaster1.xml" Id="R1684ad83457142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d5d705a68d49ff" /><Relationship Type="http://schemas.openxmlformats.org/officeDocument/2006/relationships/notesMaster" Target="/ppt/notesMasters/notesMaster1.xml" Id="Rfa9658a8064245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b064d360ed41ba" /><Relationship Type="http://schemas.openxmlformats.org/officeDocument/2006/relationships/notesMaster" Target="/ppt/notesMasters/notesMaster1.xml" Id="R0d77cec301c945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5a448b855a44e7" /><Relationship Type="http://schemas.openxmlformats.org/officeDocument/2006/relationships/notesMaster" Target="/ppt/notesMasters/notesMaster1.xml" Id="R3ed9d39a79c140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3193c0031442d3" /><Relationship Type="http://schemas.openxmlformats.org/officeDocument/2006/relationships/notesMaster" Target="/ppt/notesMasters/notesMaster1.xml" Id="R43e8195d830c4e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c7c00c00fe415d" /><Relationship Type="http://schemas.openxmlformats.org/officeDocument/2006/relationships/notesMaster" Target="/ppt/notesMasters/notesMaster1.xml" Id="Rb8acb3e00fd64e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654c66a204e31" /><Relationship Type="http://schemas.openxmlformats.org/officeDocument/2006/relationships/notesMaster" Target="/ppt/notesMasters/notesMaster1.xml" Id="R41e9570009e746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7f9dba12234549" /><Relationship Type="http://schemas.openxmlformats.org/officeDocument/2006/relationships/notesMaster" Target="/ppt/notesMasters/notesMaster1.xml" Id="R5d80196df3bb4c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d1dc32e1b442b3" /><Relationship Type="http://schemas.openxmlformats.org/officeDocument/2006/relationships/notesMaster" Target="/ppt/notesMasters/notesMaster1.xml" Id="R6a664f73bfb341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项目背景：AR-HUD 的展示价值保留，但导航内核需要独立演进。</a:t>
            </a:r>
          </a:p>
          <a:p xmlns:a="http://schemas.openxmlformats.org/drawingml/2006/main">
            <a:r>
              <a:t>来源：项目 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边界来自 README.md、DEVELOPMENT.md 与 DATA_POLICY.md。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资料来源：ARCHITECTURE.md。浏览器不直接调用 OSRM。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开源项目：github.com/Project-OSRM/osrm-backend；github.com/maplibre/maplibre-gl-js；github.com/fastapi/fastapi。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资料来源：docs/data-build.md；data/metadata/map.osm-build.json；data/metadata/map.osm-maplibre-thematic-geojson-build.json。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截图来自用户更新后的离线导航 MVP 报告第 7 页。资料来源：ARCHITECTURE.md 与 docs/data-build.md。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资料来源：README.md、docs/demo-runbook.md、DEVELOPMENT.md。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这是后续设计建议，尚未在 MVP 实现。数据契约来自 DATA_POLICY.md。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这是后续设计建议，当前 MVP 不包含 OCR、检测模型或真实视频。项目 ARCHITECTURE.md 已定义 OCR 接入边界。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此页为后续计划，不代表现已具备的能力。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25f971fc5413f" /><Relationship Type="http://schemas.openxmlformats.org/officeDocument/2006/relationships/image" Target="/ppt/media/image.png" Id="Ra12a1bde26024343" /><Relationship Type="http://schemas.openxmlformats.org/officeDocument/2006/relationships/image" Target="/ppt/media/image.emf" Id="R1391555d6a71401b" /><Relationship Type="http://schemas.openxmlformats.org/officeDocument/2006/relationships/image" Target="/ppt/media/image2.emf" Id="Rbe678fe3680a43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591255dd64eb2" /><Relationship Type="http://schemas.openxmlformats.org/officeDocument/2006/relationships/image" Target="/ppt/media/image2.png" Id="R200ce99217704128" /><Relationship Type="http://schemas.openxmlformats.org/officeDocument/2006/relationships/image" Target="/ppt/media/image2.emf" Id="R3fd0646c045646fc" /><Relationship Type="http://schemas.openxmlformats.org/officeDocument/2006/relationships/image" Target="/ppt/media/image3.emf" Id="Rfcd71b5ece4348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511ece7394792" /><Relationship Type="http://schemas.openxmlformats.org/officeDocument/2006/relationships/image" Target="/ppt/media/image3.png" Id="Rd0acec587f9749d1" /><Relationship Type="http://schemas.openxmlformats.org/officeDocument/2006/relationships/image" Target="/ppt/media/image.emf" Id="R8228d8fd3e914450" /><Relationship Type="http://schemas.openxmlformats.org/officeDocument/2006/relationships/image" Target="/ppt/media/image2.emf" Id="R3bc139b7627548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4beda0cf04b66" /><Relationship Type="http://schemas.openxmlformats.org/officeDocument/2006/relationships/image" Target="/ppt/media/image.jpeg" Id="R13acccf7d5e94559" /><Relationship Type="http://schemas.openxmlformats.org/officeDocument/2006/relationships/image" Target="/ppt/media/image4.png" Id="Ra2909070cac84c54" /><Relationship Type="http://schemas.openxmlformats.org/officeDocument/2006/relationships/image" Target="/ppt/media/image4.emf" Id="R9df0602327824a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caa84fd8e4a4d" /><Relationship Type="http://schemas.openxmlformats.org/officeDocument/2006/relationships/image" Target="/ppt/media/image3.emf" Id="R15f3dfe79ece4fae" /><Relationship Type="http://schemas.openxmlformats.org/officeDocument/2006/relationships/image" Target="/ppt/media/image4.emf" Id="R710437d799eb4d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6ab9eaa0f4f06" /><Relationship Type="http://schemas.openxmlformats.org/officeDocument/2006/relationships/image" Target="/ppt/media/image5.png" Id="R73824e86b85e44dc" /><Relationship Type="http://schemas.openxmlformats.org/officeDocument/2006/relationships/image" Target="/ppt/media/image3.emf" Id="Rc4c4d7857cd94a62" /><Relationship Type="http://schemas.openxmlformats.org/officeDocument/2006/relationships/image" Target="/ppt/media/image4.emf" Id="Rc45e5caefd3b44e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3ba6a2ddc420e" /><Relationship Type="http://schemas.openxmlformats.org/officeDocument/2006/relationships/image" Target="/ppt/media/image4.png" Id="Rfe6f48a11a554666" /><Relationship Type="http://schemas.openxmlformats.org/officeDocument/2006/relationships/image" Target="/ppt/media/image5.emf" Id="R8dc4e4b4f3be4f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78fd8e7024d20" /><Relationship Type="http://schemas.openxmlformats.org/officeDocument/2006/relationships/image" Target="/ppt/media/image5.emf" Id="Rc1615e667b3b4d5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55ce654304798" /><Relationship Type="http://schemas.openxmlformats.org/officeDocument/2006/relationships/image" Target="/ppt/media/image5.emf" Id="R2a48a6401e02477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6b020de4b47a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b89603ce246b4" /><Relationship Type="http://schemas.openxmlformats.org/officeDocument/2006/relationships/image" Target="/ppt/media/image4.png" Id="Rfac7dc7a1cde4b07" /><Relationship Type="http://schemas.openxmlformats.org/officeDocument/2006/relationships/image" Target="/ppt/media/image2.emf" Id="Rc693ecbd29f447e3" /><Relationship Type="http://schemas.openxmlformats.org/officeDocument/2006/relationships/image" Target="/ppt/media/image.emf" Id="R50210fb9815b4cdd" /><Relationship Type="http://schemas.openxmlformats.org/officeDocument/2006/relationships/image" Target="/ppt/media/image5.emf" Id="Rf3e4f5f391fe472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e3cd416e244b9" /><Relationship Type="http://schemas.openxmlformats.org/officeDocument/2006/relationships/image" Target="/ppt/media/image2.emf" Id="R79fdba8c20684e59" /><Relationship Type="http://schemas.openxmlformats.org/officeDocument/2006/relationships/image" Target="/ppt/media/image.emf" Id="R2b53c9aa04634c7a" /><Relationship Type="http://schemas.openxmlformats.org/officeDocument/2006/relationships/image" Target="/ppt/media/image6.emf" Id="Rd7adb5b67775411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cc204518343a7" /><Relationship Type="http://schemas.openxmlformats.org/officeDocument/2006/relationships/image" Target="/ppt/media/image2.emf" Id="R69dd9aef223942e2" /><Relationship Type="http://schemas.openxmlformats.org/officeDocument/2006/relationships/image" Target="/ppt/media/image.emf" Id="R6700090f22744dd1" /><Relationship Type="http://schemas.openxmlformats.org/officeDocument/2006/relationships/image" Target="/ppt/media/image6.emf" Id="R6d786d8a2e58433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3d1a4a3034894" /><Relationship Type="http://schemas.openxmlformats.org/officeDocument/2006/relationships/image" Target="/ppt/media/image5.emf" Id="Rb6c16eead5f8421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81dea91b34fdd" /><Relationship Type="http://schemas.openxmlformats.org/officeDocument/2006/relationships/image" Target="/ppt/media/image2.jpeg" Id="R40070cd3331643de" /><Relationship Type="http://schemas.openxmlformats.org/officeDocument/2006/relationships/image" Target="/ppt/media/image6.png" Id="R69321099a05a413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bacab16ff4a9c" /><Relationship Type="http://schemas.openxmlformats.org/officeDocument/2006/relationships/image" Target="/ppt/media/image.emf" Id="R5814054d076f4761" /><Relationship Type="http://schemas.openxmlformats.org/officeDocument/2006/relationships/image" Target="/ppt/media/image4.png" Id="R737fd4176627418e" /><Relationship Type="http://schemas.openxmlformats.org/officeDocument/2006/relationships/image" Target="/ppt/media/image7.png" Id="R5ff7bf12997f487b" /><Relationship Type="http://schemas.openxmlformats.org/officeDocument/2006/relationships/image" Target="/ppt/media/image2.emf" Id="R91187b94ce8a44e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a1bde26024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286"/>
            <a:ext cx="9144000" cy="5138928"/>
          </a:xfrm>
          <a:prstGeom xmlns:a="http://schemas.openxmlformats.org/drawingml/2006/main" prst="rect">
            <a:avLst/>
          </a:prstGeom>
        </p:spPr>
      </p:pic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2D19DE88-F7A5-F543-8EAD-B96C80292E8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623732" y="1079518"/>
            <a:ext cx="5229706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4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6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ADC6F6-B9EA-5B40-9683-6117726441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32321" y="2236805"/>
            <a:ext cx="5220050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1555d6a7140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7" y="264833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2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78fe3680a43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ce99217704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286"/>
            <a:ext cx="9144000" cy="5138928"/>
          </a:xfrm>
          <a:prstGeom xmlns:a="http://schemas.openxmlformats.org/drawingml/2006/main" prst="rect">
            <a:avLst/>
          </a:prstGeom>
        </p:spPr>
      </p:pic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2D19DE88-F7A5-F543-8EAD-B96C80292E8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3623732" y="914173"/>
            <a:ext cx="5229706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4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6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ADC6F6-B9EA-5B40-9683-6117726441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32321" y="2071462"/>
            <a:ext cx="5220050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0646c045646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1658" y="245020"/>
            <a:ext cx="1970712" cy="377582"/>
          </a:xfrm>
          <a:prstGeom xmlns:a="http://schemas.openxmlformats.org/drawingml/2006/main" prst="rect">
            <a:avLst/>
          </a:prstGeom>
        </p:spPr>
      </p:pic>
      <p:pic>
        <p:nvPicPr>
          <p:cNvPr id="2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71b5ece4348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6" y="4686519"/>
            <a:ext cx="1548805" cy="2020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cec587f9749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72"/>
            <a:ext cx="9144000" cy="5138928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7B52A39-59A7-AD41-9748-662EAF7E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087" y="0"/>
            <a:ext cx="404191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8d8fd3e9144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7" y="264833"/>
            <a:ext cx="1548805" cy="202018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FDA8790A-F5F2-1447-97AF-C8252DE27A8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380383" y="1993107"/>
            <a:ext cx="3471988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C9330A7-36C2-C748-BA4C-007314F528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385728" y="3150395"/>
            <a:ext cx="3465577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139b7627548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acccf7d5e9455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3157" y="0"/>
            <a:ext cx="4748930" cy="5144429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09070cac8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0998" y="0"/>
            <a:ext cx="4453002" cy="5143500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8E22D469-66DA-3646-A3F5-62A37514247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946786" y="1589823"/>
            <a:ext cx="3987268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BB62562-CB73-EE4A-B26A-53A04DF0C6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53081" y="2747111"/>
            <a:ext cx="3979906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0602327824a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7713" y="4336934"/>
            <a:ext cx="2275274" cy="43593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374D08-1B64-E649-A8F3-3465DA55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998" y="0"/>
            <a:ext cx="445300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>
              <a:alpha val="87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1ABF0E9-3472-9C4B-890F-AA55CFB1556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946786" y="1589823"/>
            <a:ext cx="3987268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1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77458AB-6DCF-A547-A957-CF814F8DBA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53081" y="2747111"/>
            <a:ext cx="3979906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1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3dfe79ece4f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6" y="4686519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437d799eb4d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786" y="236905"/>
            <a:ext cx="1970713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24e86b85e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8134" y="0"/>
            <a:ext cx="9152135" cy="514350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FB9FEC7-89D8-2449-8C19-374BD2EC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997" y="0"/>
            <a:ext cx="445300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/>
              <a:t> </a:t>
            </a:r>
            <a:endParaRPr sz="1800"/>
          </a:p>
        </p:txBody>
      </p:sp>
      <p:sp>
        <p:nvSpPr>
          <p:cNvPr id="20" name="Title 1">
            <a:extLst xmlns:a="http://schemas.openxmlformats.org/drawingml/2006/main">
              <a:ext uri="{FF2B5EF4-FFF2-40B4-BE49-F238E27FC236}">
                <a16:creationId xmlns:a16="http://schemas.microsoft.com/office/drawing/2014/main" id="{DB6CBE2D-62A3-E24F-9CE7-3DC9D9C2154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946786" y="1589823"/>
            <a:ext cx="3987268" cy="115728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21" name="Subtitle 2">
            <a:extLst xmlns:a="http://schemas.openxmlformats.org/drawingml/2006/main">
              <a:ext uri="{FF2B5EF4-FFF2-40B4-BE49-F238E27FC236}">
                <a16:creationId xmlns:a16="http://schemas.microsoft.com/office/drawing/2014/main" id="{8DF5D57C-5071-194D-AA8A-A3B289E43C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53081" y="2747111"/>
            <a:ext cx="3979906" cy="997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pic>
        <p:nvPicPr>
          <p:cNvPr id="29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4d7857cd94a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3566" y="4686519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30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e5caefd3b44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786" y="236905"/>
            <a:ext cx="1970713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7D21EF-1847-4C0B-BD33-5169530A09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830710"/>
            <a:ext cx="8248650" cy="36123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B84913-317C-407A-83A3-FC507B5963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4CED62-3665-4BC8-9BE7-37007D5AE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f48a11a5546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077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4e4b4f3be4f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2710" y="85307"/>
            <a:ext cx="355681" cy="35568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A825A5-9556-4E7E-8B86-E4EE8A15B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482" y="-74707"/>
            <a:ext cx="8248650" cy="7068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CFE5B6-25DE-9C4C-B1BE-D67F5BA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0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AB55A0-25CE-49DE-B240-347FEE0CB4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830710"/>
            <a:ext cx="8248650" cy="36123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141406-FF9E-4174-ADAB-06E958C790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EC4191-7FAE-4A20-A8F9-684691ED16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BC9F65-B748-4960-94B4-83E841FC42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482" y="-74707"/>
            <a:ext cx="8248650" cy="7068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pic>
        <p:nvPicPr>
          <p:cNvPr id="1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15e667b3b4d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2710" y="85307"/>
            <a:ext cx="355681" cy="35568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CFE5B6-25DE-9C4C-B1BE-D67F5BA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077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4F7C09-077D-416E-96F2-2474878BC10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830710"/>
            <a:ext cx="8248650" cy="36123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7C05F7-FBEC-4FBC-ADE9-1C98BC5B1C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3C4328-FA1C-4CE9-B163-A1D35D1E19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641535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C93E56-AC65-42D0-A79E-CE42C7C51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482" y="-74707"/>
            <a:ext cx="8248650" cy="7068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pic>
        <p:nvPicPr>
          <p:cNvPr id="1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8a6401e024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2710" y="85307"/>
            <a:ext cx="355681" cy="35568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CF402A-56A5-4500-BEE7-B41277907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00" y="340896"/>
            <a:ext cx="8248650" cy="141379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02060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14B4AC-5078-47BC-A2E0-671F2FE178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328154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88D4F4-C4F2-424D-8E54-F79FC013EF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328154"/>
            <a:ext cx="2057400" cy="2232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E99B52-DF60-1540-A901-6477B334BD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1752988"/>
            <a:ext cx="8248650" cy="2477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7dc7a1cde4b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99412"/>
            <a:ext cx="9144000" cy="325815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7AC363-5B29-4C6F-B170-E6DA0E74AAF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1734" y="1373116"/>
            <a:ext cx="5383497" cy="1453449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1F9B3C-96EF-4FB0-ACC4-CFFFC580B5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6486" y="2832505"/>
            <a:ext cx="5388747" cy="951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pic>
        <p:nvPicPr>
          <p:cNvPr id="1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3ecbd29f4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  <p:pic>
        <p:nvPicPr>
          <p:cNvPr id="1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10fb9815b4c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575" y="4791216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4f5f391fe472f">
            <a:alphaModFix amt="7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7733" y="1055241"/>
            <a:ext cx="3746491" cy="374649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E103AF7-7CEF-914E-8D2F-8185760A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99411"/>
            <a:ext cx="9144000" cy="3258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08CE2B-C652-488C-9954-67A2CBDF354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1734" y="1373116"/>
            <a:ext cx="5383497" cy="1453449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600">
                <a:solidFill>
                  <a:srgbClr val="A02337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2195B3-D65A-43DD-B3A8-1FEA3B28E8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6486" y="2832505"/>
            <a:ext cx="5388747" cy="951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pic>
        <p:nvPicPr>
          <p:cNvPr id="1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dba8c20684e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  <p:pic>
        <p:nvPicPr>
          <p:cNvPr id="16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3c9aa04634c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575" y="4791216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adb5b67775411c"/>
          <a:srcRect xmlns:a="http://schemas.openxmlformats.org/drawingml/2006/main" l="0" t="7659" r="20425" b="5578"/>
          <a:stretch xmlns:a="http://schemas.openxmlformats.org/drawingml/2006/main"/>
        </p:blipFill>
        <p:spPr>
          <a:xfrm xmlns:a="http://schemas.openxmlformats.org/drawingml/2006/main">
            <a:off x="6155806" y="1299411"/>
            <a:ext cx="2988194" cy="325815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E103AF7-7CEF-914E-8D2F-8185760A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99411"/>
            <a:ext cx="9144000" cy="325815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08BE85-35CB-43D4-96D8-1ADE3FC97F8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1734" y="1373116"/>
            <a:ext cx="5383497" cy="1453449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</a:t>
            </a:r>
            <a:br/>
            <a:r>
              <a:t>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20FFFD-81D1-4DCE-90EC-94EA51A7D7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6486" y="2832505"/>
            <a:ext cx="5388747" cy="951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pic>
        <p:nvPicPr>
          <p:cNvPr id="1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d9aef223942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965" y="197149"/>
            <a:ext cx="1970712" cy="377582"/>
          </a:xfrm>
          <a:prstGeom xmlns:a="http://schemas.openxmlformats.org/drawingml/2006/main" prst="rect">
            <a:avLst/>
          </a:prstGeom>
        </p:spPr>
      </p:pic>
      <p:pic>
        <p:nvPicPr>
          <p:cNvPr id="16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0090f227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575" y="4791216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786d8a2e584330"/>
          <a:srcRect xmlns:a="http://schemas.openxmlformats.org/drawingml/2006/main" l="0" t="7659" r="20425" b="5578"/>
          <a:stretch xmlns:a="http://schemas.openxmlformats.org/drawingml/2006/main"/>
        </p:blipFill>
        <p:spPr>
          <a:xfrm xmlns:a="http://schemas.openxmlformats.org/drawingml/2006/main">
            <a:off x="6155806" y="1299411"/>
            <a:ext cx="2988194" cy="325815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21232C-1A26-2A48-8A83-57EEE171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30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30119F57-C15A-AB40-998A-2D9A9CB67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482" y="-56031"/>
            <a:ext cx="8248650" cy="5301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95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16eead5f842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2710" y="63981"/>
            <a:ext cx="355681" cy="266761"/>
          </a:xfrm>
          <a:prstGeom xmlns:a="http://schemas.openxmlformats.org/drawingml/2006/main" prst="rect">
            <a:avLst/>
          </a:prstGeom>
        </p:spPr>
      </p:pic>
      <p:sp>
        <p:nvSpPr>
          <p:cNvPr id="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740D51-98D6-CF45-8BFD-F0DF9442C3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66700" y="4800665"/>
            <a:ext cx="2057400" cy="16741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8F96A78-E747-452A-A472-1528F572ED5B}" type="datetimeFigureOut">
              <a:t>9/29/26</a:t>
            </a:fld>
            <a:endParaRPr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CAF668-E8EB-544C-B031-9C901C4345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832600" y="4800665"/>
            <a:ext cx="2057400" cy="16741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  <p:sp>
        <p:nvSpPr>
          <p:cNvPr id="1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26316D-4BD0-544E-9788-FEF05C2459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6700" y="530173"/>
            <a:ext cx="8623300" cy="421814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71450" indent="-171450">
              <a:buClr>
                <a:srgbClr val="002060"/>
              </a:buClr>
              <a:buFont typeface="Arial"/>
              <a:buChar char="•"/>
              <a:defRPr sz="1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898FCD9-8D93-4D96-9120-95409D7163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586B75A-687E-405C-8A0B-8D00578BA2C3}" type="datetimeFigureOut">
              <a:t>9/29/26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EB15F35-55C9-4D9D-B026-A9E4BBA548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CF59AA6-3561-40BC-B91B-BC69D77E08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FAB73BC-B049-4115-A692-8D63A059BFB8}" type="slidenum">
              <a:t>‹#›</a:t>
            </a:fld>
            <a:endParaRPr/>
          </a:p>
        </p:txBody>
      </p:sp>
      <p:pic>
        <p:nvPicPr>
          <p:cNvPr id="1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70cd3331643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" y="1"/>
            <a:ext cx="6886575" cy="321914"/>
          </a:xfrm>
          <a:prstGeom xmlns:a="http://schemas.openxmlformats.org/drawingml/2006/main" prst="rect">
            <a:avLst/>
          </a:prstGeom>
        </p:spPr>
      </p:pic>
      <p:pic>
        <p:nvPicPr>
          <p:cNvPr id="1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21099a05a4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257" y="83026"/>
            <a:ext cx="1675211" cy="241118"/>
          </a:xfrm>
          <a:prstGeom xmlns:a="http://schemas.openxmlformats.org/drawingml/2006/main" prst="rect">
            <a:avLst/>
          </a:prstGeom>
        </p:spPr>
      </p:pic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71E4C0-FDDE-40BD-B240-3242692D82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96849" y="1019175"/>
            <a:ext cx="8742364" cy="3625215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1500"/>
            </a:lvl1pPr>
            <a:lvl2pPr>
              <a:buNone/>
              <a:defRPr sz="1350"/>
            </a:lvl2pPr>
            <a:lvl3pPr>
              <a:buNone/>
              <a:defRPr sz="120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A4CDAB-9591-4F86-B201-000A78D728EC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196849" y="397968"/>
            <a:ext cx="8742364" cy="54292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>
              <a:buNone/>
              <a:defRPr sz="1350"/>
            </a:lvl2pPr>
            <a:lvl3pPr>
              <a:buNone/>
              <a:defRPr sz="120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4054d076f4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6574" y="4791215"/>
            <a:ext cx="1548805" cy="202018"/>
          </a:xfrm>
          <a:prstGeom xmlns:a="http://schemas.openxmlformats.org/drawingml/2006/main" prst="rect">
            <a:avLst/>
          </a:prstGeom>
        </p:spPr>
      </p:pic>
      <p:pic>
        <p:nvPicPr>
          <p:cNvPr id="14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fd417662741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62927"/>
            <a:ext cx="9144000" cy="2625333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D4C740F-D79E-48C1-B649-6AA52ABF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50142"/>
            <a:ext cx="9143997" cy="16509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200" b="1" i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共存、协作、共进 ，</a:t>
            </a:r>
            <a:r>
              <a:rPr sz="2200" b="1" i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打造智慧人机共融系统</a:t>
            </a:r>
            <a:endParaRPr sz="2200" b="1" i="0" kern="1200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200" b="1" i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i="1">
                <a:solidFill>
                  <a:schemeClr val="bg1"/>
                </a:solidFill>
              </a:rPr>
              <a:t>To Co-exist, Collaborate and Co-evolve</a:t>
            </a:r>
            <a:r>
              <a:rPr sz="2400" b="1" i="1">
                <a:solidFill>
                  <a:schemeClr val="bg1"/>
                </a:solidFill>
              </a:rPr>
              <a:t> </a:t>
            </a:r>
            <a:r>
              <a:rPr sz="2400" b="1" i="1">
                <a:solidFill>
                  <a:schemeClr val="bg1"/>
                </a:solidFill>
              </a:rPr>
              <a:t>by</a:t>
            </a:r>
            <a:endParaRPr sz="2400" b="1" i="1">
              <a:solidFill>
                <a:schemeClr val="bg1"/>
              </a:solidFill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400" b="1" i="1">
                <a:solidFill>
                  <a:schemeClr val="bg1"/>
                </a:solidFill>
              </a:rPr>
              <a:t>Constructing</a:t>
            </a:r>
            <a:r>
              <a:rPr sz="2400" b="1" i="1">
                <a:solidFill>
                  <a:schemeClr val="bg1"/>
                </a:solidFill>
              </a:rPr>
              <a:t> A Human-Machine Symbiotic Systems</a:t>
            </a:r>
          </a:p>
        </p:txBody>
      </p:sp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7bf12997f48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0916" y="972397"/>
            <a:ext cx="1597143" cy="410322"/>
          </a:xfrm>
          <a:prstGeom xmlns:a="http://schemas.openxmlformats.org/drawingml/2006/main" prst="rect">
            <a:avLst/>
          </a:prstGeom>
        </p:spPr>
      </p:pic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87b94ce8a44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5231" y="1005136"/>
            <a:ext cx="1970712" cy="37758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4f1b4a0f5b44c7" /><Relationship Type="http://schemas.openxmlformats.org/officeDocument/2006/relationships/slideLayout" Target="/ppt/slideLayouts/slideLayout1.xml" Id="Ra63266dbd13c4425" /><Relationship Type="http://schemas.openxmlformats.org/officeDocument/2006/relationships/slideLayout" Target="/ppt/slideLayouts/slideLayout2.xml" Id="Rb9800aec239a43fc" /><Relationship Type="http://schemas.openxmlformats.org/officeDocument/2006/relationships/slideLayout" Target="/ppt/slideLayouts/slideLayout3.xml" Id="Rcd15cdcaa34740bb" /><Relationship Type="http://schemas.openxmlformats.org/officeDocument/2006/relationships/slideLayout" Target="/ppt/slideLayouts/slideLayout4.xml" Id="R8d0117fcf2384fc0" /><Relationship Type="http://schemas.openxmlformats.org/officeDocument/2006/relationships/slideLayout" Target="/ppt/slideLayouts/slideLayout5.xml" Id="R011e0710df9c4b41" /><Relationship Type="http://schemas.openxmlformats.org/officeDocument/2006/relationships/slideLayout" Target="/ppt/slideLayouts/slideLayout6.xml" Id="Rd6919477e8484b9c" /><Relationship Type="http://schemas.openxmlformats.org/officeDocument/2006/relationships/slideLayout" Target="/ppt/slideLayouts/slideLayout7.xml" Id="R9ac392a9f311448d" /><Relationship Type="http://schemas.openxmlformats.org/officeDocument/2006/relationships/slideLayout" Target="/ppt/slideLayouts/slideLayout8.xml" Id="R005ed8642e5b4fe6" /><Relationship Type="http://schemas.openxmlformats.org/officeDocument/2006/relationships/slideLayout" Target="/ppt/slideLayouts/slideLayout9.xml" Id="Re9467a361d374b92" /><Relationship Type="http://schemas.openxmlformats.org/officeDocument/2006/relationships/slideLayout" Target="/ppt/slideLayouts/slideLayout10.xml" Id="Rbb63e0f9a12b4fba" /><Relationship Type="http://schemas.openxmlformats.org/officeDocument/2006/relationships/slideLayout" Target="/ppt/slideLayouts/slideLayout11.xml" Id="R4f6311a7dfef423f" /><Relationship Type="http://schemas.openxmlformats.org/officeDocument/2006/relationships/slideLayout" Target="/ppt/slideLayouts/slideLayout12.xml" Id="R307a001216cd4eac" /><Relationship Type="http://schemas.openxmlformats.org/officeDocument/2006/relationships/slideLayout" Target="/ppt/slideLayouts/slideLayout13.xml" Id="Raf4579f626eb403a" /><Relationship Type="http://schemas.openxmlformats.org/officeDocument/2006/relationships/slideLayout" Target="/ppt/slideLayouts/slideLayout14.xml" Id="R3cfd6e27f8c943da" /><Relationship Type="http://schemas.openxmlformats.org/officeDocument/2006/relationships/slideLayout" Target="/ppt/slideLayouts/slideLayout15.xml" Id="R444010f840984c04" /><Relationship Type="http://schemas.openxmlformats.org/officeDocument/2006/relationships/slideLayout" Target="/ppt/slideLayouts/slideLayout16.xml" Id="R0d22d4fb613e490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2C9CD41-949B-48A0-913E-41618638C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00" y="654277"/>
            <a:ext cx="8248650" cy="1413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FAEE2A-218A-4B7E-BE4E-300BC5C2F7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6700" y="2071688"/>
            <a:ext cx="8248650" cy="2561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070FB8-36E0-4328-A526-0C724A68661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66700" y="4767265"/>
            <a:ext cx="2057400" cy="223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14963-8092-4BCE-BD3D-2FC542B2883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5"/>
            <a:ext cx="2057400" cy="2232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2B7B873C-A46E-4878-A014-BF36A57BE66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3266dbd13c4425"/>
    <p:sldLayoutId xmlns:r="http://schemas.openxmlformats.org/officeDocument/2006/relationships" id="2147483650" r:id="Rb9800aec239a43fc"/>
    <p:sldLayoutId xmlns:r="http://schemas.openxmlformats.org/officeDocument/2006/relationships" id="2147483651" r:id="Rcd15cdcaa34740bb"/>
    <p:sldLayoutId xmlns:r="http://schemas.openxmlformats.org/officeDocument/2006/relationships" id="2147483652" r:id="R8d0117fcf2384fc0"/>
    <p:sldLayoutId xmlns:r="http://schemas.openxmlformats.org/officeDocument/2006/relationships" id="2147483653" r:id="R011e0710df9c4b41"/>
    <p:sldLayoutId xmlns:r="http://schemas.openxmlformats.org/officeDocument/2006/relationships" id="2147483654" r:id="Rd6919477e8484b9c"/>
    <p:sldLayoutId xmlns:r="http://schemas.openxmlformats.org/officeDocument/2006/relationships" id="2147483655" r:id="R9ac392a9f311448d"/>
    <p:sldLayoutId xmlns:r="http://schemas.openxmlformats.org/officeDocument/2006/relationships" id="2147483656" r:id="R005ed8642e5b4fe6"/>
    <p:sldLayoutId xmlns:r="http://schemas.openxmlformats.org/officeDocument/2006/relationships" id="2147483657" r:id="Re9467a361d374b92"/>
    <p:sldLayoutId xmlns:r="http://schemas.openxmlformats.org/officeDocument/2006/relationships" id="2147483658" r:id="Rbb63e0f9a12b4fba"/>
    <p:sldLayoutId xmlns:r="http://schemas.openxmlformats.org/officeDocument/2006/relationships" id="2147483659" r:id="R4f6311a7dfef423f"/>
    <p:sldLayoutId xmlns:r="http://schemas.openxmlformats.org/officeDocument/2006/relationships" id="2147483660" r:id="R307a001216cd4eac"/>
    <p:sldLayoutId xmlns:r="http://schemas.openxmlformats.org/officeDocument/2006/relationships" id="2147483661" r:id="Raf4579f626eb403a"/>
    <p:sldLayoutId xmlns:r="http://schemas.openxmlformats.org/officeDocument/2006/relationships" id="2147483662" r:id="R3cfd6e27f8c943da"/>
    <p:sldLayoutId xmlns:r="http://schemas.openxmlformats.org/officeDocument/2006/relationships" id="2147483663" r:id="R444010f840984c04"/>
    <p:sldLayoutId xmlns:r="http://schemas.openxmlformats.org/officeDocument/2006/relationships" id="2147483664" r:id="R0d22d4fb613e4903"/>
  </p:sldLayoutIdLst>
  <p:hf hdr="0" ftr="0" dt="0"/>
  <p:txStyles>
    <p:titleStyle>
      <a:lvl1pPr xmlns:a="http://schemas.openxmlformats.org/drawingml/2006/main" algn="l" defTabSz="914378">
        <a:lnSpc>
          <a:spcPct val="90000"/>
        </a:lnSpc>
        <a:spcBef>
          <a:spcPct val="0"/>
        </a:spcBef>
        <a:buNone/>
        <a:defRPr sz="4400" b="0" kern="1200">
          <a:solidFill>
            <a:srgbClr val="A5002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594" indent="-228594" algn="l" defTabSz="914378">
        <a:lnSpc>
          <a:spcPct val="90000"/>
        </a:lnSpc>
        <a:spcBef>
          <a:spcPts val="1000"/>
        </a:spcBef>
        <a:buClr>
          <a:schemeClr val="tx1">
            <a:lumMod val="50000"/>
            <a:lumOff val="50000"/>
          </a:schemeClr>
        </a:buClr>
        <a:buFont typeface="Arial"/>
        <a:buChar char="&gt;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783" indent="-228594" algn="l" defTabSz="914378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2972" indent="-228594" algn="l" defTabSz="914378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160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348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537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8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8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PolyU PowerPoin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a8ab6143b4eb6" /><Relationship Type="http://schemas.openxmlformats.org/officeDocument/2006/relationships/image" Target="/ppt/media/image3.jpeg" Id="Reed74285e84746d9" /><Relationship Type="http://schemas.openxmlformats.org/officeDocument/2006/relationships/notesSlide" Target="/ppt/notesSlides/notesSlide1.xml" Id="R7bd396ddb8d048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1b1bc3a0454310" /><Relationship Type="http://schemas.openxmlformats.org/officeDocument/2006/relationships/notesSlide" Target="/ppt/notesSlides/notesSlide2.xml" Id="R6e44c0ba9260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0e86781db64f91" /><Relationship Type="http://schemas.openxmlformats.org/officeDocument/2006/relationships/notesSlide" Target="/ppt/notesSlides/notesSlide3.xml" Id="R0d0d06ef24f241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706c2e62c549ec" /><Relationship Type="http://schemas.openxmlformats.org/officeDocument/2006/relationships/notesSlide" Target="/ppt/notesSlides/notesSlide4.xml" Id="Rb81dd80953544a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83acac32cf42f4" /><Relationship Type="http://schemas.openxmlformats.org/officeDocument/2006/relationships/notesSlide" Target="/ppt/notesSlides/notesSlide5.xml" Id="Rc563b71e722e4a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48413f032743e3" /><Relationship Type="http://schemas.openxmlformats.org/officeDocument/2006/relationships/notesSlide" Target="/ppt/notesSlides/notesSlide6.xml" Id="R4fca5de07cc941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e33fdec0d24b73" /><Relationship Type="http://schemas.openxmlformats.org/officeDocument/2006/relationships/image" Target="/ppt/media/image8.png" Id="R859aee0b17af495d" /><Relationship Type="http://schemas.openxmlformats.org/officeDocument/2006/relationships/notesSlide" Target="/ppt/notesSlides/notesSlide7.xml" Id="R2e9da7717b2442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389f053c5d4aa1" /><Relationship Type="http://schemas.openxmlformats.org/officeDocument/2006/relationships/notesSlide" Target="/ppt/notesSlides/notesSlide8.xml" Id="Ra8dd9a273af747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4b587e349a4155" /><Relationship Type="http://schemas.openxmlformats.org/officeDocument/2006/relationships/notesSlide" Target="/ppt/notesSlides/notesSlide9.xml" Id="Re25acaa8155e4e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8de00199e54985" /><Relationship Type="http://schemas.openxmlformats.org/officeDocument/2006/relationships/notesSlide" Target="/ppt/notesSlides/notesSlide10.xml" Id="Rc6fd2ae66b1c42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392ffb3fad47b9" /><Relationship Type="http://schemas.openxmlformats.org/officeDocument/2006/relationships/notesSlide" Target="/ppt/notesSlides/notesSlide11.xml" Id="Rc176fd4e47c14b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5963497d2c24aa6" /><Relationship Type="http://schemas.openxmlformats.org/officeDocument/2006/relationships/notesSlide" Target="/ppt/notesSlides/notesSlide12.xml" Id="Rc94c5e1dd9f948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D1C811-5A23-6EC7-088E-21294FCD3CA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CBB60E7-73C2-A7E1-97C0-E7CA47C849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74285e84746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995D84F-F74F-42C2-9BB0-003C9463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62" y="1468285"/>
            <a:ext cx="4990006" cy="1177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面向实车部署的</a:t>
            </a:r>
          </a:p>
          <a:p xmlns:a="http://schemas.openxmlformats.org/drawingml/2006/main">
            <a:pPr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离线导航系统</a:t>
            </a:r>
          </a:p>
        </p:txBody>
      </p:sp>
      <p:sp>
        <p:nvSpPr>
          <p:cNvPr id="7" name="Subtitle 2">
            <a:extLst xmlns:a="http://schemas.openxmlformats.org/drawingml/2006/main">
              <a:ext uri="{FF2B5EF4-FFF2-40B4-BE49-F238E27FC236}">
                <a16:creationId xmlns:a16="http://schemas.microsoft.com/office/drawing/2014/main" id="{AEBFA7D6-FEAD-992F-8915-DE55CDED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89236"/>
            <a:ext cx="4348343" cy="1458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r" defTabSz="914378">
              <a:lnSpc>
                <a:spcPct val="90000"/>
              </a:lnSpc>
              <a:spcBef>
                <a:spcPts val="1000"/>
              </a:spcBef>
              <a:buClr>
                <a:schemeClr val="tx1">
                  <a:lumMod val="50000"/>
                  <a:lumOff val="50000"/>
                </a:schemeClr>
              </a:buClr>
              <a:buFont typeface="Arial"/>
              <a:buNone/>
              <a:defRPr sz="1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189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378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566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754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5943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132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320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509" indent="0" algn="ctr" defTabSz="914378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从 </a:t>
            </a:r>
            <a:r>
              <a:rPr sz="160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AR-HUD </a:t>
            </a:r>
            <a:r>
              <a:rPr sz="160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原型到可扩展的实时导航架构</a:t>
            </a:r>
          </a:p>
          <a:p xmlns:a="http://schemas.openxmlformats.org/drawingml/2006/main"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600" b="1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2854E5D-BD16-DF9A-FB60-D1B7ACD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62" y="3822198"/>
            <a:ext cx="2610197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C00000"/>
                </a:solidFill>
              </a:rPr>
              <a:t>乔家桢</a:t>
            </a:r>
            <a:br/>
            <a:r>
              <a:rPr>
                <a:solidFill>
                  <a:srgbClr val="C00000"/>
                </a:solidFill>
              </a:rPr>
              <a:t>2026.9.30</a:t>
            </a:r>
            <a:endParaRPr>
              <a:solidFill>
                <a:srgbClr val="C00000"/>
              </a:solidFill>
            </a:endParaRPr>
          </a:p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9305539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项目背景 – 从 AR-HUD 原型走向实车架构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19DDAAA-E8BB-4AB8-AD82-6571764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2</a:t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AB7A3-576B-40A0-887C-5202D250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714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EC173-37CA-46F3-80F3-F498609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71475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67E1A-0389-4D21-AA7E-AE1C0DA5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原型阶段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D195C-9954-4CE6-9ED7-15844097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Unity / AR-HUD 适合快速验证 HUD 呈现、路线叠加与交互。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但地图渲染、定位处理和业务状态逐渐耦合，难以承接持续定位与实时重算。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67D7F-1052-4EDF-84D9-4BBE3F6D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3714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9272D-857B-4B86-B7D3-41B30C48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371475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CA7B0-582A-4E16-AEDD-F730298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实车部署目标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F6F65-0A53-44EA-AF4A-D0EDB8B3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将导航能力从显示工程中拆出。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路由、地图、定位匹配分别承担职责；HUD、Web 和后续车端共用同一导航状态。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466D1F-2190-40D7-9371-6BFD6726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7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设计结论：以本地、可复现的导航内核承接实时性要求，AR-HUD 作为可替换的显示终端。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MVP 范围 – 先验证离线导航闭环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19DDAAA-E8BB-4AB8-AD82-6571764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2</a:t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543CA-55E8-492D-B88E-E7E9C2FA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A08B4-13BC-4C23-946E-F88FD970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5375"/>
            <a:ext cx="247650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E9698-804E-4FAA-8FBA-335D42A1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当前已实现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AE9D1-0583-43DC-9BF6-2426E895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离线路线规划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离线地图渲染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模拟轨迹回放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道路吸附与偏航重算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92508-959E-4CD7-BA83-F6870F26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0953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D447F-F676-46E4-B867-9422428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095375"/>
            <a:ext cx="247650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9A0C6-C38B-48F0-A7DE-7C50ADD8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62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工程原则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643A6-E850-4286-8C6D-DE30F2D3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9547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本地优先、可复现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WGS-84 统一坐标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OSRM / MapLibre / FastAPI 分层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F6226-0957-4FE4-A384-EA16DEE5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095375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2AA1A-5CD3-4D1A-A67C-1BC2D988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095375"/>
            <a:ext cx="247650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76A069-8BEC-4233-BE0C-4B07776B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62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8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后续再接入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724A4-96DA-4CA7-BF65-F247B2DB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9547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真实 GPS 与车辆 CAN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实时交通、云地图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视觉识别、语音与推荐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8B30F-A146-44E8-BD5E-1C890383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MVP 不使用真实用户轨迹；所有演示输入均为可重复的合成轨迹。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总体架构 – 数据、路由、协调与显示分层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19DDAAA-E8BB-4AB8-AD82-6571764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2</a:t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0515E-7696-4B13-9F6D-550555C0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1762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41206-600D-44DB-B54C-AB51512F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83D94-73CE-4877-8C3D-F75912B2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495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离线数据构建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8FAE2-8B38-4BBF-91F2-552D44C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65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OSM → OSRM / GeoJSON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205B0-9C22-41B1-97D6-ACC09970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762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4FD73-C1DA-48C3-9F09-7A220D04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18A26-6BE3-4659-A235-D1267006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266825"/>
            <a:ext cx="1495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OSRM 路由引擎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6D39C-DE05-4A17-BA8C-0ADD84D9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33525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3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路线、最近道路、匹配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D0FEB-F087-41DF-A79B-A64685C1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1762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89723-17DB-4580-9B24-D3242CB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7DAC8-5AD6-4204-A82B-2611352F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66825"/>
            <a:ext cx="1495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FastAPI 协调层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0AAB8-B410-442F-9BB7-CFC5D8D2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533525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3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会话、偏航、状态推送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DB0E34-F0F3-4860-A35D-4538CDE2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1619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9E8EDC-D5AD-4EE0-93AA-75BEB3A5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6C3989-90C7-427A-B6A0-913BCEEE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66825"/>
            <a:ext cx="1352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MapLibre 显示层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F00347-2D60-4382-B98D-4A086A0B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335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底图、路线、车标、提示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F7D2F0-DD79-4E0F-B0D0-DAD93928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430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9C5FD-F2A7-4C0A-8AB3-CFBEED6C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430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0F3DD4-F21C-44FD-8B20-EA90E66F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430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83A9A-327F-463C-8264-66203904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209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C0DA62-4E06-4B91-BC81-0C6DC0A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4A71DB-4184-4B54-8C9B-764946E5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86075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定位来源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B742DE-A7F3-45F4-BEC2-8B886A06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527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当前：JSON 回放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后续：iOS GPS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7AD83E-2C62-42BD-88A9-F33CD60C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2667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979A07-B1EB-427B-B5B4-6CD19716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E4E020-CBCE-43FB-BDA7-B3152B61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86075"/>
            <a:ext cx="2400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导航状态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6E0F0A-92EC-413C-8EB9-6938F4E8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52775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匹配位置、进度、下一动作、偏航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6A1750-7528-461F-B868-5513CA96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152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244C58-5B0A-4740-B78E-85AE1182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678C33-BDC4-431D-AA14-6232A7F0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86075"/>
            <a:ext cx="125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显示终端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291B3A-8EB9-4906-BE1D-D6036DF6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5277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当前：本地 Web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后续：AR-HUD / 车端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B4CA34-EE54-4315-9E92-AB23C3DE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9B79CF-3ACF-4DD1-BE05-17C24274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623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0A35AF-3339-4ECD-9CD0-E81AA4E6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50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OSRM 负责路网查询；FastAPI 把定位处理为导航状态；MapLibre 只负责显示。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开源基座 – 复用成熟能力，保留业务边界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19DDAAA-E8BB-4AB8-AD82-6571764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2</a:t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85A97-C752-43B6-8D7E-6C213C95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809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98668-1C40-41B2-A21D-7DD16718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66675" cy="781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7FEF6-0B8A-4B8D-97E5-1DDD369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OSRM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03ED2-DCF3-4A62-B10F-748585DB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192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高性能开源路由引擎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8FAB6-8796-4B2E-B013-1903E501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209675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汽车 profile、路线规划、最近道路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D141A-4A03-4BF7-9D9B-7FF1A4F7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825" b="0">
                <a:solidFill>
                  <a:srgbClr val="B43D56"/>
                </a:solidFill>
                <a:latin typeface="宋体"/>
                <a:ea typeface="宋体"/>
                <a:cs typeface="宋体"/>
              </a:rPr>
              <a:t>Project-OSRM/osrm-backend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1E287-5DD9-4FBE-B804-770DD134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66925"/>
            <a:ext cx="809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184E9-2777-4223-AD3A-FC43B0FF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66925"/>
            <a:ext cx="66675" cy="781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580AF-7534-4EAF-9C66-30725BD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MapLibre GL JS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492E2-3730-4073-B2B0-45D2DA2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193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浏览器端开源地图渲染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4D3F3-F70F-4B77-B307-598CE7EC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离线 GeoJSON 图层、路线叠加、相机跟随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9FD03-F8D1-44DE-A178-F62D155F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431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F8B72"/>
                </a:solidFill>
                <a:latin typeface="宋体"/>
                <a:ea typeface="宋体"/>
                <a:cs typeface="宋体"/>
              </a:defRPr>
            </a:pPr>
            <a:r>
              <a:rPr sz="825" b="0">
                <a:solidFill>
                  <a:srgbClr val="2F8B72"/>
                </a:solidFill>
                <a:latin typeface="宋体"/>
                <a:ea typeface="宋体"/>
                <a:cs typeface="宋体"/>
              </a:rPr>
              <a:t>maplibre/maplibre-gl-js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5C483F-D474-4CAD-AA6F-DC694DEF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8096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901B7F-D159-44E2-8509-5FDC99FE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67050"/>
            <a:ext cx="66675" cy="781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D1C617-E16F-4B4F-8B83-2A9C4DE9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6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FastAPI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3D832-C271-49ED-BC3E-88C3D2C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194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Python 服务框架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2E87F3-102C-46D1-A058-413148D7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类型化 API、导航会话、状态推送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F94EB-360E-45AC-B208-0CF0C342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98A2E"/>
                </a:solidFill>
                <a:latin typeface="宋体"/>
                <a:ea typeface="宋体"/>
                <a:cs typeface="宋体"/>
              </a:defRPr>
            </a:pPr>
            <a:r>
              <a:rPr sz="825" b="0">
                <a:solidFill>
                  <a:srgbClr val="D98A2E"/>
                </a:solidFill>
                <a:latin typeface="宋体"/>
                <a:ea typeface="宋体"/>
                <a:cs typeface="宋体"/>
              </a:rPr>
              <a:t>fastapi/fastapi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OSM 数据处理 – 一份原始地图，两条离线产线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19DDAAA-E8BB-4AB8-AD82-6571764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2</a:t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9E149-440C-4E6E-A945-17078B24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1619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4BA1D-EB85-42FA-A494-BB418758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E8067-3919-4F43-926D-D74F70FF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09700"/>
            <a:ext cx="1352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map.osm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31695-A598-4DD7-8B2A-521F6635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764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原始 OSM XML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Git 忽略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D7A06-2BE3-4D8C-902E-C07C849F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285875"/>
            <a:ext cx="209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5DB5E-62C0-4F6C-AE96-08CDDDF2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72D84-6681-46A0-9B51-571B864F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4097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OSRM MLD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ADE94-817F-4B16-90CB-3A50F975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6764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extract → partition → customize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汽车路网查询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A44BA-794E-45FD-8C9D-3C5A3000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85875"/>
            <a:ext cx="19526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19688-DE5A-467A-B9FD-E6F23E32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AF3C8-FE04-42FE-AD5A-6F9FB886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409700"/>
            <a:ext cx="168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8 类 GeoJSON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DD00A-D647-4DBF-A440-179CF952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6764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道路、建筑、水系、绿地、用地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道路名、地点名、POI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45B04-85E1-45CE-9AF6-A2555164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85875"/>
            <a:ext cx="1047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2AF30B-9C2E-4B1C-840C-122D9E2D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CB1EA-0B11-4344-BF58-184CE9E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09700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MapLibre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803CA8-6CD0-44F8-BDA4-B8256744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38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本地静态加载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不依赖在线瓦片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C29843-F87C-4393-ABEF-D02E79A0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85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4D1F5F-0BB7-4436-A037-8AFBE265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85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217BD6-15F3-4405-88F7-411AF695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859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2AFA49-D7DE-4FFD-9166-FB29EE7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814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108629-0E21-4D90-BB51-CA883265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数据治理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5C90B8-7410-4340-B8E8-3F793610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输入 SHA-256、地图边界、构建时间、工具版本与完整命令均写入元数据。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6EB3E8-839A-4B82-B93D-5B9AC987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2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当前输入为北京局部区域；原始 OSM、OSRM 预处理文件与后续 MBTiles 均不提交 Git。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离线地图渲染 – 主题 GeoJSON 与导航叠加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19DDAAA-E8BB-4AB8-AD82-6571764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2</a:t>
            </a:fld>
            <a:endParaRPr sz="1000"/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aee0b17af495d"/>
          <a:srcRect xmlns:a="http://schemas.openxmlformats.org/drawingml/2006/main" l="4363" t="0" r="43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000125"/>
            <a:ext cx="4095750" cy="25241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1C922-1D10-4ACF-B684-FE25C621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"/>
            <a:ext cx="3476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5BDB2-69F6-4C27-82B7-3E287F08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"/>
            <a:ext cx="66675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F224D-3FA7-4347-8E4C-E7D5A9C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1715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表达层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CEC9E-5EDB-4BCF-89A1-DD8893DC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143000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54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道路、建筑、水系、绿地、用地与标签分层渲染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638EE-7DFC-4322-BCA4-C030EFA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3476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65393-2947-43D3-99CA-0457F57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05000"/>
            <a:ext cx="66675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72297-4943-4246-8766-FD90A2AC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导航层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981C7-038A-4788-8091-A2E41733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54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主路线高亮、已通过路线灰化、车标与转向提示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6DA06-71D4-4DFD-9604-666072E0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3476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E39442-4B6F-4C1C-8AF0-426211F1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66675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C03E3-C0C1-49A9-A445-E2B53A0A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241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性能路径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9B27F6-1691-44D2-B344-DE000270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当前使用主题 GeoJSON；扩展地图范围时升级为 MBTiles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F2FA3-B570-4D96-B688-170035E7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MapLibre 不直接解析 OSM XML。项目先将 OSM 转成主题 GeoJSON，再由 MapLibre 以图层规则渲染。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MVP 当前成果 – 离线导航闭环可演示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19DDAAA-E8BB-4AB8-AD82-6571764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2</a:t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81482-3672-47F0-BDD5-BEB99468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79E6A-9464-4D41-82BB-4D2182BB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5865B-6931-41AA-8EB6-995B29DB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选择起终点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71540-5C9B-4DF3-BE6E-F1BDEE06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地图点击或预置端点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5E85C-8700-42E5-A6AD-39407FDA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685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987A8-C83D-4737-8DB5-D337EDA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BB4C1-F586-4815-83C9-1BAD701F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D8049-66E9-4028-9537-C530AB46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路线规划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681EA-4D0F-40B0-A69D-33978563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距离、时长、逐步转向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72A9E-74ED-4AE1-98AC-F02D40ED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85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8A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14C7D-60D8-4E58-8FC0-15D6EB56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426F82-9269-4F38-96AA-44638B5B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745B8-04BC-439D-A275-E57FC0B2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模拟回放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171295-4147-4D83-A08C-8364B283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6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暂停、继续、重播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E0E170-7E14-4182-901D-F9299FC8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685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B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E3ED2-936B-44BD-A583-B65FD733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99FBB5-5067-4B7C-9E5F-9385E2BC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2A87B7-1F94-4C7F-B8E7-379D1C0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道路匹配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63DE3-64C9-4813-A21F-507E26B7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位置、进度、下一动作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2913DA-455D-41B3-9A57-1E2EB317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8592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7EA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9EDB1C-628C-4A58-A6E2-2040D552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85875"/>
            <a:ext cx="1381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9D6C3C-F401-49D9-A3AF-D65CED3B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8587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6C26FC-FE5C-4CE4-992A-4FCCF0A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09700"/>
            <a:ext cx="1114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到达 / 重算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9EE02D-C7C4-4EF2-B094-6796384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76400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替换路线并继续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85A57-9D2B-4CE3-9C3C-B9E2BA41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8096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617416-2BFE-423E-ADF0-A380E8F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当前验证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7DDAFE-8242-4B61-814F-588073DB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正常路线、无可达路线、路网外定位点与偏航重算。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正常轨迹到达 arrived；偏航轨迹恰好触发一次路线替换。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5DA5BE-90EF-4BE1-BDA2-7F9B0786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运行方式：bash scripts/demo.sh 启动本地服务；bash scripts/smoke_test.sh 验证闭环。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B2B4BF-8372-71E8-D810-9265275CD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实车路径一 – 通过 iOS 接入 GPS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3359F9CF-2A96-6AB3-4C65-4F8D911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19DDAAA-E8BB-4AB8-AD82-6571764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D5932D3-04CC-3BAE-DFC6-AA0A75C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2</a:t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BD207-63E4-498B-B8D5-521191E0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2190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5E574-428E-452E-9C93-E29C6979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34F97-68CA-4598-B186-264F80DD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iPhone / 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D7963-8D2B-416F-A7C7-31798761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Core Location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位置、航向、速度、精度、时间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38753-B0D9-4683-BBEB-2C8AC85D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90625"/>
            <a:ext cx="228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38772-9820-4768-8E05-B98E0E23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9062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6F77F-3AB2-4C68-AAA7-E780054F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314450"/>
            <a:ext cx="2019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传输适配层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920B9-EF2E-489B-BBB5-0A20D1EF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5811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局域网 WebSocket 优先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序号、鉴权、心跳、重连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CA9A2-FD7E-451D-9B66-527E6BD2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90625"/>
            <a:ext cx="2190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60A25-CC87-4A9C-A0E3-15FF8E15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90625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3E45B-2D5A-4E67-9740-FDD2154E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14450"/>
            <a:ext cx="1924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导航协调层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8DBD8-313C-4678-A55B-EF9425C8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811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字段校验、时序处理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道路吸附、偏航判断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31AB0-F7E1-4396-992E-F41F116B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90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D5647-22D0-4CB9-889C-0B74F9CA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90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4AFDD0-E9C2-432F-83A6-18E3982B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857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F1CE55-421B-4AF1-8A2D-8C052AF2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00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61C8D6-8EF8-4F64-AC3F-5EEEF764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81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定义定位协议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B7D3FE-689A-488C-9C64-5095834F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861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9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9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lat、lon、heading、speed、accuracy、timestamp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695BDD-F311-40D7-9421-4561B9A0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1857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EFC44A-52CF-472C-9A5D-86916FC8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0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7D9D41-1256-4D2C-9E67-9B08CEE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81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端到端回放对照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8CD81-C53B-4D95-8C51-F7F32A14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861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9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9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同一轨迹输入应产生同一导航状态序列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FFDE7A-BBB6-47A7-946A-1EDB8681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57500"/>
            <a:ext cx="1857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8AC478-6C4F-46B1-83E4-BA8FC174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00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FDB2F-390C-4A2F-8018-5E7E24F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981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道路匹配上线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EC49EC-4F67-4D49-B9A2-54489689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861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9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9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只显示匹配位置，原始点保留给诊断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E95E10-3BA4-4E67-9400-11408727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1857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A2CA00-B6C0-4090-9B5A-92082259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03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E7B81F-E28B-45CB-A471-A20C45C4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813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20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车端异常处理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86C197-A937-46B0-B287-2BA7A65C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3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97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弱网、漂移、断连、低精度与恢复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782586-415F-4638-828E-B19BA5DE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iOS 只替换定位来源适配器，不直接驱动地图，也不将原始 GPS 写回 OSM。</a:t>
            </a:r>
          </a:p>
        </p:txBody>
      </p:sp>
    </p:spTree>
    <p:extLst>
      <p:ext uri="{BB962C8B-B14F-4D97-AF65-F5344CB8AC3E}">
        <p14:creationId xmlns:p14="http://schemas.microsoft.com/office/powerpoint/2010/main" val="12184342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6CE76DDD-BB9E-3913-D786-6C8A31B3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实车路径二 – 视觉模型作为确认与感知能力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B9B80E1B-02AA-3C5C-BF03-59A764B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80899A7A-81F2-4FD1-99B9-35E860A1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C2921C80-4027-A4A7-3069-DAC7D339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3</a:t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D4982-1FDF-459A-A6C4-B2B1038B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8573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AA4C6-4D09-44C8-B3E7-20BC86F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92225-8D97-421F-BB64-7A29F995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590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相机输入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2D32E-7FEA-4E02-AD48-66DD791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车载或手机相机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帧时间戳与设备标识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9987E-E593-452C-8AC2-3C52F3D4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38250"/>
            <a:ext cx="1905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2138A-3568-476B-8077-D2236E4E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38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62DE2-9918-4854-A681-3A2D2621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62075"/>
            <a:ext cx="1638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视觉推理服务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9F710-04BA-457C-BA64-CB9B0D6C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287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检测 / 识别 / 置信度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可本地部署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27EE1-70EC-4EC3-9DBF-A7FBAF64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238250"/>
            <a:ext cx="1905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5B835-F460-4DD5-BEB4-74AED322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238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7C85AE-E6A6-4C75-BDC0-9030FA22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362075"/>
            <a:ext cx="1638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事件适配层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443D8-2E57-43A4-AA48-A0F4C440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287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时空对齐、去抖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限定结构化事件模型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668977-5C40-453A-8250-A35A6A42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38250"/>
            <a:ext cx="12858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A403F-7874-41DF-8CD7-47E44F7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38250"/>
            <a:ext cx="57150" cy="8001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F082F-52EB-4CB2-9E98-998A9F2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62075"/>
            <a:ext cx="1019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1">
                <a:solidFill>
                  <a:srgbClr val="263238"/>
                </a:solidFill>
                <a:latin typeface="宋体"/>
                <a:ea typeface="宋体"/>
                <a:cs typeface="宋体"/>
              </a:rPr>
              <a:t>导航体验层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8772B-FC9A-4B4A-84F9-C2F3E093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28775"/>
            <a:ext cx="1019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18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到达确认、提示增强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050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不直接改写路由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3F8FEE-68CB-44C4-BB0C-0132EDC4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6383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06A941-005E-4B85-A2B7-72C81AEB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383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669F5A-246C-462F-96B6-832E9EED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383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3D5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B51910-BF3F-4F4B-B8D1-AFE5A2CC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8096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3F4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77042A-0DC9-4621-B011-A37704D4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42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优先落地场景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AC6C42-08BC-4FE8-AEE7-69017AF2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9085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接近终点时识别商铺招牌或入口，将结果作为“到达确认”的辅助信号。</a:t>
            </a:r>
          </a:p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宋体"/>
                <a:ea typeface="宋体"/>
                <a:cs typeface="宋体"/>
              </a:defRPr>
            </a:pPr>
            <a:r>
              <a:rPr sz="1350" b="0">
                <a:solidFill>
                  <a:srgbClr val="263238"/>
                </a:solidFill>
                <a:latin typeface="宋体"/>
                <a:ea typeface="宋体"/>
                <a:cs typeface="宋体"/>
              </a:rPr>
              <a:t>视觉服务只输出事件和置信度，由导航会话决定是否展示或触发动作。</a:t>
            </a:r>
          </a:p>
        </p:txBody>
      </p:sp>
    </p:spTree>
    <p:extLst>
      <p:ext uri="{BB962C8B-B14F-4D97-AF65-F5344CB8AC3E}">
        <p14:creationId xmlns:p14="http://schemas.microsoft.com/office/powerpoint/2010/main" val="33073115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DFE7B40E-A263-08FC-30FE-4A31A559A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下一阶段计划 – 从可演示闭环走向可路测闭环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4">
            <a:extLst xmlns:a="http://schemas.openxmlformats.org/drawingml/2006/main">
              <a:ext uri="{FF2B5EF4-FFF2-40B4-BE49-F238E27FC236}">
                <a16:creationId xmlns:a16="http://schemas.microsoft.com/office/drawing/2014/main" id="{0CE99AC6-279E-58C0-973B-6DFE46CC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8097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C00000"/>
                </a:solidFill>
              </a:rPr>
              <a:t>RAIDS</a:t>
            </a:r>
            <a:r>
              <a:rPr sz="1200" b="1"/>
              <a:t>: https://www.raids.group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9721E89A-22C0-4914-9249-89517446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291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E4F7722-C0D7-85FF-B3C2-0515CB65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12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4BB7A8AE-0CBB-4686-B0D5-0E83773195AC}" type="slidenum">
              <a:rPr sz="1000"/>
              <a:t>4</a:t>
            </a:fld>
            <a:endParaRPr sz="100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2E598-A17C-4723-B6EB-3D7FD55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8096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FD483-42F5-420F-B067-F549425F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762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43D5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4A74E-1490-46C7-B176-015551D4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3D56"/>
                </a:solidFill>
                <a:latin typeface="宋体"/>
                <a:ea typeface="宋体"/>
                <a:cs typeface="宋体"/>
              </a:defRPr>
            </a:pPr>
            <a:r>
              <a:rPr sz="1125" b="1">
                <a:solidFill>
                  <a:srgbClr val="B43D56"/>
                </a:solidFill>
                <a:latin typeface="宋体"/>
                <a:ea typeface="宋体"/>
                <a:cs typeface="宋体"/>
              </a:rPr>
              <a:t>近期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D92B3-F6CF-4CC6-8DA7-3F6C73B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5252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iOS 定位协议与回放工具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8219D-665A-4261-B2FD-BC8D71AD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1334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将手机定位数据导入现有模拟器，验证时间戳、精度与断连行为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90E6F-7658-450E-944C-F2779697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8096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2E7C4-5928-42DD-962C-72A2F7CC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762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11B90-19D4-4683-B2C6-EBBB56F3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B72"/>
                </a:solidFill>
                <a:latin typeface="宋体"/>
                <a:ea typeface="宋体"/>
                <a:cs typeface="宋体"/>
              </a:defRPr>
            </a:pPr>
            <a:r>
              <a:rPr sz="1125" b="1">
                <a:solidFill>
                  <a:srgbClr val="2F8B72"/>
                </a:solidFill>
                <a:latin typeface="宋体"/>
                <a:ea typeface="宋体"/>
                <a:cs typeface="宋体"/>
              </a:rPr>
              <a:t>中期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CCBF5-A485-406A-9E18-F2BDFBAA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实车定位适配与路测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2A0C8-DBE8-40DD-BF10-B4CB31CF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验证道路匹配、偏航阈值与导航状态推送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3B887-F875-449C-9A22-1157175F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66975"/>
            <a:ext cx="8096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27E4A-5163-4533-9367-CB625355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66975"/>
            <a:ext cx="762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8A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6918D-3861-4123-A97E-E2DE315F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8A2E"/>
                </a:solidFill>
                <a:latin typeface="宋体"/>
                <a:ea typeface="宋体"/>
                <a:cs typeface="宋体"/>
              </a:defRPr>
            </a:pPr>
            <a:r>
              <a:rPr sz="1125" b="1">
                <a:solidFill>
                  <a:srgbClr val="D98A2E"/>
                </a:solidFill>
                <a:latin typeface="宋体"/>
                <a:ea typeface="宋体"/>
                <a:cs typeface="宋体"/>
              </a:rPr>
              <a:t>后续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6B9B8-38CB-489D-AD58-FDEF1A4D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193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本地视觉事件服务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6B607-1F43-4DB7-A5BF-3D1982FD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03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先做终点确认，再扩展到道路感知提示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4E2C0-BC9B-4DF4-B22B-B9B71217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8096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D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2C8B5A-E8B3-46EA-A526-B42FC716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762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27EA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981D31-2545-4B61-915A-08FE5492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27EAD"/>
                </a:solidFill>
                <a:latin typeface="宋体"/>
                <a:ea typeface="宋体"/>
                <a:cs typeface="宋体"/>
              </a:defRPr>
            </a:pPr>
            <a:r>
              <a:rPr sz="1125" b="1">
                <a:solidFill>
                  <a:srgbClr val="427EAD"/>
                </a:solidFill>
                <a:latin typeface="宋体"/>
                <a:ea typeface="宋体"/>
                <a:cs typeface="宋体"/>
              </a:rPr>
              <a:t>规模化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28C163-5E96-4BF1-B345-26D06A99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MBTiles 与车端显示集成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AAADCD-1FB7-402A-A83C-D3736784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宋体"/>
                <a:ea typeface="宋体"/>
                <a:cs typeface="宋体"/>
              </a:defRPr>
            </a:pPr>
            <a:r>
              <a:rPr sz="1125" b="0">
                <a:solidFill>
                  <a:srgbClr val="64748B"/>
                </a:solidFill>
                <a:latin typeface="宋体"/>
                <a:ea typeface="宋体"/>
                <a:cs typeface="宋体"/>
              </a:rPr>
              <a:t>扩大离线地图范围，接入 HUD / 车机显示终端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CDF04-BAA8-4132-B09A-D5D8C8E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F2E45"/>
                </a:solidFill>
                <a:latin typeface="宋体"/>
                <a:ea typeface="宋体"/>
                <a:cs typeface="宋体"/>
              </a:defRPr>
            </a:pPr>
            <a:r>
              <a:rPr sz="1275" b="1">
                <a:solidFill>
                  <a:srgbClr val="8F2E45"/>
                </a:solidFill>
                <a:latin typeface="宋体"/>
                <a:ea typeface="宋体"/>
                <a:cs typeface="宋体"/>
              </a:rPr>
              <a:t>持续约束：离线优先、WGS-84 一致、适配层隔离外部服务、真实数据最小化且合规使用。</a:t>
            </a:r>
          </a:p>
        </p:txBody>
      </p:sp>
    </p:spTree>
    <p:extLst>
      <p:ext uri="{BB962C8B-B14F-4D97-AF65-F5344CB8AC3E}">
        <p14:creationId xmlns:p14="http://schemas.microsoft.com/office/powerpoint/2010/main" val="6671592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4A116-1D2B-4773-BEBF-A7BD6E68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FFFFFF"/>
                </a:solidFill>
                <a:latin typeface="宋体"/>
                <a:ea typeface="宋体"/>
                <a:cs typeface="宋体"/>
              </a:defRPr>
            </a:pPr>
            <a:r>
              <a:rPr sz="100" b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408144"/>
      </p:ext>
    </p:extLst>
  </p:cSld>
</p:sld>
</file>

<file path=ppt/theme/theme1.xml><?xml version="1.0" encoding="utf-8"?>
<a:theme xmlns:a="http://schemas.openxmlformats.org/drawingml/2006/main" name="1_PolyU PowerPoin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2026-09-29T13:46:42.4100000Z</dcterms:created>
  <dcterms:modified xsi:type="dcterms:W3CDTF">2026-09-29T13:46:42.4100000Z</dcterms:modified>
</coreProperties>
</file>